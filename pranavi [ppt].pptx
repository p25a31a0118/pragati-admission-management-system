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4"/>
  </p:notesMasterIdLst>
  <p:sldIdLst>
    <p:sldId id="267" r:id="rId2"/>
    <p:sldId id="263" r:id="rId3"/>
    <p:sldId id="262" r:id="rId4"/>
    <p:sldId id="264" r:id="rId5"/>
    <p:sldId id="265" r:id="rId6"/>
    <p:sldId id="266" r:id="rId7"/>
    <p:sldId id="257" r:id="rId8"/>
    <p:sldId id="258" r:id="rId9"/>
    <p:sldId id="259" r:id="rId10"/>
    <p:sldId id="260" r:id="rId11"/>
    <p:sldId id="261"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04" autoAdjust="0"/>
  </p:normalViewPr>
  <p:slideViewPr>
    <p:cSldViewPr snapToGrid="0">
      <p:cViewPr varScale="1">
        <p:scale>
          <a:sx n="70" d="100"/>
          <a:sy n="70" d="100"/>
        </p:scale>
        <p:origin x="536" y="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CCFFD6-FA5D-46DF-9856-FBE404D217F2}" type="datetimeFigureOut">
              <a:rPr lang="en-IN" smtClean="0"/>
              <a:t>04-12-2025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848762-0013-46DD-936A-696F990A8820}" type="slidenum">
              <a:rPr lang="en-IN" smtClean="0"/>
              <a:t>‹#›</a:t>
            </a:fld>
            <a:endParaRPr lang="en-IN"/>
          </a:p>
        </p:txBody>
      </p:sp>
    </p:spTree>
    <p:extLst>
      <p:ext uri="{BB962C8B-B14F-4D97-AF65-F5344CB8AC3E}">
        <p14:creationId xmlns:p14="http://schemas.microsoft.com/office/powerpoint/2010/main" val="3448593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F848762-0013-46DD-936A-696F990A8820}" type="slidenum">
              <a:rPr lang="en-IN" smtClean="0"/>
              <a:t>7</a:t>
            </a:fld>
            <a:endParaRPr lang="en-IN"/>
          </a:p>
        </p:txBody>
      </p:sp>
    </p:spTree>
    <p:extLst>
      <p:ext uri="{BB962C8B-B14F-4D97-AF65-F5344CB8AC3E}">
        <p14:creationId xmlns:p14="http://schemas.microsoft.com/office/powerpoint/2010/main" val="2469680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0072E2-4A83-4608-9318-8E4BC2087B2A}" type="datetimeFigureOut">
              <a:rPr lang="en-IN" smtClean="0"/>
              <a:t>04-12-2025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rIns="45720"/>
          <a:lstStyle/>
          <a:p>
            <a:fld id="{E105645B-5D00-4FBA-8D31-1C330B20D27A}" type="slidenum">
              <a:rPr lang="en-IN" smtClean="0"/>
              <a:t>‹#›</a:t>
            </a:fld>
            <a:endParaRPr lang="en-IN"/>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676045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0072E2-4A83-4608-9318-8E4BC2087B2A}" type="datetimeFigureOut">
              <a:rPr lang="en-IN" smtClean="0"/>
              <a:t>04-12-2025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05645B-5D00-4FBA-8D31-1C330B20D27A}" type="slidenum">
              <a:rPr lang="en-IN" smtClean="0"/>
              <a:t>‹#›</a:t>
            </a:fld>
            <a:endParaRPr lang="en-IN"/>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245134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0072E2-4A83-4608-9318-8E4BC2087B2A}" type="datetimeFigureOut">
              <a:rPr lang="en-IN" smtClean="0"/>
              <a:t>04-12-2025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05645B-5D00-4FBA-8D31-1C330B20D27A}" type="slidenum">
              <a:rPr lang="en-IN" smtClean="0"/>
              <a:t>‹#›</a:t>
            </a:fld>
            <a:endParaRPr lang="en-IN"/>
          </a:p>
        </p:txBody>
      </p:sp>
    </p:spTree>
    <p:extLst>
      <p:ext uri="{BB962C8B-B14F-4D97-AF65-F5344CB8AC3E}">
        <p14:creationId xmlns:p14="http://schemas.microsoft.com/office/powerpoint/2010/main" val="362004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0072E2-4A83-4608-9318-8E4BC2087B2A}" type="datetimeFigureOut">
              <a:rPr lang="en-IN" smtClean="0"/>
              <a:t>04-12-2025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05645B-5D00-4FBA-8D31-1C330B20D27A}" type="slidenum">
              <a:rPr lang="en-IN" smtClean="0"/>
              <a:t>‹#›</a:t>
            </a:fld>
            <a:endParaRPr lang="en-IN"/>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764741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0072E2-4A83-4608-9318-8E4BC2087B2A}" type="datetimeFigureOut">
              <a:rPr lang="en-IN" smtClean="0"/>
              <a:t>04-12-2025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105645B-5D00-4FBA-8D31-1C330B20D27A}" type="slidenum">
              <a:rPr lang="en-IN" smtClean="0"/>
              <a:t>‹#›</a:t>
            </a:fld>
            <a:endParaRPr lang="en-IN"/>
          </a:p>
        </p:txBody>
      </p:sp>
    </p:spTree>
    <p:extLst>
      <p:ext uri="{BB962C8B-B14F-4D97-AF65-F5344CB8AC3E}">
        <p14:creationId xmlns:p14="http://schemas.microsoft.com/office/powerpoint/2010/main" val="1107260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0072E2-4A83-4608-9318-8E4BC2087B2A}" type="datetimeFigureOut">
              <a:rPr lang="en-IN" smtClean="0"/>
              <a:t>04-12-2025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105645B-5D00-4FBA-8D31-1C330B20D27A}" type="slidenum">
              <a:rPr lang="en-IN" smtClean="0"/>
              <a:t>‹#›</a:t>
            </a:fld>
            <a:endParaRPr lang="en-IN"/>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226540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470072E2-4A83-4608-9318-8E4BC2087B2A}" type="datetimeFigureOut">
              <a:rPr lang="en-IN" smtClean="0"/>
              <a:t>04-12-2025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105645B-5D00-4FBA-8D31-1C330B20D27A}" type="slidenum">
              <a:rPr lang="en-IN" smtClean="0"/>
              <a:t>‹#›</a:t>
            </a:fld>
            <a:endParaRPr lang="en-IN"/>
          </a:p>
        </p:txBody>
      </p:sp>
    </p:spTree>
    <p:extLst>
      <p:ext uri="{BB962C8B-B14F-4D97-AF65-F5344CB8AC3E}">
        <p14:creationId xmlns:p14="http://schemas.microsoft.com/office/powerpoint/2010/main" val="247011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0072E2-4A83-4608-9318-8E4BC2087B2A}" type="datetimeFigureOut">
              <a:rPr lang="en-IN" smtClean="0"/>
              <a:t>04-12-2025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05645B-5D00-4FBA-8D31-1C330B20D27A}" type="slidenum">
              <a:rPr lang="en-IN" smtClean="0"/>
              <a:t>‹#›</a:t>
            </a:fld>
            <a:endParaRPr lang="en-IN"/>
          </a:p>
        </p:txBody>
      </p:sp>
    </p:spTree>
    <p:extLst>
      <p:ext uri="{BB962C8B-B14F-4D97-AF65-F5344CB8AC3E}">
        <p14:creationId xmlns:p14="http://schemas.microsoft.com/office/powerpoint/2010/main" val="4149308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0072E2-4A83-4608-9318-8E4BC2087B2A}" type="datetimeFigureOut">
              <a:rPr lang="en-IN" smtClean="0"/>
              <a:t>04-12-2025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05645B-5D00-4FBA-8D31-1C330B20D27A}" type="slidenum">
              <a:rPr lang="en-IN" smtClean="0"/>
              <a:t>‹#›</a:t>
            </a:fld>
            <a:endParaRPr lang="en-IN"/>
          </a:p>
        </p:txBody>
      </p:sp>
    </p:spTree>
    <p:extLst>
      <p:ext uri="{BB962C8B-B14F-4D97-AF65-F5344CB8AC3E}">
        <p14:creationId xmlns:p14="http://schemas.microsoft.com/office/powerpoint/2010/main" val="912503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0072E2-4A83-4608-9318-8E4BC2087B2A}" type="datetimeFigureOut">
              <a:rPr lang="en-IN" smtClean="0"/>
              <a:t>04-12-2025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05645B-5D00-4FBA-8D31-1C330B20D27A}" type="slidenum">
              <a:rPr lang="en-IN" smtClean="0"/>
              <a:t>‹#›</a:t>
            </a:fld>
            <a:endParaRPr lang="en-IN"/>
          </a:p>
        </p:txBody>
      </p:sp>
    </p:spTree>
    <p:extLst>
      <p:ext uri="{BB962C8B-B14F-4D97-AF65-F5344CB8AC3E}">
        <p14:creationId xmlns:p14="http://schemas.microsoft.com/office/powerpoint/2010/main" val="570879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0072E2-4A83-4608-9318-8E4BC2087B2A}" type="datetimeFigureOut">
              <a:rPr lang="en-IN" smtClean="0"/>
              <a:t>04-12-2025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05645B-5D00-4FBA-8D31-1C330B20D27A}" type="slidenum">
              <a:rPr lang="en-IN" smtClean="0"/>
              <a:t>‹#›</a:t>
            </a:fld>
            <a:endParaRPr lang="en-IN"/>
          </a:p>
        </p:txBody>
      </p:sp>
    </p:spTree>
    <p:extLst>
      <p:ext uri="{BB962C8B-B14F-4D97-AF65-F5344CB8AC3E}">
        <p14:creationId xmlns:p14="http://schemas.microsoft.com/office/powerpoint/2010/main" val="1561569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470072E2-4A83-4608-9318-8E4BC2087B2A}" type="datetimeFigureOut">
              <a:rPr lang="en-IN" smtClean="0"/>
              <a:t>04-12-2025</a:t>
            </a:fld>
            <a:endParaRPr lang="en-IN"/>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E105645B-5D00-4FBA-8D31-1C330B20D27A}" type="slidenum">
              <a:rPr lang="en-IN" smtClean="0"/>
              <a:t>‹#›</a:t>
            </a:fld>
            <a:endParaRPr lang="en-IN"/>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52422096"/>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standing next to a large book&#10;&#10;AI-generated content may be incorrect.">
            <a:extLst>
              <a:ext uri="{FF2B5EF4-FFF2-40B4-BE49-F238E27FC236}">
                <a16:creationId xmlns:a16="http://schemas.microsoft.com/office/drawing/2014/main" id="{2C0B303D-F089-3185-FC18-C947AF2F0D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0184" y="237744"/>
            <a:ext cx="6583855" cy="6208282"/>
          </a:xfrm>
          <a:prstGeom prst="rect">
            <a:avLst/>
          </a:prstGeom>
        </p:spPr>
      </p:pic>
      <p:sp>
        <p:nvSpPr>
          <p:cNvPr id="6" name="TextBox 5">
            <a:extLst>
              <a:ext uri="{FF2B5EF4-FFF2-40B4-BE49-F238E27FC236}">
                <a16:creationId xmlns:a16="http://schemas.microsoft.com/office/drawing/2014/main" id="{5306C8F2-F2E5-6B1E-0CD7-FF68DC99B39D}"/>
              </a:ext>
            </a:extLst>
          </p:cNvPr>
          <p:cNvSpPr txBox="1"/>
          <p:nvPr/>
        </p:nvSpPr>
        <p:spPr>
          <a:xfrm>
            <a:off x="5961888" y="1408176"/>
            <a:ext cx="978408" cy="369332"/>
          </a:xfrm>
          <a:prstGeom prst="rect">
            <a:avLst/>
          </a:prstGeom>
          <a:noFill/>
        </p:spPr>
        <p:txBody>
          <a:bodyPr wrap="square" rtlCol="0">
            <a:spAutoFit/>
          </a:bodyPr>
          <a:lstStyle/>
          <a:p>
            <a:r>
              <a:rPr lang="en-US" b="1" dirty="0">
                <a:latin typeface="+mj-lt"/>
              </a:rPr>
              <a:t>Pragati</a:t>
            </a:r>
            <a:endParaRPr lang="en-IN" b="1" dirty="0">
              <a:latin typeface="+mj-lt"/>
            </a:endParaRPr>
          </a:p>
        </p:txBody>
      </p:sp>
    </p:spTree>
    <p:extLst>
      <p:ext uri="{BB962C8B-B14F-4D97-AF65-F5344CB8AC3E}">
        <p14:creationId xmlns:p14="http://schemas.microsoft.com/office/powerpoint/2010/main" val="2765841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15C318-CE6F-6B57-4D75-01D35055E0A1}"/>
              </a:ext>
            </a:extLst>
          </p:cNvPr>
          <p:cNvSpPr txBox="1"/>
          <p:nvPr/>
        </p:nvSpPr>
        <p:spPr>
          <a:xfrm>
            <a:off x="1536192" y="786384"/>
            <a:ext cx="4727448" cy="646331"/>
          </a:xfrm>
          <a:prstGeom prst="rect">
            <a:avLst/>
          </a:prstGeom>
          <a:noFill/>
        </p:spPr>
        <p:txBody>
          <a:bodyPr wrap="square" rtlCol="0">
            <a:spAutoFit/>
          </a:bodyPr>
          <a:lstStyle/>
          <a:p>
            <a:r>
              <a:rPr lang="en-US" sz="3600" dirty="0">
                <a:latin typeface="Algerian" panose="04020705040A02060702" pitchFamily="82" charset="0"/>
              </a:rPr>
              <a:t>REQUIREMENTS:</a:t>
            </a:r>
            <a:endParaRPr lang="en-IN" sz="3600" dirty="0">
              <a:latin typeface="Algerian" panose="04020705040A02060702" pitchFamily="82" charset="0"/>
            </a:endParaRPr>
          </a:p>
        </p:txBody>
      </p:sp>
      <p:sp>
        <p:nvSpPr>
          <p:cNvPr id="3" name="TextBox 2">
            <a:extLst>
              <a:ext uri="{FF2B5EF4-FFF2-40B4-BE49-F238E27FC236}">
                <a16:creationId xmlns:a16="http://schemas.microsoft.com/office/drawing/2014/main" id="{39CD5203-D67C-BA79-1FC6-DA2DEA001D40}"/>
              </a:ext>
            </a:extLst>
          </p:cNvPr>
          <p:cNvSpPr txBox="1"/>
          <p:nvPr/>
        </p:nvSpPr>
        <p:spPr>
          <a:xfrm>
            <a:off x="1536192" y="1993392"/>
            <a:ext cx="10021824" cy="646331"/>
          </a:xfrm>
          <a:prstGeom prst="rect">
            <a:avLst/>
          </a:prstGeom>
          <a:noFill/>
        </p:spPr>
        <p:txBody>
          <a:bodyPr wrap="square" rtlCol="0">
            <a:spAutoFit/>
          </a:bodyPr>
          <a:lstStyle/>
          <a:p>
            <a:pPr marL="285750" indent="-285750">
              <a:buFont typeface="Wingdings" panose="05000000000000000000" pitchFamily="2" charset="2"/>
              <a:buChar char="v"/>
            </a:pPr>
            <a:r>
              <a:rPr lang="en-US" dirty="0">
                <a:latin typeface="Century" panose="02040604050505020304" pitchFamily="18" charset="0"/>
              </a:rPr>
              <a:t>Software Requirements </a:t>
            </a:r>
            <a:r>
              <a:rPr lang="en-IN" dirty="0"/>
              <a:t>:</a:t>
            </a:r>
          </a:p>
          <a:p>
            <a:endParaRPr lang="en-US" dirty="0"/>
          </a:p>
        </p:txBody>
      </p:sp>
      <p:sp>
        <p:nvSpPr>
          <p:cNvPr id="4" name="TextBox 3">
            <a:extLst>
              <a:ext uri="{FF2B5EF4-FFF2-40B4-BE49-F238E27FC236}">
                <a16:creationId xmlns:a16="http://schemas.microsoft.com/office/drawing/2014/main" id="{859E8432-0D71-98E3-8618-3D705DCED210}"/>
              </a:ext>
            </a:extLst>
          </p:cNvPr>
          <p:cNvSpPr txBox="1"/>
          <p:nvPr/>
        </p:nvSpPr>
        <p:spPr>
          <a:xfrm>
            <a:off x="1847088" y="2639723"/>
            <a:ext cx="5266944"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entury" panose="02040604050505020304" pitchFamily="18" charset="0"/>
              </a:rPr>
              <a:t>Operating System </a:t>
            </a:r>
            <a:r>
              <a:rPr lang="en-US" dirty="0">
                <a:latin typeface="Century" panose="02040604050505020304" pitchFamily="18" charset="0"/>
                <a:sym typeface="Wingdings" panose="05000000000000000000" pitchFamily="2" charset="2"/>
              </a:rPr>
              <a:t> Windows 11</a:t>
            </a:r>
          </a:p>
          <a:p>
            <a:pPr marL="285750" indent="-285750">
              <a:buFont typeface="Arial" panose="020B0604020202020204" pitchFamily="34" charset="0"/>
              <a:buChar char="•"/>
            </a:pPr>
            <a:r>
              <a:rPr lang="en-US" dirty="0">
                <a:latin typeface="Century" panose="02040604050505020304" pitchFamily="18" charset="0"/>
                <a:sym typeface="Wingdings" panose="05000000000000000000" pitchFamily="2" charset="2"/>
              </a:rPr>
              <a:t>C compiler </a:t>
            </a:r>
          </a:p>
          <a:p>
            <a:pPr marL="285750" indent="-285750">
              <a:buFont typeface="Arial" panose="020B0604020202020204" pitchFamily="34" charset="0"/>
              <a:buChar char="•"/>
            </a:pPr>
            <a:r>
              <a:rPr lang="en-US" dirty="0">
                <a:latin typeface="Century" panose="02040604050505020304" pitchFamily="18" charset="0"/>
                <a:sym typeface="Wingdings" panose="05000000000000000000" pitchFamily="2" charset="2"/>
              </a:rPr>
              <a:t>Integrated Development Environment  </a:t>
            </a:r>
          </a:p>
          <a:p>
            <a:pPr marL="285750" indent="-285750">
              <a:buFont typeface="Arial" panose="020B0604020202020204" pitchFamily="34" charset="0"/>
              <a:buChar char="•"/>
            </a:pPr>
            <a:r>
              <a:rPr lang="en-US" dirty="0">
                <a:latin typeface="Century" panose="02040604050505020304" pitchFamily="18" charset="0"/>
                <a:sym typeface="Wingdings" panose="05000000000000000000" pitchFamily="2" charset="2"/>
              </a:rPr>
              <a:t>Version Control System</a:t>
            </a:r>
            <a:endParaRPr lang="en-IN" dirty="0">
              <a:latin typeface="Century" panose="02040604050505020304" pitchFamily="18" charset="0"/>
            </a:endParaRPr>
          </a:p>
        </p:txBody>
      </p:sp>
      <p:sp>
        <p:nvSpPr>
          <p:cNvPr id="5" name="TextBox 4">
            <a:extLst>
              <a:ext uri="{FF2B5EF4-FFF2-40B4-BE49-F238E27FC236}">
                <a16:creationId xmlns:a16="http://schemas.microsoft.com/office/drawing/2014/main" id="{9A8549C3-3B89-5372-C718-49AA8B3BDCE3}"/>
              </a:ext>
            </a:extLst>
          </p:cNvPr>
          <p:cNvSpPr txBox="1"/>
          <p:nvPr/>
        </p:nvSpPr>
        <p:spPr>
          <a:xfrm>
            <a:off x="1536192" y="4059936"/>
            <a:ext cx="3264408" cy="369332"/>
          </a:xfrm>
          <a:prstGeom prst="rect">
            <a:avLst/>
          </a:prstGeom>
          <a:noFill/>
        </p:spPr>
        <p:txBody>
          <a:bodyPr wrap="square" rtlCol="0">
            <a:spAutoFit/>
          </a:bodyPr>
          <a:lstStyle/>
          <a:p>
            <a:pPr marL="285750" indent="-285750">
              <a:buFont typeface="Wingdings" panose="05000000000000000000" pitchFamily="2" charset="2"/>
              <a:buChar char="v"/>
            </a:pPr>
            <a:r>
              <a:rPr lang="en-US" dirty="0">
                <a:latin typeface="Century" panose="02040604050505020304" pitchFamily="18" charset="0"/>
              </a:rPr>
              <a:t>Hardware Requirements </a:t>
            </a:r>
            <a:r>
              <a:rPr lang="en-US" dirty="0"/>
              <a:t>:</a:t>
            </a:r>
            <a:endParaRPr lang="en-IN" dirty="0"/>
          </a:p>
        </p:txBody>
      </p:sp>
      <p:sp>
        <p:nvSpPr>
          <p:cNvPr id="6" name="TextBox 5">
            <a:extLst>
              <a:ext uri="{FF2B5EF4-FFF2-40B4-BE49-F238E27FC236}">
                <a16:creationId xmlns:a16="http://schemas.microsoft.com/office/drawing/2014/main" id="{719A705A-E479-8913-1AFD-BDADD4ACE4BE}"/>
              </a:ext>
            </a:extLst>
          </p:cNvPr>
          <p:cNvSpPr txBox="1"/>
          <p:nvPr/>
        </p:nvSpPr>
        <p:spPr>
          <a:xfrm>
            <a:off x="1847088" y="4486383"/>
            <a:ext cx="5733288"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entury" panose="02040604050505020304" pitchFamily="18" charset="0"/>
              </a:rPr>
              <a:t>Processor</a:t>
            </a:r>
          </a:p>
          <a:p>
            <a:pPr marL="285750" indent="-285750">
              <a:buFont typeface="Arial" panose="020B0604020202020204" pitchFamily="34" charset="0"/>
              <a:buChar char="•"/>
            </a:pPr>
            <a:r>
              <a:rPr lang="en-US" dirty="0">
                <a:latin typeface="Century" panose="02040604050505020304" pitchFamily="18" charset="0"/>
              </a:rPr>
              <a:t>RAM</a:t>
            </a:r>
          </a:p>
          <a:p>
            <a:pPr marL="285750" indent="-285750">
              <a:buFont typeface="Arial" panose="020B0604020202020204" pitchFamily="34" charset="0"/>
              <a:buChar char="•"/>
            </a:pPr>
            <a:r>
              <a:rPr lang="en-US" dirty="0">
                <a:latin typeface="Century" panose="02040604050505020304" pitchFamily="18" charset="0"/>
              </a:rPr>
              <a:t>Storage</a:t>
            </a:r>
          </a:p>
          <a:p>
            <a:pPr marL="285750" indent="-285750">
              <a:buFont typeface="Arial" panose="020B0604020202020204" pitchFamily="34" charset="0"/>
              <a:buChar char="•"/>
            </a:pPr>
            <a:r>
              <a:rPr lang="en-US" dirty="0">
                <a:latin typeface="Century" panose="02040604050505020304" pitchFamily="18" charset="0"/>
              </a:rPr>
              <a:t>Input Devices</a:t>
            </a:r>
          </a:p>
          <a:p>
            <a:pPr marL="285750" indent="-285750">
              <a:buFont typeface="Arial" panose="020B0604020202020204" pitchFamily="34" charset="0"/>
              <a:buChar char="•"/>
            </a:pPr>
            <a:r>
              <a:rPr lang="en-US" dirty="0">
                <a:latin typeface="Century" panose="02040604050505020304" pitchFamily="18" charset="0"/>
              </a:rPr>
              <a:t>Display</a:t>
            </a:r>
            <a:endParaRPr lang="en-IN" dirty="0">
              <a:latin typeface="Century" panose="02040604050505020304" pitchFamily="18" charset="0"/>
            </a:endParaRPr>
          </a:p>
        </p:txBody>
      </p:sp>
    </p:spTree>
    <p:extLst>
      <p:ext uri="{BB962C8B-B14F-4D97-AF65-F5344CB8AC3E}">
        <p14:creationId xmlns:p14="http://schemas.microsoft.com/office/powerpoint/2010/main" val="1662245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D8AA28-CC74-03B4-7199-884F1323847A}"/>
              </a:ext>
            </a:extLst>
          </p:cNvPr>
          <p:cNvSpPr txBox="1"/>
          <p:nvPr/>
        </p:nvSpPr>
        <p:spPr>
          <a:xfrm>
            <a:off x="1673352" y="2267712"/>
            <a:ext cx="7562088" cy="3693319"/>
          </a:xfrm>
          <a:prstGeom prst="rect">
            <a:avLst/>
          </a:prstGeom>
          <a:noFill/>
        </p:spPr>
        <p:txBody>
          <a:bodyPr wrap="square" rtlCol="0">
            <a:spAutoFit/>
          </a:bodyPr>
          <a:lstStyle/>
          <a:p>
            <a:r>
              <a:rPr lang="en-US" dirty="0">
                <a:latin typeface="Century" panose="02040604050505020304" pitchFamily="18" charset="0"/>
              </a:rPr>
              <a:t>Student Admission System in C is a simple console-based project designed to manage admissions for different departments by tracking the number of available seats. The program helps automate basic admission tasks such as collecting student details, checking seat availability, allocating seats, and displaying remaining seats. It uses core C programming concepts like arrays, structures, loops, and conditional statements to simulate a real-time admission process. This project allows users to select a department, verifies whether seats are available, and updates the seat count after each successful admission. It also provides options to view seat status and manage multiple admissions efficiently. The system demonstrates how C can be used to implement decision-making, data storage, and basic record handling in an educational institution’s admission workflow</a:t>
            </a:r>
            <a:endParaRPr lang="en-IN" dirty="0"/>
          </a:p>
        </p:txBody>
      </p:sp>
      <p:sp>
        <p:nvSpPr>
          <p:cNvPr id="3" name="TextBox 2">
            <a:extLst>
              <a:ext uri="{FF2B5EF4-FFF2-40B4-BE49-F238E27FC236}">
                <a16:creationId xmlns:a16="http://schemas.microsoft.com/office/drawing/2014/main" id="{0A976CD9-6629-0D58-092E-B0ABDC9B9B8A}"/>
              </a:ext>
            </a:extLst>
          </p:cNvPr>
          <p:cNvSpPr txBox="1"/>
          <p:nvPr/>
        </p:nvSpPr>
        <p:spPr>
          <a:xfrm>
            <a:off x="1673352" y="877824"/>
            <a:ext cx="3749040" cy="646331"/>
          </a:xfrm>
          <a:prstGeom prst="rect">
            <a:avLst/>
          </a:prstGeom>
          <a:noFill/>
        </p:spPr>
        <p:txBody>
          <a:bodyPr wrap="square" rtlCol="0">
            <a:spAutoFit/>
          </a:bodyPr>
          <a:lstStyle/>
          <a:p>
            <a:r>
              <a:rPr lang="en-US" sz="3600" dirty="0">
                <a:latin typeface="Algerian" panose="04020705040A02060702" pitchFamily="82" charset="0"/>
              </a:rPr>
              <a:t>INTRODUCTION:</a:t>
            </a:r>
            <a:endParaRPr lang="en-IN" sz="3600" dirty="0">
              <a:latin typeface="Algerian" panose="04020705040A02060702" pitchFamily="82" charset="0"/>
            </a:endParaRPr>
          </a:p>
        </p:txBody>
      </p:sp>
    </p:spTree>
    <p:extLst>
      <p:ext uri="{BB962C8B-B14F-4D97-AF65-F5344CB8AC3E}">
        <p14:creationId xmlns:p14="http://schemas.microsoft.com/office/powerpoint/2010/main" val="2016391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9CD52F-AD06-98BB-695F-06BAD9E54557}"/>
              </a:ext>
            </a:extLst>
          </p:cNvPr>
          <p:cNvSpPr txBox="1"/>
          <p:nvPr/>
        </p:nvSpPr>
        <p:spPr>
          <a:xfrm>
            <a:off x="1380744" y="1166842"/>
            <a:ext cx="7251192" cy="6186309"/>
          </a:xfrm>
          <a:prstGeom prst="rect">
            <a:avLst/>
          </a:prstGeom>
          <a:noFill/>
        </p:spPr>
        <p:txBody>
          <a:bodyPr wrap="square" rtlCol="0">
            <a:spAutoFit/>
          </a:bodyPr>
          <a:lstStyle/>
          <a:p>
            <a:pPr marL="10117" indent="0">
              <a:buNone/>
            </a:pPr>
            <a:endParaRPr lang="en-IN" dirty="0">
              <a:latin typeface="Arial Black" panose="020B0A04020102020204" pitchFamily="34" charset="0"/>
              <a:ea typeface="Artifakt Element Medium" panose="020B0603050000020004" pitchFamily="34" charset="0"/>
            </a:endParaRPr>
          </a:p>
          <a:p>
            <a:pPr marL="10117" indent="0">
              <a:buNone/>
            </a:pPr>
            <a:r>
              <a:rPr lang="en-IN" dirty="0">
                <a:latin typeface="Century" panose="02040604050505020304" pitchFamily="18" charset="0"/>
              </a:rPr>
              <a:t>Step 1: </a:t>
            </a:r>
            <a:r>
              <a:rPr lang="en-US" dirty="0">
                <a:latin typeface="Century" panose="02040604050505020304" pitchFamily="18" charset="0"/>
                <a:ea typeface="Artifakt Element Black" panose="020B0A03050000020004" pitchFamily="34" charset="0"/>
              </a:rPr>
              <a:t>Start </a:t>
            </a:r>
            <a:endParaRPr lang="en-IN" dirty="0">
              <a:latin typeface="Century" panose="02040604050505020304" pitchFamily="18" charset="0"/>
              <a:ea typeface="Artifakt Element Black" panose="020B0A03050000020004" pitchFamily="34" charset="0"/>
            </a:endParaRPr>
          </a:p>
          <a:p>
            <a:pPr marL="10117" indent="0">
              <a:buNone/>
            </a:pPr>
            <a:r>
              <a:rPr lang="en-IN" dirty="0">
                <a:latin typeface="Century" panose="02040604050505020304" pitchFamily="18" charset="0"/>
              </a:rPr>
              <a:t>Step 2: </a:t>
            </a:r>
            <a:r>
              <a:rPr lang="en-IN" dirty="0">
                <a:latin typeface="Century" panose="02040604050505020304" pitchFamily="18" charset="0"/>
                <a:ea typeface="Artifakt Element Black" panose="020B0A03050000020004" pitchFamily="34" charset="0"/>
              </a:rPr>
              <a:t>Initialize number of seats in each department</a:t>
            </a:r>
          </a:p>
          <a:p>
            <a:pPr marL="10117" indent="0">
              <a:buNone/>
            </a:pPr>
            <a:r>
              <a:rPr lang="en-IN" dirty="0">
                <a:latin typeface="Century" panose="02040604050505020304" pitchFamily="18" charset="0"/>
                <a:ea typeface="Artifakt Element Black" panose="020B0A03050000020004" pitchFamily="34" charset="0"/>
              </a:rPr>
              <a:t>               </a:t>
            </a:r>
            <a:r>
              <a:rPr lang="en-IN" dirty="0">
                <a:latin typeface="Century" panose="02040604050505020304" pitchFamily="18" charset="0"/>
                <a:ea typeface="Artifakt Element Black" panose="020B0A03050000020004" pitchFamily="34" charset="0"/>
                <a:sym typeface="Wingdings" panose="05000000000000000000" pitchFamily="2" charset="2"/>
              </a:rPr>
              <a:t>CSE=150</a:t>
            </a:r>
          </a:p>
          <a:p>
            <a:pPr marL="10117" indent="0">
              <a:buNone/>
            </a:pPr>
            <a:r>
              <a:rPr lang="en-IN" dirty="0">
                <a:latin typeface="Century" panose="02040604050505020304" pitchFamily="18" charset="0"/>
                <a:ea typeface="Artifakt Element Black" panose="020B0A03050000020004" pitchFamily="34" charset="0"/>
                <a:sym typeface="Wingdings" panose="05000000000000000000" pitchFamily="2" charset="2"/>
              </a:rPr>
              <a:t>               ECE=100</a:t>
            </a:r>
          </a:p>
          <a:p>
            <a:pPr marL="10117" indent="0">
              <a:buNone/>
            </a:pPr>
            <a:r>
              <a:rPr lang="en-IN" dirty="0">
                <a:latin typeface="Century" panose="02040604050505020304" pitchFamily="18" charset="0"/>
                <a:ea typeface="Artifakt Element Black" panose="020B0A03050000020004" pitchFamily="34" charset="0"/>
                <a:sym typeface="Wingdings" panose="05000000000000000000" pitchFamily="2" charset="2"/>
              </a:rPr>
              <a:t>               EEE=100</a:t>
            </a:r>
          </a:p>
          <a:p>
            <a:pPr marL="10117" indent="0">
              <a:buNone/>
            </a:pPr>
            <a:r>
              <a:rPr lang="en-IN" dirty="0">
                <a:latin typeface="Century" panose="02040604050505020304" pitchFamily="18" charset="0"/>
                <a:ea typeface="Artifakt Element Black" panose="020B0A03050000020004" pitchFamily="34" charset="0"/>
                <a:sym typeface="Wingdings" panose="05000000000000000000" pitchFamily="2" charset="2"/>
              </a:rPr>
              <a:t>               MECH=80</a:t>
            </a:r>
          </a:p>
          <a:p>
            <a:pPr marL="10117" indent="0">
              <a:buNone/>
            </a:pPr>
            <a:r>
              <a:rPr lang="en-IN" dirty="0">
                <a:latin typeface="Century" panose="02040604050505020304" pitchFamily="18" charset="0"/>
                <a:ea typeface="Artifakt Element Black" panose="020B0A03050000020004" pitchFamily="34" charset="0"/>
              </a:rPr>
              <a:t>               </a:t>
            </a:r>
            <a:r>
              <a:rPr lang="en-IN" dirty="0">
                <a:latin typeface="Century" panose="02040604050505020304" pitchFamily="18" charset="0"/>
                <a:ea typeface="Artifakt Element Black" panose="020B0A03050000020004" pitchFamily="34" charset="0"/>
                <a:sym typeface="Wingdings" panose="05000000000000000000" pitchFamily="2" charset="2"/>
              </a:rPr>
              <a:t>CIVIL=80</a:t>
            </a:r>
          </a:p>
          <a:p>
            <a:pPr marL="10117" indent="0">
              <a:buNone/>
            </a:pPr>
            <a:r>
              <a:rPr lang="en-IN" dirty="0">
                <a:latin typeface="Century" panose="02040604050505020304" pitchFamily="18" charset="0"/>
                <a:ea typeface="Artifakt Element Black" panose="020B0A03050000020004" pitchFamily="34" charset="0"/>
              </a:rPr>
              <a:t>Step 3: Create an empty </a:t>
            </a:r>
            <a:r>
              <a:rPr lang="en-US" dirty="0">
                <a:latin typeface="Century" panose="02040604050505020304" pitchFamily="18" charset="0"/>
                <a:ea typeface="Artifakt Element Black" panose="020B0A03050000020004" pitchFamily="34" charset="0"/>
              </a:rPr>
              <a:t>student array s[MAX] and set count=0</a:t>
            </a:r>
            <a:endParaRPr lang="en-IN" dirty="0">
              <a:latin typeface="Century" panose="02040604050505020304" pitchFamily="18" charset="0"/>
              <a:ea typeface="Artifakt Element Black" panose="020B0A03050000020004" pitchFamily="34" charset="0"/>
            </a:endParaRPr>
          </a:p>
          <a:p>
            <a:pPr marL="10117" indent="0">
              <a:buNone/>
            </a:pPr>
            <a:r>
              <a:rPr lang="en-US" dirty="0">
                <a:latin typeface="Century" panose="02040604050505020304" pitchFamily="18" charset="0"/>
              </a:rPr>
              <a:t>Step 4: Display Menu</a:t>
            </a:r>
          </a:p>
          <a:p>
            <a:pPr marL="10117" indent="0">
              <a:buNone/>
            </a:pPr>
            <a:r>
              <a:rPr lang="en-US" dirty="0">
                <a:latin typeface="Century" panose="02040604050505020304" pitchFamily="18" charset="0"/>
              </a:rPr>
              <a:t>                 1.Add student</a:t>
            </a:r>
          </a:p>
          <a:p>
            <a:pPr marL="10117" indent="0">
              <a:buNone/>
            </a:pPr>
            <a:r>
              <a:rPr lang="en-US" dirty="0">
                <a:latin typeface="Century" panose="02040604050505020304" pitchFamily="18" charset="0"/>
              </a:rPr>
              <a:t>                 2.Display All Students</a:t>
            </a:r>
          </a:p>
          <a:p>
            <a:pPr marL="10117" indent="0">
              <a:buNone/>
            </a:pPr>
            <a:r>
              <a:rPr lang="en-US" dirty="0">
                <a:latin typeface="Century" panose="02040604050505020304" pitchFamily="18" charset="0"/>
              </a:rPr>
              <a:t>                 3.Search Student</a:t>
            </a:r>
          </a:p>
          <a:p>
            <a:pPr marL="10117" indent="0">
              <a:buNone/>
            </a:pPr>
            <a:r>
              <a:rPr lang="en-US" dirty="0">
                <a:latin typeface="Century" panose="02040604050505020304" pitchFamily="18" charset="0"/>
              </a:rPr>
              <a:t>                 4.Show remaining seats</a:t>
            </a:r>
          </a:p>
          <a:p>
            <a:pPr marL="10117" indent="0">
              <a:buNone/>
            </a:pPr>
            <a:r>
              <a:rPr lang="en-US" dirty="0">
                <a:latin typeface="Century" panose="02040604050505020304" pitchFamily="18" charset="0"/>
              </a:rPr>
              <a:t>                 5.Exit</a:t>
            </a:r>
          </a:p>
          <a:p>
            <a:pPr marL="10117" indent="0">
              <a:buNone/>
            </a:pPr>
            <a:r>
              <a:rPr lang="en-US" dirty="0">
                <a:latin typeface="Century" panose="02040604050505020304" pitchFamily="18" charset="0"/>
              </a:rPr>
              <a:t>Step 5:If Display Menu is 1.  go to step 6</a:t>
            </a:r>
          </a:p>
          <a:p>
            <a:pPr marL="10117" indent="0">
              <a:buNone/>
            </a:pPr>
            <a:r>
              <a:rPr lang="en-US" dirty="0">
                <a:latin typeface="Century" panose="02040604050505020304" pitchFamily="18" charset="0"/>
              </a:rPr>
              <a:t>                 If Display Menu is 2. go to step 7</a:t>
            </a:r>
          </a:p>
          <a:p>
            <a:pPr marL="10117" indent="0">
              <a:buNone/>
            </a:pPr>
            <a:r>
              <a:rPr lang="en-US" dirty="0">
                <a:latin typeface="Century" panose="02040604050505020304" pitchFamily="18" charset="0"/>
              </a:rPr>
              <a:t>                 If Display Menu is 3.  go to step 8</a:t>
            </a:r>
          </a:p>
          <a:p>
            <a:pPr marL="10117" indent="0">
              <a:buNone/>
            </a:pPr>
            <a:r>
              <a:rPr lang="en-US" dirty="0">
                <a:latin typeface="Century" panose="02040604050505020304" pitchFamily="18" charset="0"/>
              </a:rPr>
              <a:t>                 If Display Menu is 4.  go to step 9</a:t>
            </a:r>
          </a:p>
          <a:p>
            <a:pPr marL="10117" indent="0">
              <a:buNone/>
            </a:pPr>
            <a:r>
              <a:rPr lang="en-US" dirty="0">
                <a:latin typeface="Century" panose="02040604050505020304" pitchFamily="18" charset="0"/>
              </a:rPr>
              <a:t>                 If Display Menu is 5.  go to step 4</a:t>
            </a:r>
          </a:p>
          <a:p>
            <a:pPr marL="10117" indent="0">
              <a:buNone/>
            </a:pPr>
            <a:endParaRPr lang="en-US" dirty="0">
              <a:latin typeface="Century" panose="02040604050505020304" pitchFamily="18" charset="0"/>
            </a:endParaRPr>
          </a:p>
          <a:p>
            <a:endParaRPr lang="en-IN" dirty="0"/>
          </a:p>
        </p:txBody>
      </p:sp>
      <p:sp>
        <p:nvSpPr>
          <p:cNvPr id="3" name="TextBox 2">
            <a:extLst>
              <a:ext uri="{FF2B5EF4-FFF2-40B4-BE49-F238E27FC236}">
                <a16:creationId xmlns:a16="http://schemas.microsoft.com/office/drawing/2014/main" id="{8C9E8074-DEAA-2518-50EE-A93BD655435A}"/>
              </a:ext>
            </a:extLst>
          </p:cNvPr>
          <p:cNvSpPr txBox="1"/>
          <p:nvPr/>
        </p:nvSpPr>
        <p:spPr>
          <a:xfrm>
            <a:off x="1380744" y="448056"/>
            <a:ext cx="2962656" cy="646331"/>
          </a:xfrm>
          <a:prstGeom prst="rect">
            <a:avLst/>
          </a:prstGeom>
          <a:noFill/>
        </p:spPr>
        <p:txBody>
          <a:bodyPr wrap="square" rtlCol="0">
            <a:spAutoFit/>
          </a:bodyPr>
          <a:lstStyle/>
          <a:p>
            <a:r>
              <a:rPr lang="en-US" sz="3600" dirty="0">
                <a:latin typeface="Algerian" panose="04020705040A02060702" pitchFamily="82" charset="0"/>
              </a:rPr>
              <a:t>ALGORITHM:</a:t>
            </a:r>
            <a:endParaRPr lang="en-IN" sz="3600" dirty="0">
              <a:latin typeface="Algerian" panose="04020705040A02060702" pitchFamily="82" charset="0"/>
            </a:endParaRPr>
          </a:p>
        </p:txBody>
      </p:sp>
    </p:spTree>
    <p:extLst>
      <p:ext uri="{BB962C8B-B14F-4D97-AF65-F5344CB8AC3E}">
        <p14:creationId xmlns:p14="http://schemas.microsoft.com/office/powerpoint/2010/main" val="708597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5F6F40-50A5-6CBB-13B2-FEB689943214}"/>
              </a:ext>
            </a:extLst>
          </p:cNvPr>
          <p:cNvSpPr txBox="1"/>
          <p:nvPr/>
        </p:nvSpPr>
        <p:spPr>
          <a:xfrm>
            <a:off x="1527048" y="411480"/>
            <a:ext cx="8394192" cy="6740307"/>
          </a:xfrm>
          <a:prstGeom prst="rect">
            <a:avLst/>
          </a:prstGeom>
          <a:noFill/>
        </p:spPr>
        <p:txBody>
          <a:bodyPr wrap="square" rtlCol="0">
            <a:spAutoFit/>
          </a:bodyPr>
          <a:lstStyle/>
          <a:p>
            <a:pPr marL="10117" indent="0">
              <a:buNone/>
            </a:pPr>
            <a:r>
              <a:rPr lang="en-US" dirty="0">
                <a:latin typeface="Century" panose="02040604050505020304" pitchFamily="18" charset="0"/>
              </a:rPr>
              <a:t>Step 6:</a:t>
            </a:r>
            <a:r>
              <a:rPr lang="en-US" dirty="0">
                <a:latin typeface="Bahnschrift SemiLight" panose="020B0502040204020203" pitchFamily="34" charset="0"/>
              </a:rPr>
              <a:t> </a:t>
            </a:r>
            <a:r>
              <a:rPr lang="en-US" dirty="0">
                <a:latin typeface="Century" panose="02040604050505020304" pitchFamily="18" charset="0"/>
              </a:rPr>
              <a:t>FOR 1.ADD STUDENT </a:t>
            </a:r>
          </a:p>
          <a:p>
            <a:pPr marL="10117" indent="0">
              <a:buNone/>
            </a:pPr>
            <a:r>
              <a:rPr lang="en-US" dirty="0">
                <a:latin typeface="Century" panose="02040604050505020304" pitchFamily="18" charset="0"/>
              </a:rPr>
              <a:t>                &gt; If Count&gt;=MAX DISPLAY  “Cannot add more students” go to step      , otherwise</a:t>
            </a:r>
          </a:p>
          <a:p>
            <a:pPr marL="10117" indent="0">
              <a:buNone/>
            </a:pPr>
            <a:r>
              <a:rPr lang="en-IN" dirty="0">
                <a:latin typeface="Century" panose="02040604050505020304" pitchFamily="18" charset="0"/>
              </a:rPr>
              <a:t>                &gt; Read the inputs of</a:t>
            </a:r>
          </a:p>
          <a:p>
            <a:pPr marL="10117" indent="0">
              <a:buNone/>
            </a:pPr>
            <a:r>
              <a:rPr lang="en-IN" dirty="0">
                <a:latin typeface="Century" panose="02040604050505020304" pitchFamily="18" charset="0"/>
              </a:rPr>
              <a:t>                  </a:t>
            </a:r>
            <a:r>
              <a:rPr lang="en-IN" dirty="0">
                <a:latin typeface="Century" panose="02040604050505020304" pitchFamily="18" charset="0"/>
                <a:sym typeface="Wingdings" panose="05000000000000000000" pitchFamily="2" charset="2"/>
              </a:rPr>
              <a:t>Application Number</a:t>
            </a:r>
          </a:p>
          <a:p>
            <a:pPr marL="10117" indent="0">
              <a:buNone/>
            </a:pPr>
            <a:r>
              <a:rPr lang="en-IN" dirty="0">
                <a:latin typeface="Century" panose="02040604050505020304" pitchFamily="18" charset="0"/>
                <a:sym typeface="Wingdings" panose="05000000000000000000" pitchFamily="2" charset="2"/>
              </a:rPr>
              <a:t>                  Name</a:t>
            </a:r>
          </a:p>
          <a:p>
            <a:pPr marL="10117" indent="0">
              <a:buNone/>
            </a:pPr>
            <a:r>
              <a:rPr lang="en-IN" dirty="0">
                <a:latin typeface="Century" panose="02040604050505020304" pitchFamily="18" charset="0"/>
                <a:sym typeface="Wingdings" panose="05000000000000000000" pitchFamily="2" charset="2"/>
              </a:rPr>
              <a:t>                  </a:t>
            </a:r>
            <a:r>
              <a:rPr lang="en-US" dirty="0">
                <a:latin typeface="Century" panose="02040604050505020304" pitchFamily="18" charset="0"/>
                <a:sym typeface="Wingdings" panose="05000000000000000000" pitchFamily="2" charset="2"/>
              </a:rPr>
              <a:t>Department (CSE/ECE/EEE/MECH/CIVIL)</a:t>
            </a:r>
          </a:p>
          <a:p>
            <a:pPr marL="10117" indent="0">
              <a:buNone/>
            </a:pPr>
            <a:r>
              <a:rPr lang="en-US" dirty="0">
                <a:latin typeface="Century" panose="02040604050505020304" pitchFamily="18" charset="0"/>
                <a:sym typeface="Wingdings" panose="05000000000000000000" pitchFamily="2" charset="2"/>
              </a:rPr>
              <a:t>                      AND</a:t>
            </a:r>
          </a:p>
          <a:p>
            <a:pPr marL="10117" indent="0">
              <a:buNone/>
            </a:pPr>
            <a:r>
              <a:rPr lang="en-US" dirty="0">
                <a:latin typeface="Century" panose="02040604050505020304" pitchFamily="18" charset="0"/>
                <a:sym typeface="Wingdings" panose="05000000000000000000" pitchFamily="2" charset="2"/>
              </a:rPr>
              <a:t>               &gt; Call check seats(Department)</a:t>
            </a:r>
          </a:p>
          <a:p>
            <a:pPr marL="10117" indent="0">
              <a:buNone/>
            </a:pPr>
            <a:r>
              <a:rPr lang="en-US" dirty="0">
                <a:latin typeface="Century" panose="02040604050505020304" pitchFamily="18" charset="0"/>
                <a:sym typeface="Wingdings" panose="05000000000000000000" pitchFamily="2" charset="2"/>
              </a:rPr>
              <a:t>               &gt; If seats not available  DISPLAY  “seats full” and GOTO step 11                  ,otherwise</a:t>
            </a:r>
          </a:p>
          <a:p>
            <a:pPr marL="10117" indent="0">
              <a:buNone/>
            </a:pPr>
            <a:r>
              <a:rPr lang="en-US" dirty="0">
                <a:latin typeface="Century" panose="02040604050505020304" pitchFamily="18" charset="0"/>
                <a:sym typeface="Wingdings" panose="05000000000000000000" pitchFamily="2" charset="2"/>
              </a:rPr>
              <a:t>               &gt; Store student details in s[count] and increment count</a:t>
            </a:r>
          </a:p>
          <a:p>
            <a:pPr marL="10117" indent="0">
              <a:buNone/>
            </a:pPr>
            <a:r>
              <a:rPr lang="en-US" dirty="0">
                <a:latin typeface="Century" panose="02040604050505020304" pitchFamily="18" charset="0"/>
                <a:sym typeface="Wingdings" panose="05000000000000000000" pitchFamily="2" charset="2"/>
              </a:rPr>
              <a:t>               &gt; Reduce seat by calling reduce seat(Department)</a:t>
            </a:r>
          </a:p>
          <a:p>
            <a:pPr marL="10117" indent="0">
              <a:buNone/>
            </a:pPr>
            <a:r>
              <a:rPr lang="en-US" dirty="0">
                <a:latin typeface="Century" panose="02040604050505020304" pitchFamily="18" charset="0"/>
                <a:sym typeface="Wingdings" panose="05000000000000000000" pitchFamily="2" charset="2"/>
              </a:rPr>
              <a:t>               &gt; DISPLAY “admissions successful”</a:t>
            </a:r>
          </a:p>
          <a:p>
            <a:pPr marL="10117" indent="0">
              <a:buNone/>
            </a:pPr>
            <a:r>
              <a:rPr lang="en-US" dirty="0">
                <a:latin typeface="Century" panose="02040604050505020304" pitchFamily="18" charset="0"/>
                <a:sym typeface="Wingdings" panose="05000000000000000000" pitchFamily="2" charset="2"/>
              </a:rPr>
              <a:t>               &gt; GOTO step 11</a:t>
            </a:r>
          </a:p>
          <a:p>
            <a:pPr marL="10117" indent="0">
              <a:buNone/>
            </a:pPr>
            <a:r>
              <a:rPr lang="en-US" dirty="0">
                <a:latin typeface="Arial Black" panose="020B0A04020102020204" pitchFamily="34" charset="0"/>
              </a:rPr>
              <a:t>Step 7:</a:t>
            </a:r>
            <a:r>
              <a:rPr lang="en-US" dirty="0">
                <a:latin typeface="Bahnschrift SemiLight" panose="020B0502040204020203" pitchFamily="34" charset="0"/>
              </a:rPr>
              <a:t> </a:t>
            </a:r>
            <a:r>
              <a:rPr lang="en-US" dirty="0">
                <a:latin typeface="Century" panose="02040604050505020304" pitchFamily="18" charset="0"/>
              </a:rPr>
              <a:t>FOR 2. DISPLAY ALL STUDENTS</a:t>
            </a:r>
          </a:p>
          <a:p>
            <a:pPr marL="10117" indent="0">
              <a:buNone/>
            </a:pPr>
            <a:r>
              <a:rPr lang="en-US" dirty="0">
                <a:latin typeface="Century" panose="02040604050505020304" pitchFamily="18" charset="0"/>
              </a:rPr>
              <a:t>                  &gt; If count==0 DISPLAY “no student admitted”</a:t>
            </a:r>
          </a:p>
          <a:p>
            <a:pPr marL="10117" indent="0">
              <a:buNone/>
            </a:pPr>
            <a:r>
              <a:rPr lang="en-US" dirty="0">
                <a:latin typeface="Century" panose="02040604050505020304" pitchFamily="18" charset="0"/>
              </a:rPr>
              <a:t>                  otherwise</a:t>
            </a:r>
          </a:p>
          <a:p>
            <a:pPr marL="10117" indent="0">
              <a:buNone/>
            </a:pPr>
            <a:r>
              <a:rPr lang="en-IN" dirty="0">
                <a:latin typeface="Century" panose="02040604050505020304" pitchFamily="18" charset="0"/>
              </a:rPr>
              <a:t>                  &gt; for each </a:t>
            </a:r>
            <a:r>
              <a:rPr lang="en-US" dirty="0">
                <a:latin typeface="Century" panose="02040604050505020304" pitchFamily="18" charset="0"/>
              </a:rPr>
              <a:t>student from 0 to present count PRINT inputs of </a:t>
            </a:r>
          </a:p>
          <a:p>
            <a:pPr marL="10117" indent="0">
              <a:buNone/>
            </a:pPr>
            <a:r>
              <a:rPr lang="en-US" dirty="0">
                <a:latin typeface="Century" panose="02040604050505020304" pitchFamily="18" charset="0"/>
              </a:rPr>
              <a:t>                  </a:t>
            </a:r>
            <a:r>
              <a:rPr lang="en-US" dirty="0">
                <a:latin typeface="Century" panose="02040604050505020304" pitchFamily="18" charset="0"/>
                <a:sym typeface="Wingdings" panose="05000000000000000000" pitchFamily="2" charset="2"/>
              </a:rPr>
              <a:t>Application  No</a:t>
            </a:r>
          </a:p>
          <a:p>
            <a:pPr marL="10117" indent="0">
              <a:buNone/>
            </a:pPr>
            <a:r>
              <a:rPr lang="en-US" dirty="0">
                <a:latin typeface="Century" panose="02040604050505020304" pitchFamily="18" charset="0"/>
                <a:sym typeface="Wingdings" panose="05000000000000000000" pitchFamily="2" charset="2"/>
              </a:rPr>
              <a:t>                  Name</a:t>
            </a:r>
          </a:p>
          <a:p>
            <a:pPr marL="10117" indent="0">
              <a:buNone/>
            </a:pPr>
            <a:r>
              <a:rPr lang="en-US" dirty="0">
                <a:latin typeface="Century" panose="02040604050505020304" pitchFamily="18" charset="0"/>
                <a:sym typeface="Wingdings" panose="05000000000000000000" pitchFamily="2" charset="2"/>
              </a:rPr>
              <a:t>                  Department</a:t>
            </a:r>
          </a:p>
          <a:p>
            <a:pPr marL="10117" indent="0">
              <a:buNone/>
            </a:pPr>
            <a:r>
              <a:rPr lang="en-US" dirty="0">
                <a:latin typeface="Century" panose="02040604050505020304" pitchFamily="18" charset="0"/>
                <a:sym typeface="Wingdings" panose="05000000000000000000" pitchFamily="2" charset="2"/>
              </a:rPr>
              <a:t>                  &gt; GOTO step 11</a:t>
            </a:r>
          </a:p>
          <a:p>
            <a:endParaRPr lang="en-IN" dirty="0"/>
          </a:p>
        </p:txBody>
      </p:sp>
    </p:spTree>
    <p:extLst>
      <p:ext uri="{BB962C8B-B14F-4D97-AF65-F5344CB8AC3E}">
        <p14:creationId xmlns:p14="http://schemas.microsoft.com/office/powerpoint/2010/main" val="2573780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AA426D-2409-FF01-29D2-4EFAD420E047}"/>
              </a:ext>
            </a:extLst>
          </p:cNvPr>
          <p:cNvSpPr txBox="1"/>
          <p:nvPr/>
        </p:nvSpPr>
        <p:spPr>
          <a:xfrm>
            <a:off x="1545336" y="374904"/>
            <a:ext cx="8339328" cy="5078313"/>
          </a:xfrm>
          <a:prstGeom prst="rect">
            <a:avLst/>
          </a:prstGeom>
          <a:noFill/>
        </p:spPr>
        <p:txBody>
          <a:bodyPr wrap="square" rtlCol="0">
            <a:spAutoFit/>
          </a:bodyPr>
          <a:lstStyle/>
          <a:p>
            <a:pPr marL="10117" indent="0">
              <a:buNone/>
            </a:pPr>
            <a:r>
              <a:rPr lang="en-US" dirty="0">
                <a:latin typeface="Century" panose="02040604050505020304" pitchFamily="18" charset="0"/>
                <a:sym typeface="Wingdings" panose="05000000000000000000" pitchFamily="2" charset="2"/>
              </a:rPr>
              <a:t>Step 8: FOR 3. SEARCH STUDENT</a:t>
            </a:r>
          </a:p>
          <a:p>
            <a:pPr marL="10117" indent="0">
              <a:buNone/>
            </a:pPr>
            <a:r>
              <a:rPr lang="en-US" dirty="0">
                <a:latin typeface="Century" panose="02040604050505020304" pitchFamily="18" charset="0"/>
                <a:sym typeface="Wingdings" panose="05000000000000000000" pitchFamily="2" charset="2"/>
              </a:rPr>
              <a:t>                 &gt; Read Application No</a:t>
            </a:r>
          </a:p>
          <a:p>
            <a:pPr marL="10117" indent="0">
              <a:buNone/>
            </a:pPr>
            <a:r>
              <a:rPr lang="en-US" dirty="0">
                <a:latin typeface="Century" panose="02040604050505020304" pitchFamily="18" charset="0"/>
                <a:sym typeface="Wingdings" panose="05000000000000000000" pitchFamily="2" charset="2"/>
              </a:rPr>
              <a:t>                 &gt; For each student in list:</a:t>
            </a:r>
          </a:p>
          <a:p>
            <a:pPr marL="10117" indent="0">
              <a:buNone/>
            </a:pPr>
            <a:r>
              <a:rPr lang="en-US" dirty="0">
                <a:latin typeface="Century" panose="02040604050505020304" pitchFamily="18" charset="0"/>
                <a:sym typeface="Wingdings" panose="05000000000000000000" pitchFamily="2" charset="2"/>
              </a:rPr>
              <a:t>                  If s[</a:t>
            </a:r>
            <a:r>
              <a:rPr lang="en-US" dirty="0" err="1">
                <a:latin typeface="Century" panose="02040604050505020304" pitchFamily="18" charset="0"/>
                <a:sym typeface="Wingdings" panose="05000000000000000000" pitchFamily="2" charset="2"/>
              </a:rPr>
              <a:t>i</a:t>
            </a:r>
            <a:r>
              <a:rPr lang="en-US" dirty="0">
                <a:latin typeface="Century" panose="02040604050505020304" pitchFamily="18" charset="0"/>
                <a:sym typeface="Wingdings" panose="05000000000000000000" pitchFamily="2" charset="2"/>
              </a:rPr>
              <a:t>]  Application No matches:</a:t>
            </a:r>
          </a:p>
          <a:p>
            <a:pPr marL="10117" indent="0">
              <a:buNone/>
            </a:pPr>
            <a:r>
              <a:rPr lang="en-US" dirty="0">
                <a:latin typeface="Century" panose="02040604050505020304" pitchFamily="18" charset="0"/>
                <a:sym typeface="Wingdings" panose="05000000000000000000" pitchFamily="2" charset="2"/>
              </a:rPr>
              <a:t>                    DISPLAY student details</a:t>
            </a:r>
          </a:p>
          <a:p>
            <a:pPr marL="10117" indent="0">
              <a:buNone/>
            </a:pPr>
            <a:r>
              <a:rPr lang="en-US" dirty="0">
                <a:latin typeface="Century" panose="02040604050505020304" pitchFamily="18" charset="0"/>
                <a:sym typeface="Wingdings" panose="05000000000000000000" pitchFamily="2" charset="2"/>
              </a:rPr>
              <a:t>                    mark found=1</a:t>
            </a:r>
          </a:p>
          <a:p>
            <a:pPr marL="10117" indent="0">
              <a:buNone/>
            </a:pPr>
            <a:r>
              <a:rPr lang="en-US" dirty="0">
                <a:latin typeface="Century" panose="02040604050505020304" pitchFamily="18" charset="0"/>
                <a:sym typeface="Wingdings" panose="05000000000000000000" pitchFamily="2" charset="2"/>
              </a:rPr>
              <a:t>                    EXIT loop</a:t>
            </a:r>
          </a:p>
          <a:p>
            <a:pPr marL="10117" indent="0">
              <a:buNone/>
            </a:pPr>
            <a:r>
              <a:rPr lang="en-US" dirty="0">
                <a:latin typeface="Century" panose="02040604050505020304" pitchFamily="18" charset="0"/>
                <a:sym typeface="Wingdings" panose="05000000000000000000" pitchFamily="2" charset="2"/>
              </a:rPr>
              <a:t>                 If doesn’t match, print “No match found”</a:t>
            </a:r>
          </a:p>
          <a:p>
            <a:pPr marL="10117" indent="0">
              <a:buNone/>
            </a:pPr>
            <a:r>
              <a:rPr lang="en-US" dirty="0">
                <a:latin typeface="Century" panose="02040604050505020304" pitchFamily="18" charset="0"/>
                <a:sym typeface="Wingdings" panose="05000000000000000000" pitchFamily="2" charset="2"/>
              </a:rPr>
              <a:t>                &gt; GOTO step 11 </a:t>
            </a:r>
          </a:p>
          <a:p>
            <a:pPr marL="10117" indent="0">
              <a:buNone/>
            </a:pPr>
            <a:r>
              <a:rPr lang="en-US" dirty="0">
                <a:latin typeface="Century" panose="02040604050505020304" pitchFamily="18" charset="0"/>
              </a:rPr>
              <a:t>Step 9:</a:t>
            </a:r>
            <a:r>
              <a:rPr lang="en-US" dirty="0">
                <a:latin typeface="Century" panose="02040604050505020304" pitchFamily="18" charset="0"/>
                <a:ea typeface="Artifakt Element Black" panose="020B0A03050000020004" pitchFamily="34" charset="0"/>
              </a:rPr>
              <a:t> FOR 4. SHOW REAMINING SEATS</a:t>
            </a:r>
          </a:p>
          <a:p>
            <a:pPr marL="10117" indent="0">
              <a:buNone/>
            </a:pPr>
            <a:r>
              <a:rPr lang="en-US" dirty="0">
                <a:latin typeface="Century" panose="02040604050505020304" pitchFamily="18" charset="0"/>
                <a:ea typeface="Artifakt Element Black" panose="020B0A03050000020004" pitchFamily="34" charset="0"/>
              </a:rPr>
              <a:t>                 </a:t>
            </a:r>
            <a:r>
              <a:rPr lang="en-US" dirty="0">
                <a:latin typeface="Century" panose="02040604050505020304" pitchFamily="18" charset="0"/>
                <a:ea typeface="Artifakt Element Black" panose="020B0A03050000020004" pitchFamily="34" charset="0"/>
                <a:sym typeface="Wingdings" panose="05000000000000000000" pitchFamily="2" charset="2"/>
              </a:rPr>
              <a:t></a:t>
            </a:r>
            <a:r>
              <a:rPr lang="en-US" dirty="0">
                <a:latin typeface="Century" panose="02040604050505020304" pitchFamily="18" charset="0"/>
                <a:ea typeface="Artifakt Element Black" panose="020B0A03050000020004" pitchFamily="34" charset="0"/>
              </a:rPr>
              <a:t>Print CSE,ECE,EEE,MECH,CIVIL, values</a:t>
            </a:r>
          </a:p>
          <a:p>
            <a:pPr marL="10117" indent="0">
              <a:buNone/>
            </a:pPr>
            <a:r>
              <a:rPr lang="en-US" dirty="0">
                <a:latin typeface="Century" panose="02040604050505020304" pitchFamily="18" charset="0"/>
                <a:ea typeface="Artifakt Element Black" panose="020B0A03050000020004" pitchFamily="34" charset="0"/>
              </a:rPr>
              <a:t>                 </a:t>
            </a:r>
            <a:r>
              <a:rPr lang="en-US" dirty="0">
                <a:latin typeface="Century" panose="02040604050505020304" pitchFamily="18" charset="0"/>
                <a:ea typeface="Artifakt Element Black" panose="020B0A03050000020004" pitchFamily="34" charset="0"/>
                <a:sym typeface="Wingdings" panose="05000000000000000000" pitchFamily="2" charset="2"/>
              </a:rPr>
              <a:t></a:t>
            </a:r>
            <a:r>
              <a:rPr lang="en-US" dirty="0">
                <a:latin typeface="Century" panose="02040604050505020304" pitchFamily="18" charset="0"/>
                <a:ea typeface="Artifakt Element Black" panose="020B0A03050000020004" pitchFamily="34" charset="0"/>
              </a:rPr>
              <a:t>GOTO step 11</a:t>
            </a:r>
          </a:p>
          <a:p>
            <a:pPr marL="10117" indent="0">
              <a:buNone/>
            </a:pPr>
            <a:r>
              <a:rPr lang="en-US" dirty="0">
                <a:latin typeface="Century" panose="02040604050505020304" pitchFamily="18" charset="0"/>
                <a:ea typeface="Artifakt Element Black" panose="020B0A03050000020004" pitchFamily="34" charset="0"/>
              </a:rPr>
              <a:t>Step 10: For 5.EXIT</a:t>
            </a:r>
          </a:p>
          <a:p>
            <a:pPr marL="10117" indent="0">
              <a:buNone/>
            </a:pPr>
            <a:r>
              <a:rPr lang="en-US" dirty="0">
                <a:latin typeface="Century" panose="02040604050505020304" pitchFamily="18" charset="0"/>
                <a:ea typeface="Artifakt Element Black" panose="020B0A03050000020004" pitchFamily="34" charset="0"/>
              </a:rPr>
              <a:t>                  </a:t>
            </a:r>
            <a:r>
              <a:rPr lang="en-US" dirty="0">
                <a:latin typeface="Century" panose="02040604050505020304" pitchFamily="18" charset="0"/>
                <a:ea typeface="Artifakt Element Black" panose="020B0A03050000020004" pitchFamily="34" charset="0"/>
                <a:sym typeface="Wingdings" panose="05000000000000000000" pitchFamily="2" charset="2"/>
              </a:rPr>
              <a:t></a:t>
            </a:r>
            <a:r>
              <a:rPr lang="en-US" dirty="0">
                <a:latin typeface="Century" panose="02040604050505020304" pitchFamily="18" charset="0"/>
                <a:ea typeface="Artifakt Element Black" panose="020B0A03050000020004" pitchFamily="34" charset="0"/>
              </a:rPr>
              <a:t>DISPLAY “Exiting”</a:t>
            </a:r>
          </a:p>
          <a:p>
            <a:pPr marL="10117" indent="0">
              <a:buNone/>
            </a:pPr>
            <a:r>
              <a:rPr lang="en-US" dirty="0">
                <a:latin typeface="Century" panose="02040604050505020304" pitchFamily="18" charset="0"/>
                <a:ea typeface="Artifakt Element Black" panose="020B0A03050000020004" pitchFamily="34" charset="0"/>
              </a:rPr>
              <a:t>                  </a:t>
            </a:r>
            <a:r>
              <a:rPr lang="en-US" dirty="0">
                <a:latin typeface="Century" panose="02040604050505020304" pitchFamily="18" charset="0"/>
                <a:ea typeface="Artifakt Element Black" panose="020B0A03050000020004" pitchFamily="34" charset="0"/>
                <a:sym typeface="Wingdings" panose="05000000000000000000" pitchFamily="2" charset="2"/>
              </a:rPr>
              <a:t>EXIT loop</a:t>
            </a:r>
            <a:endParaRPr lang="en-US" dirty="0">
              <a:latin typeface="Century" panose="02040604050505020304" pitchFamily="18" charset="0"/>
              <a:ea typeface="Artifakt Element Black" panose="020B0A03050000020004" pitchFamily="34" charset="0"/>
            </a:endParaRPr>
          </a:p>
          <a:p>
            <a:pPr marL="10117" indent="0">
              <a:buNone/>
            </a:pPr>
            <a:r>
              <a:rPr lang="en-US" dirty="0">
                <a:latin typeface="Century" panose="02040604050505020304" pitchFamily="18" charset="0"/>
                <a:ea typeface="Artifakt Element Black" panose="020B0A03050000020004" pitchFamily="34" charset="0"/>
              </a:rPr>
              <a:t>                  </a:t>
            </a:r>
            <a:r>
              <a:rPr lang="en-US" dirty="0">
                <a:latin typeface="Century" panose="02040604050505020304" pitchFamily="18" charset="0"/>
                <a:ea typeface="Artifakt Element Black" panose="020B0A03050000020004" pitchFamily="34" charset="0"/>
                <a:sym typeface="Wingdings" panose="05000000000000000000" pitchFamily="2" charset="2"/>
              </a:rPr>
              <a:t>GOTO step 11</a:t>
            </a:r>
          </a:p>
          <a:p>
            <a:pPr marL="10117" indent="0">
              <a:buNone/>
            </a:pPr>
            <a:r>
              <a:rPr lang="en-US" dirty="0">
                <a:latin typeface="Century" panose="02040604050505020304" pitchFamily="18" charset="0"/>
                <a:ea typeface="Artifakt Element Black" panose="020B0A03050000020004" pitchFamily="34" charset="0"/>
                <a:sym typeface="Wingdings" panose="05000000000000000000" pitchFamily="2" charset="2"/>
              </a:rPr>
              <a:t>Step 11: STOP</a:t>
            </a:r>
            <a:r>
              <a:rPr lang="en-US" dirty="0">
                <a:latin typeface="Century" panose="02040604050505020304" pitchFamily="18" charset="0"/>
                <a:sym typeface="Wingdings" panose="05000000000000000000" pitchFamily="2" charset="2"/>
              </a:rPr>
              <a:t>             </a:t>
            </a:r>
            <a:endParaRPr lang="en-IN" dirty="0">
              <a:latin typeface="Century" panose="02040604050505020304" pitchFamily="18" charset="0"/>
            </a:endParaRPr>
          </a:p>
          <a:p>
            <a:endParaRPr lang="en-IN" dirty="0"/>
          </a:p>
        </p:txBody>
      </p:sp>
    </p:spTree>
    <p:extLst>
      <p:ext uri="{BB962C8B-B14F-4D97-AF65-F5344CB8AC3E}">
        <p14:creationId xmlns:p14="http://schemas.microsoft.com/office/powerpoint/2010/main" val="2654727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9DE87A76-7B2D-188A-C197-A46CA9E67AF6}"/>
              </a:ext>
            </a:extLst>
          </p:cNvPr>
          <p:cNvSpPr/>
          <p:nvPr/>
        </p:nvSpPr>
        <p:spPr>
          <a:xfrm>
            <a:off x="5129784" y="704088"/>
            <a:ext cx="1563624" cy="713232"/>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 </a:t>
            </a:r>
            <a:r>
              <a:rPr lang="en-US" b="1" spc="50" dirty="0">
                <a:ln w="0"/>
                <a:solidFill>
                  <a:schemeClr val="bg2"/>
                </a:solidFill>
                <a:effectLst>
                  <a:innerShdw blurRad="63500" dist="50800" dir="13500000">
                    <a:srgbClr val="000000">
                      <a:alpha val="50000"/>
                    </a:srgbClr>
                  </a:innerShdw>
                </a:effectLst>
              </a:rPr>
              <a:t>START</a:t>
            </a:r>
            <a:endParaRPr lang="en-IN" dirty="0"/>
          </a:p>
        </p:txBody>
      </p:sp>
      <p:sp>
        <p:nvSpPr>
          <p:cNvPr id="3" name="TextBox 2">
            <a:extLst>
              <a:ext uri="{FF2B5EF4-FFF2-40B4-BE49-F238E27FC236}">
                <a16:creationId xmlns:a16="http://schemas.microsoft.com/office/drawing/2014/main" id="{EE3676E3-C3AC-C9EF-2162-A94A3A3AED97}"/>
              </a:ext>
            </a:extLst>
          </p:cNvPr>
          <p:cNvSpPr txBox="1"/>
          <p:nvPr/>
        </p:nvSpPr>
        <p:spPr>
          <a:xfrm>
            <a:off x="1408176" y="384048"/>
            <a:ext cx="2907792" cy="523220"/>
          </a:xfrm>
          <a:prstGeom prst="rect">
            <a:avLst/>
          </a:prstGeom>
          <a:noFill/>
        </p:spPr>
        <p:txBody>
          <a:bodyPr wrap="square" rtlCol="0">
            <a:spAutoFit/>
          </a:bodyPr>
          <a:lstStyle/>
          <a:p>
            <a:r>
              <a:rPr lang="en-US" sz="2800" dirty="0">
                <a:latin typeface="Algerian" panose="04020705040A02060702" pitchFamily="82" charset="0"/>
              </a:rPr>
              <a:t>FLOWCHART :</a:t>
            </a:r>
            <a:endParaRPr lang="en-IN" sz="2800" dirty="0">
              <a:latin typeface="Algerian" panose="04020705040A02060702" pitchFamily="82" charset="0"/>
            </a:endParaRPr>
          </a:p>
        </p:txBody>
      </p:sp>
      <p:sp>
        <p:nvSpPr>
          <p:cNvPr id="4" name="Rectangle 3">
            <a:extLst>
              <a:ext uri="{FF2B5EF4-FFF2-40B4-BE49-F238E27FC236}">
                <a16:creationId xmlns:a16="http://schemas.microsoft.com/office/drawing/2014/main" id="{81EDF8CC-97C8-6667-07F4-CAF5C39C2F93}"/>
              </a:ext>
            </a:extLst>
          </p:cNvPr>
          <p:cNvSpPr/>
          <p:nvPr/>
        </p:nvSpPr>
        <p:spPr>
          <a:xfrm>
            <a:off x="4347972" y="2066544"/>
            <a:ext cx="3118104" cy="612648"/>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spc="50" dirty="0">
                <a:ln w="0"/>
                <a:solidFill>
                  <a:schemeClr val="bg2"/>
                </a:solidFill>
                <a:effectLst>
                  <a:innerShdw blurRad="63500" dist="50800" dir="13500000">
                    <a:srgbClr val="000000">
                      <a:alpha val="50000"/>
                    </a:srgbClr>
                  </a:innerShdw>
                </a:effectLst>
              </a:rPr>
              <a:t>Initialize values for departments</a:t>
            </a:r>
            <a:endParaRPr lang="en-IN" b="1" spc="50" dirty="0">
              <a:ln w="0"/>
              <a:solidFill>
                <a:schemeClr val="bg2"/>
              </a:solidFill>
              <a:effectLst>
                <a:innerShdw blurRad="63500" dist="50800" dir="13500000">
                  <a:srgbClr val="000000">
                    <a:alpha val="50000"/>
                  </a:srgbClr>
                </a:innerShdw>
              </a:effectLst>
            </a:endParaRPr>
          </a:p>
        </p:txBody>
      </p:sp>
      <p:cxnSp>
        <p:nvCxnSpPr>
          <p:cNvPr id="6" name="Straight Arrow Connector 5">
            <a:extLst>
              <a:ext uri="{FF2B5EF4-FFF2-40B4-BE49-F238E27FC236}">
                <a16:creationId xmlns:a16="http://schemas.microsoft.com/office/drawing/2014/main" id="{57B87B78-B42E-210A-52D2-6F5DCCA0CD6B}"/>
              </a:ext>
            </a:extLst>
          </p:cNvPr>
          <p:cNvCxnSpPr>
            <a:stCxn id="2" idx="4"/>
          </p:cNvCxnSpPr>
          <p:nvPr/>
        </p:nvCxnSpPr>
        <p:spPr>
          <a:xfrm flipH="1">
            <a:off x="5907024" y="1417320"/>
            <a:ext cx="4572" cy="649224"/>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 name="Straight Arrow Connector 7">
            <a:extLst>
              <a:ext uri="{FF2B5EF4-FFF2-40B4-BE49-F238E27FC236}">
                <a16:creationId xmlns:a16="http://schemas.microsoft.com/office/drawing/2014/main" id="{C529FB78-839B-5E50-6548-7E579943FB02}"/>
              </a:ext>
            </a:extLst>
          </p:cNvPr>
          <p:cNvCxnSpPr/>
          <p:nvPr/>
        </p:nvCxnSpPr>
        <p:spPr>
          <a:xfrm>
            <a:off x="5907024" y="2697480"/>
            <a:ext cx="0" cy="731520"/>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Rectangle 8">
            <a:extLst>
              <a:ext uri="{FF2B5EF4-FFF2-40B4-BE49-F238E27FC236}">
                <a16:creationId xmlns:a16="http://schemas.microsoft.com/office/drawing/2014/main" id="{A26590AC-BD87-3833-298F-6CC9648F8409}"/>
              </a:ext>
            </a:extLst>
          </p:cNvPr>
          <p:cNvSpPr/>
          <p:nvPr/>
        </p:nvSpPr>
        <p:spPr>
          <a:xfrm>
            <a:off x="4727448" y="3447288"/>
            <a:ext cx="2423160"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spc="50" dirty="0">
                <a:ln w="0"/>
                <a:solidFill>
                  <a:schemeClr val="bg2"/>
                </a:solidFill>
                <a:effectLst>
                  <a:innerShdw blurRad="63500" dist="50800" dir="13500000">
                    <a:srgbClr val="000000">
                      <a:alpha val="50000"/>
                    </a:srgbClr>
                  </a:innerShdw>
                </a:effectLst>
              </a:rPr>
              <a:t>create</a:t>
            </a:r>
            <a:r>
              <a:rPr lang="en-IN" b="1" spc="50" dirty="0">
                <a:ln w="0"/>
                <a:solidFill>
                  <a:schemeClr val="bg2"/>
                </a:solidFill>
                <a:effectLst>
                  <a:innerShdw blurRad="63500" dist="50800" dir="13500000">
                    <a:srgbClr val="000000">
                      <a:alpha val="50000"/>
                    </a:srgbClr>
                  </a:innerShdw>
                </a:effectLst>
              </a:rPr>
              <a:t> empty array set count=0</a:t>
            </a:r>
            <a:endParaRPr lang="en-US" b="1" spc="50" dirty="0">
              <a:ln w="0"/>
              <a:solidFill>
                <a:schemeClr val="bg2"/>
              </a:solidFill>
              <a:effectLst>
                <a:innerShdw blurRad="63500" dist="50800" dir="13500000">
                  <a:srgbClr val="000000">
                    <a:alpha val="50000"/>
                  </a:srgbClr>
                </a:innerShdw>
              </a:effectLst>
            </a:endParaRPr>
          </a:p>
        </p:txBody>
      </p:sp>
      <p:cxnSp>
        <p:nvCxnSpPr>
          <p:cNvPr id="11" name="Straight Arrow Connector 10">
            <a:extLst>
              <a:ext uri="{FF2B5EF4-FFF2-40B4-BE49-F238E27FC236}">
                <a16:creationId xmlns:a16="http://schemas.microsoft.com/office/drawing/2014/main" id="{3351F022-61CA-6F49-E151-C5A1121587BC}"/>
              </a:ext>
            </a:extLst>
          </p:cNvPr>
          <p:cNvCxnSpPr/>
          <p:nvPr/>
        </p:nvCxnSpPr>
        <p:spPr>
          <a:xfrm>
            <a:off x="5907024" y="4361688"/>
            <a:ext cx="0" cy="621792"/>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Flowchart: Decision 11">
            <a:extLst>
              <a:ext uri="{FF2B5EF4-FFF2-40B4-BE49-F238E27FC236}">
                <a16:creationId xmlns:a16="http://schemas.microsoft.com/office/drawing/2014/main" id="{AF7252CC-FFD7-9360-0EC5-AE56E7BA2757}"/>
              </a:ext>
            </a:extLst>
          </p:cNvPr>
          <p:cNvSpPr/>
          <p:nvPr/>
        </p:nvSpPr>
        <p:spPr>
          <a:xfrm>
            <a:off x="4542283" y="4983480"/>
            <a:ext cx="2729482" cy="1097280"/>
          </a:xfrm>
          <a:prstGeom prst="flowChartDecisio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spc="50" dirty="0">
                <a:ln w="0"/>
                <a:solidFill>
                  <a:schemeClr val="bg2"/>
                </a:solidFill>
                <a:effectLst>
                  <a:innerShdw blurRad="63500" dist="50800" dir="13500000">
                    <a:srgbClr val="000000">
                      <a:alpha val="50000"/>
                    </a:srgbClr>
                  </a:innerShdw>
                </a:effectLst>
              </a:rPr>
              <a:t> Display Menu</a:t>
            </a:r>
            <a:endParaRPr lang="en-IN" b="1" spc="50" dirty="0">
              <a:ln w="0"/>
              <a:solidFill>
                <a:schemeClr val="bg2"/>
              </a:solidFill>
              <a:effectLst>
                <a:innerShdw blurRad="63500" dist="50800" dir="13500000">
                  <a:srgbClr val="000000">
                    <a:alpha val="50000"/>
                  </a:srgbClr>
                </a:innerShdw>
              </a:effectLst>
            </a:endParaRPr>
          </a:p>
        </p:txBody>
      </p:sp>
      <p:cxnSp>
        <p:nvCxnSpPr>
          <p:cNvPr id="14" name="Straight Connector 13">
            <a:extLst>
              <a:ext uri="{FF2B5EF4-FFF2-40B4-BE49-F238E27FC236}">
                <a16:creationId xmlns:a16="http://schemas.microsoft.com/office/drawing/2014/main" id="{7E0117FF-082B-7057-914F-626EC816C76D}"/>
              </a:ext>
            </a:extLst>
          </p:cNvPr>
          <p:cNvCxnSpPr>
            <a:cxnSpLocks/>
            <a:stCxn id="12" idx="1"/>
          </p:cNvCxnSpPr>
          <p:nvPr/>
        </p:nvCxnSpPr>
        <p:spPr>
          <a:xfrm flipH="1">
            <a:off x="1901952" y="5532120"/>
            <a:ext cx="2640331"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17" name="Straight Connector 16">
            <a:extLst>
              <a:ext uri="{FF2B5EF4-FFF2-40B4-BE49-F238E27FC236}">
                <a16:creationId xmlns:a16="http://schemas.microsoft.com/office/drawing/2014/main" id="{E6D7790A-0A60-0550-8B64-23E3BFF77008}"/>
              </a:ext>
            </a:extLst>
          </p:cNvPr>
          <p:cNvCxnSpPr>
            <a:stCxn id="12" idx="3"/>
          </p:cNvCxnSpPr>
          <p:nvPr/>
        </p:nvCxnSpPr>
        <p:spPr>
          <a:xfrm>
            <a:off x="7271765" y="5532120"/>
            <a:ext cx="2996947"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22" name="Straight Connector 21">
            <a:extLst>
              <a:ext uri="{FF2B5EF4-FFF2-40B4-BE49-F238E27FC236}">
                <a16:creationId xmlns:a16="http://schemas.microsoft.com/office/drawing/2014/main" id="{A771108D-542C-787F-2D45-ADB300B28E99}"/>
              </a:ext>
            </a:extLst>
          </p:cNvPr>
          <p:cNvCxnSpPr/>
          <p:nvPr/>
        </p:nvCxnSpPr>
        <p:spPr>
          <a:xfrm>
            <a:off x="1901952" y="5532120"/>
            <a:ext cx="0" cy="1325880"/>
          </a:xfrm>
          <a:prstGeom prst="line">
            <a:avLst/>
          </a:prstGeom>
        </p:spPr>
        <p:style>
          <a:lnRef idx="3">
            <a:schemeClr val="accent4"/>
          </a:lnRef>
          <a:fillRef idx="0">
            <a:schemeClr val="accent4"/>
          </a:fillRef>
          <a:effectRef idx="2">
            <a:schemeClr val="accent4"/>
          </a:effectRef>
          <a:fontRef idx="minor">
            <a:schemeClr val="tx1"/>
          </a:fontRef>
        </p:style>
      </p:cxnSp>
      <p:cxnSp>
        <p:nvCxnSpPr>
          <p:cNvPr id="24" name="Straight Connector 23">
            <a:extLst>
              <a:ext uri="{FF2B5EF4-FFF2-40B4-BE49-F238E27FC236}">
                <a16:creationId xmlns:a16="http://schemas.microsoft.com/office/drawing/2014/main" id="{C1F537F1-6D6C-9E5C-47AA-F067BAB7846F}"/>
              </a:ext>
            </a:extLst>
          </p:cNvPr>
          <p:cNvCxnSpPr/>
          <p:nvPr/>
        </p:nvCxnSpPr>
        <p:spPr>
          <a:xfrm>
            <a:off x="3776472" y="5532120"/>
            <a:ext cx="0" cy="1325880"/>
          </a:xfrm>
          <a:prstGeom prst="line">
            <a:avLst/>
          </a:prstGeom>
        </p:spPr>
        <p:style>
          <a:lnRef idx="3">
            <a:schemeClr val="accent4"/>
          </a:lnRef>
          <a:fillRef idx="0">
            <a:schemeClr val="accent4"/>
          </a:fillRef>
          <a:effectRef idx="2">
            <a:schemeClr val="accent4"/>
          </a:effectRef>
          <a:fontRef idx="minor">
            <a:schemeClr val="tx1"/>
          </a:fontRef>
        </p:style>
      </p:cxnSp>
      <p:cxnSp>
        <p:nvCxnSpPr>
          <p:cNvPr id="26" name="Straight Connector 25">
            <a:extLst>
              <a:ext uri="{FF2B5EF4-FFF2-40B4-BE49-F238E27FC236}">
                <a16:creationId xmlns:a16="http://schemas.microsoft.com/office/drawing/2014/main" id="{029F74D9-B1AE-FAE9-21AC-0597BD15293A}"/>
              </a:ext>
            </a:extLst>
          </p:cNvPr>
          <p:cNvCxnSpPr>
            <a:stCxn id="12" idx="2"/>
          </p:cNvCxnSpPr>
          <p:nvPr/>
        </p:nvCxnSpPr>
        <p:spPr>
          <a:xfrm>
            <a:off x="5907024" y="6080760"/>
            <a:ext cx="0" cy="777240"/>
          </a:xfrm>
          <a:prstGeom prst="line">
            <a:avLst/>
          </a:prstGeom>
        </p:spPr>
        <p:style>
          <a:lnRef idx="3">
            <a:schemeClr val="accent4"/>
          </a:lnRef>
          <a:fillRef idx="0">
            <a:schemeClr val="accent4"/>
          </a:fillRef>
          <a:effectRef idx="2">
            <a:schemeClr val="accent4"/>
          </a:effectRef>
          <a:fontRef idx="minor">
            <a:schemeClr val="tx1"/>
          </a:fontRef>
        </p:style>
      </p:cxnSp>
      <p:cxnSp>
        <p:nvCxnSpPr>
          <p:cNvPr id="28" name="Straight Connector 27">
            <a:extLst>
              <a:ext uri="{FF2B5EF4-FFF2-40B4-BE49-F238E27FC236}">
                <a16:creationId xmlns:a16="http://schemas.microsoft.com/office/drawing/2014/main" id="{27162F57-0823-B332-1E6E-23192BD02136}"/>
              </a:ext>
            </a:extLst>
          </p:cNvPr>
          <p:cNvCxnSpPr/>
          <p:nvPr/>
        </p:nvCxnSpPr>
        <p:spPr>
          <a:xfrm>
            <a:off x="8110728" y="5532120"/>
            <a:ext cx="0" cy="1325880"/>
          </a:xfrm>
          <a:prstGeom prst="line">
            <a:avLst/>
          </a:prstGeom>
        </p:spPr>
        <p:style>
          <a:lnRef idx="3">
            <a:schemeClr val="accent4"/>
          </a:lnRef>
          <a:fillRef idx="0">
            <a:schemeClr val="accent4"/>
          </a:fillRef>
          <a:effectRef idx="2">
            <a:schemeClr val="accent4"/>
          </a:effectRef>
          <a:fontRef idx="minor">
            <a:schemeClr val="tx1"/>
          </a:fontRef>
        </p:style>
      </p:cxnSp>
      <p:cxnSp>
        <p:nvCxnSpPr>
          <p:cNvPr id="30" name="Straight Connector 29">
            <a:extLst>
              <a:ext uri="{FF2B5EF4-FFF2-40B4-BE49-F238E27FC236}">
                <a16:creationId xmlns:a16="http://schemas.microsoft.com/office/drawing/2014/main" id="{CF00DAA9-86AE-9BA6-357F-EF0F1103DB67}"/>
              </a:ext>
            </a:extLst>
          </p:cNvPr>
          <p:cNvCxnSpPr/>
          <p:nvPr/>
        </p:nvCxnSpPr>
        <p:spPr>
          <a:xfrm>
            <a:off x="10268712" y="5532120"/>
            <a:ext cx="0" cy="1325880"/>
          </a:xfrm>
          <a:prstGeom prst="line">
            <a:avLst/>
          </a:prstGeom>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079605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lowchart: Decision 12">
            <a:extLst>
              <a:ext uri="{FF2B5EF4-FFF2-40B4-BE49-F238E27FC236}">
                <a16:creationId xmlns:a16="http://schemas.microsoft.com/office/drawing/2014/main" id="{24E243FA-2AD1-CB1C-2B91-8A23D8770ACB}"/>
              </a:ext>
            </a:extLst>
          </p:cNvPr>
          <p:cNvSpPr/>
          <p:nvPr/>
        </p:nvSpPr>
        <p:spPr>
          <a:xfrm>
            <a:off x="4233674" y="1632203"/>
            <a:ext cx="1536187" cy="594360"/>
          </a:xfrm>
          <a:prstGeom prst="flowChartDecisio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Count&gt;=Max</a:t>
            </a:r>
            <a:endParaRPr lang="en-IN" sz="1400" dirty="0"/>
          </a:p>
        </p:txBody>
      </p:sp>
      <p:cxnSp>
        <p:nvCxnSpPr>
          <p:cNvPr id="19" name="Straight Connector 18">
            <a:extLst>
              <a:ext uri="{FF2B5EF4-FFF2-40B4-BE49-F238E27FC236}">
                <a16:creationId xmlns:a16="http://schemas.microsoft.com/office/drawing/2014/main" id="{0837BDF5-807B-8188-6286-DC3C2A65A132}"/>
              </a:ext>
            </a:extLst>
          </p:cNvPr>
          <p:cNvCxnSpPr>
            <a:cxnSpLocks/>
          </p:cNvCxnSpPr>
          <p:nvPr/>
        </p:nvCxnSpPr>
        <p:spPr>
          <a:xfrm>
            <a:off x="2231136" y="0"/>
            <a:ext cx="0" cy="1060704"/>
          </a:xfrm>
          <a:prstGeom prst="line">
            <a:avLst/>
          </a:prstGeom>
        </p:spPr>
        <p:style>
          <a:lnRef idx="3">
            <a:schemeClr val="accent4"/>
          </a:lnRef>
          <a:fillRef idx="0">
            <a:schemeClr val="accent4"/>
          </a:fillRef>
          <a:effectRef idx="2">
            <a:schemeClr val="accent4"/>
          </a:effectRef>
          <a:fontRef idx="minor">
            <a:schemeClr val="tx1"/>
          </a:fontRef>
        </p:style>
      </p:cxnSp>
      <p:cxnSp>
        <p:nvCxnSpPr>
          <p:cNvPr id="21" name="Straight Connector 20">
            <a:extLst>
              <a:ext uri="{FF2B5EF4-FFF2-40B4-BE49-F238E27FC236}">
                <a16:creationId xmlns:a16="http://schemas.microsoft.com/office/drawing/2014/main" id="{253CBA55-6ECC-2498-351C-E3A93678251F}"/>
              </a:ext>
            </a:extLst>
          </p:cNvPr>
          <p:cNvCxnSpPr>
            <a:cxnSpLocks/>
          </p:cNvCxnSpPr>
          <p:nvPr/>
        </p:nvCxnSpPr>
        <p:spPr>
          <a:xfrm>
            <a:off x="3776472" y="0"/>
            <a:ext cx="0" cy="795528"/>
          </a:xfrm>
          <a:prstGeom prst="line">
            <a:avLst/>
          </a:prstGeom>
        </p:spPr>
        <p:style>
          <a:lnRef idx="3">
            <a:schemeClr val="accent4"/>
          </a:lnRef>
          <a:fillRef idx="0">
            <a:schemeClr val="accent4"/>
          </a:fillRef>
          <a:effectRef idx="2">
            <a:schemeClr val="accent4"/>
          </a:effectRef>
          <a:fontRef idx="minor">
            <a:schemeClr val="tx1"/>
          </a:fontRef>
        </p:style>
      </p:cxnSp>
      <p:cxnSp>
        <p:nvCxnSpPr>
          <p:cNvPr id="23" name="Straight Connector 22">
            <a:extLst>
              <a:ext uri="{FF2B5EF4-FFF2-40B4-BE49-F238E27FC236}">
                <a16:creationId xmlns:a16="http://schemas.microsoft.com/office/drawing/2014/main" id="{E6A38B81-10D5-2BB5-17C1-1E7A50A93BE1}"/>
              </a:ext>
            </a:extLst>
          </p:cNvPr>
          <p:cNvCxnSpPr>
            <a:cxnSpLocks/>
          </p:cNvCxnSpPr>
          <p:nvPr/>
        </p:nvCxnSpPr>
        <p:spPr>
          <a:xfrm>
            <a:off x="5394960" y="0"/>
            <a:ext cx="0" cy="640080"/>
          </a:xfrm>
          <a:prstGeom prst="line">
            <a:avLst/>
          </a:prstGeom>
        </p:spPr>
        <p:style>
          <a:lnRef idx="3">
            <a:schemeClr val="accent4"/>
          </a:lnRef>
          <a:fillRef idx="0">
            <a:schemeClr val="accent4"/>
          </a:fillRef>
          <a:effectRef idx="2">
            <a:schemeClr val="accent4"/>
          </a:effectRef>
          <a:fontRef idx="minor">
            <a:schemeClr val="tx1"/>
          </a:fontRef>
        </p:style>
      </p:cxnSp>
      <p:cxnSp>
        <p:nvCxnSpPr>
          <p:cNvPr id="26" name="Straight Connector 25">
            <a:extLst>
              <a:ext uri="{FF2B5EF4-FFF2-40B4-BE49-F238E27FC236}">
                <a16:creationId xmlns:a16="http://schemas.microsoft.com/office/drawing/2014/main" id="{A569BCE7-E200-FFA8-6C5E-08BF27C4603F}"/>
              </a:ext>
            </a:extLst>
          </p:cNvPr>
          <p:cNvCxnSpPr>
            <a:cxnSpLocks/>
          </p:cNvCxnSpPr>
          <p:nvPr/>
        </p:nvCxnSpPr>
        <p:spPr>
          <a:xfrm>
            <a:off x="7306056" y="0"/>
            <a:ext cx="0" cy="502920"/>
          </a:xfrm>
          <a:prstGeom prst="line">
            <a:avLst/>
          </a:prstGeom>
        </p:spPr>
        <p:style>
          <a:lnRef idx="3">
            <a:schemeClr val="accent4"/>
          </a:lnRef>
          <a:fillRef idx="0">
            <a:schemeClr val="accent4"/>
          </a:fillRef>
          <a:effectRef idx="2">
            <a:schemeClr val="accent4"/>
          </a:effectRef>
          <a:fontRef idx="minor">
            <a:schemeClr val="tx1"/>
          </a:fontRef>
        </p:style>
      </p:cxnSp>
      <p:cxnSp>
        <p:nvCxnSpPr>
          <p:cNvPr id="28" name="Straight Connector 27">
            <a:extLst>
              <a:ext uri="{FF2B5EF4-FFF2-40B4-BE49-F238E27FC236}">
                <a16:creationId xmlns:a16="http://schemas.microsoft.com/office/drawing/2014/main" id="{CB0CF640-4F55-B161-609D-3D03D853C176}"/>
              </a:ext>
            </a:extLst>
          </p:cNvPr>
          <p:cNvCxnSpPr>
            <a:cxnSpLocks/>
          </p:cNvCxnSpPr>
          <p:nvPr/>
        </p:nvCxnSpPr>
        <p:spPr>
          <a:xfrm>
            <a:off x="9198864" y="0"/>
            <a:ext cx="0" cy="320040"/>
          </a:xfrm>
          <a:prstGeom prst="line">
            <a:avLst/>
          </a:prstGeom>
        </p:spPr>
        <p:style>
          <a:lnRef idx="3">
            <a:schemeClr val="accent4"/>
          </a:lnRef>
          <a:fillRef idx="0">
            <a:schemeClr val="accent4"/>
          </a:fillRef>
          <a:effectRef idx="2">
            <a:schemeClr val="accent4"/>
          </a:effectRef>
          <a:fontRef idx="minor">
            <a:schemeClr val="tx1"/>
          </a:fontRef>
        </p:style>
      </p:cxnSp>
      <p:cxnSp>
        <p:nvCxnSpPr>
          <p:cNvPr id="30" name="Straight Connector 29">
            <a:extLst>
              <a:ext uri="{FF2B5EF4-FFF2-40B4-BE49-F238E27FC236}">
                <a16:creationId xmlns:a16="http://schemas.microsoft.com/office/drawing/2014/main" id="{E73F2AFF-A3A3-299E-2532-701CFB8D30A0}"/>
              </a:ext>
            </a:extLst>
          </p:cNvPr>
          <p:cNvCxnSpPr/>
          <p:nvPr/>
        </p:nvCxnSpPr>
        <p:spPr>
          <a:xfrm>
            <a:off x="3776472" y="795528"/>
            <a:ext cx="5422392"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36" name="Straight Connector 35">
            <a:extLst>
              <a:ext uri="{FF2B5EF4-FFF2-40B4-BE49-F238E27FC236}">
                <a16:creationId xmlns:a16="http://schemas.microsoft.com/office/drawing/2014/main" id="{2BE5385A-71E0-B429-8599-75005B3F9AAA}"/>
              </a:ext>
            </a:extLst>
          </p:cNvPr>
          <p:cNvCxnSpPr>
            <a:cxnSpLocks/>
          </p:cNvCxnSpPr>
          <p:nvPr/>
        </p:nvCxnSpPr>
        <p:spPr>
          <a:xfrm>
            <a:off x="5394960" y="640080"/>
            <a:ext cx="4087368" cy="0"/>
          </a:xfrm>
          <a:prstGeom prst="line">
            <a:avLst/>
          </a:prstGeom>
          <a:ln>
            <a:solidFill>
              <a:schemeClr val="tx2">
                <a:lumMod val="90000"/>
              </a:schemeClr>
            </a:solidFill>
          </a:ln>
        </p:spPr>
        <p:style>
          <a:lnRef idx="3">
            <a:schemeClr val="accent4"/>
          </a:lnRef>
          <a:fillRef idx="0">
            <a:schemeClr val="accent4"/>
          </a:fillRef>
          <a:effectRef idx="2">
            <a:schemeClr val="accent4"/>
          </a:effectRef>
          <a:fontRef idx="minor">
            <a:schemeClr val="tx1"/>
          </a:fontRef>
        </p:style>
      </p:cxnSp>
      <p:cxnSp>
        <p:nvCxnSpPr>
          <p:cNvPr id="38" name="Straight Connector 37">
            <a:extLst>
              <a:ext uri="{FF2B5EF4-FFF2-40B4-BE49-F238E27FC236}">
                <a16:creationId xmlns:a16="http://schemas.microsoft.com/office/drawing/2014/main" id="{6007CA4F-6DBB-C729-AA4C-A75E241738FE}"/>
              </a:ext>
            </a:extLst>
          </p:cNvPr>
          <p:cNvCxnSpPr/>
          <p:nvPr/>
        </p:nvCxnSpPr>
        <p:spPr>
          <a:xfrm>
            <a:off x="7306056" y="502920"/>
            <a:ext cx="2542032"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40" name="Straight Connector 39">
            <a:extLst>
              <a:ext uri="{FF2B5EF4-FFF2-40B4-BE49-F238E27FC236}">
                <a16:creationId xmlns:a16="http://schemas.microsoft.com/office/drawing/2014/main" id="{DD7D94E1-8612-5C6F-211F-BC28368D8424}"/>
              </a:ext>
            </a:extLst>
          </p:cNvPr>
          <p:cNvCxnSpPr/>
          <p:nvPr/>
        </p:nvCxnSpPr>
        <p:spPr>
          <a:xfrm>
            <a:off x="9198864" y="320040"/>
            <a:ext cx="1060704"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43" name="Straight Connector 42">
            <a:extLst>
              <a:ext uri="{FF2B5EF4-FFF2-40B4-BE49-F238E27FC236}">
                <a16:creationId xmlns:a16="http://schemas.microsoft.com/office/drawing/2014/main" id="{7B93FD8D-8475-E8A1-B8A0-8BD5576F136B}"/>
              </a:ext>
            </a:extLst>
          </p:cNvPr>
          <p:cNvCxnSpPr>
            <a:cxnSpLocks/>
          </p:cNvCxnSpPr>
          <p:nvPr/>
        </p:nvCxnSpPr>
        <p:spPr>
          <a:xfrm>
            <a:off x="9198864" y="786384"/>
            <a:ext cx="0" cy="6071616"/>
          </a:xfrm>
          <a:prstGeom prst="line">
            <a:avLst/>
          </a:prstGeom>
        </p:spPr>
        <p:style>
          <a:lnRef idx="3">
            <a:schemeClr val="accent4"/>
          </a:lnRef>
          <a:fillRef idx="0">
            <a:schemeClr val="accent4"/>
          </a:fillRef>
          <a:effectRef idx="2">
            <a:schemeClr val="accent4"/>
          </a:effectRef>
          <a:fontRef idx="minor">
            <a:schemeClr val="tx1"/>
          </a:fontRef>
        </p:style>
      </p:cxnSp>
      <p:cxnSp>
        <p:nvCxnSpPr>
          <p:cNvPr id="46" name="Straight Connector 45">
            <a:extLst>
              <a:ext uri="{FF2B5EF4-FFF2-40B4-BE49-F238E27FC236}">
                <a16:creationId xmlns:a16="http://schemas.microsoft.com/office/drawing/2014/main" id="{32FC8C9D-F91F-71F7-7EF7-C40DC5A1F838}"/>
              </a:ext>
            </a:extLst>
          </p:cNvPr>
          <p:cNvCxnSpPr/>
          <p:nvPr/>
        </p:nvCxnSpPr>
        <p:spPr>
          <a:xfrm>
            <a:off x="9482328" y="640080"/>
            <a:ext cx="0" cy="6217920"/>
          </a:xfrm>
          <a:prstGeom prst="line">
            <a:avLst/>
          </a:prstGeom>
        </p:spPr>
        <p:style>
          <a:lnRef idx="3">
            <a:schemeClr val="accent4"/>
          </a:lnRef>
          <a:fillRef idx="0">
            <a:schemeClr val="accent4"/>
          </a:fillRef>
          <a:effectRef idx="2">
            <a:schemeClr val="accent4"/>
          </a:effectRef>
          <a:fontRef idx="minor">
            <a:schemeClr val="tx1"/>
          </a:fontRef>
        </p:style>
      </p:cxnSp>
      <p:cxnSp>
        <p:nvCxnSpPr>
          <p:cNvPr id="49" name="Straight Connector 48">
            <a:extLst>
              <a:ext uri="{FF2B5EF4-FFF2-40B4-BE49-F238E27FC236}">
                <a16:creationId xmlns:a16="http://schemas.microsoft.com/office/drawing/2014/main" id="{15729F60-9F3F-E4D2-D6A1-84040ADFC4C9}"/>
              </a:ext>
            </a:extLst>
          </p:cNvPr>
          <p:cNvCxnSpPr/>
          <p:nvPr/>
        </p:nvCxnSpPr>
        <p:spPr>
          <a:xfrm>
            <a:off x="9848088" y="502920"/>
            <a:ext cx="0" cy="6355080"/>
          </a:xfrm>
          <a:prstGeom prst="line">
            <a:avLst/>
          </a:prstGeom>
        </p:spPr>
        <p:style>
          <a:lnRef idx="3">
            <a:schemeClr val="accent4"/>
          </a:lnRef>
          <a:fillRef idx="0">
            <a:schemeClr val="accent4"/>
          </a:fillRef>
          <a:effectRef idx="2">
            <a:schemeClr val="accent4"/>
          </a:effectRef>
          <a:fontRef idx="minor">
            <a:schemeClr val="tx1"/>
          </a:fontRef>
        </p:style>
      </p:cxnSp>
      <p:cxnSp>
        <p:nvCxnSpPr>
          <p:cNvPr id="51" name="Straight Connector 50">
            <a:extLst>
              <a:ext uri="{FF2B5EF4-FFF2-40B4-BE49-F238E27FC236}">
                <a16:creationId xmlns:a16="http://schemas.microsoft.com/office/drawing/2014/main" id="{1631E09B-C31E-7B16-C114-68B52CE326B4}"/>
              </a:ext>
            </a:extLst>
          </p:cNvPr>
          <p:cNvCxnSpPr/>
          <p:nvPr/>
        </p:nvCxnSpPr>
        <p:spPr>
          <a:xfrm>
            <a:off x="10259568" y="320040"/>
            <a:ext cx="0" cy="6537960"/>
          </a:xfrm>
          <a:prstGeom prst="line">
            <a:avLst/>
          </a:prstGeom>
        </p:spPr>
        <p:style>
          <a:lnRef idx="3">
            <a:schemeClr val="accent4"/>
          </a:lnRef>
          <a:fillRef idx="0">
            <a:schemeClr val="accent4"/>
          </a:fillRef>
          <a:effectRef idx="2">
            <a:schemeClr val="accent4"/>
          </a:effectRef>
          <a:fontRef idx="minor">
            <a:schemeClr val="tx1"/>
          </a:fontRef>
        </p:style>
      </p:cxnSp>
      <p:cxnSp>
        <p:nvCxnSpPr>
          <p:cNvPr id="55" name="Straight Connector 54">
            <a:extLst>
              <a:ext uri="{FF2B5EF4-FFF2-40B4-BE49-F238E27FC236}">
                <a16:creationId xmlns:a16="http://schemas.microsoft.com/office/drawing/2014/main" id="{1A62DAD0-74CD-2624-EF66-1FF8A14888EF}"/>
              </a:ext>
            </a:extLst>
          </p:cNvPr>
          <p:cNvCxnSpPr/>
          <p:nvPr/>
        </p:nvCxnSpPr>
        <p:spPr>
          <a:xfrm>
            <a:off x="2231136" y="1060704"/>
            <a:ext cx="2770632"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57" name="Straight Arrow Connector 56">
            <a:extLst>
              <a:ext uri="{FF2B5EF4-FFF2-40B4-BE49-F238E27FC236}">
                <a16:creationId xmlns:a16="http://schemas.microsoft.com/office/drawing/2014/main" id="{B9156DAF-F6CC-2326-E7DB-4EA165430E4D}"/>
              </a:ext>
            </a:extLst>
          </p:cNvPr>
          <p:cNvCxnSpPr/>
          <p:nvPr/>
        </p:nvCxnSpPr>
        <p:spPr>
          <a:xfrm>
            <a:off x="5001768" y="1060704"/>
            <a:ext cx="0" cy="60350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67" name="Straight Connector 66">
            <a:extLst>
              <a:ext uri="{FF2B5EF4-FFF2-40B4-BE49-F238E27FC236}">
                <a16:creationId xmlns:a16="http://schemas.microsoft.com/office/drawing/2014/main" id="{2533AADC-F046-880A-32F8-F73F85A9F7DE}"/>
              </a:ext>
            </a:extLst>
          </p:cNvPr>
          <p:cNvCxnSpPr>
            <a:stCxn id="13" idx="3"/>
          </p:cNvCxnSpPr>
          <p:nvPr/>
        </p:nvCxnSpPr>
        <p:spPr>
          <a:xfrm>
            <a:off x="5769861" y="1929383"/>
            <a:ext cx="1024131"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68" name="Straight Connector 67">
            <a:extLst>
              <a:ext uri="{FF2B5EF4-FFF2-40B4-BE49-F238E27FC236}">
                <a16:creationId xmlns:a16="http://schemas.microsoft.com/office/drawing/2014/main" id="{64B420EB-90AA-3353-1846-A682F2A8D5B0}"/>
              </a:ext>
            </a:extLst>
          </p:cNvPr>
          <p:cNvCxnSpPr/>
          <p:nvPr/>
        </p:nvCxnSpPr>
        <p:spPr>
          <a:xfrm>
            <a:off x="3264406" y="1929383"/>
            <a:ext cx="1024131" cy="0"/>
          </a:xfrm>
          <a:prstGeom prst="line">
            <a:avLst/>
          </a:prstGeom>
        </p:spPr>
        <p:style>
          <a:lnRef idx="3">
            <a:schemeClr val="accent4"/>
          </a:lnRef>
          <a:fillRef idx="0">
            <a:schemeClr val="accent4"/>
          </a:fillRef>
          <a:effectRef idx="2">
            <a:schemeClr val="accent4"/>
          </a:effectRef>
          <a:fontRef idx="minor">
            <a:schemeClr val="tx1"/>
          </a:fontRef>
        </p:style>
      </p:cxnSp>
      <p:sp>
        <p:nvSpPr>
          <p:cNvPr id="76" name="Flowchart: Data 75">
            <a:extLst>
              <a:ext uri="{FF2B5EF4-FFF2-40B4-BE49-F238E27FC236}">
                <a16:creationId xmlns:a16="http://schemas.microsoft.com/office/drawing/2014/main" id="{3C3CCFA1-EBE0-E643-7858-F8ABEFDC5E81}"/>
              </a:ext>
            </a:extLst>
          </p:cNvPr>
          <p:cNvSpPr/>
          <p:nvPr/>
        </p:nvSpPr>
        <p:spPr>
          <a:xfrm>
            <a:off x="5465828" y="2329434"/>
            <a:ext cx="2633470" cy="413765"/>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Read details of student</a:t>
            </a:r>
            <a:endParaRPr lang="en-IN" sz="1400" dirty="0"/>
          </a:p>
        </p:txBody>
      </p:sp>
      <p:sp>
        <p:nvSpPr>
          <p:cNvPr id="80" name="Rectangle 79">
            <a:extLst>
              <a:ext uri="{FF2B5EF4-FFF2-40B4-BE49-F238E27FC236}">
                <a16:creationId xmlns:a16="http://schemas.microsoft.com/office/drawing/2014/main" id="{0B73CE55-9624-1297-C51B-83BA72D52437}"/>
              </a:ext>
            </a:extLst>
          </p:cNvPr>
          <p:cNvSpPr/>
          <p:nvPr/>
        </p:nvSpPr>
        <p:spPr>
          <a:xfrm>
            <a:off x="5655577" y="3113533"/>
            <a:ext cx="2267704" cy="37033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Call check seat(dept)</a:t>
            </a:r>
            <a:endParaRPr lang="en-IN" sz="1400" dirty="0"/>
          </a:p>
        </p:txBody>
      </p:sp>
      <p:cxnSp>
        <p:nvCxnSpPr>
          <p:cNvPr id="83" name="Straight Arrow Connector 82">
            <a:extLst>
              <a:ext uri="{FF2B5EF4-FFF2-40B4-BE49-F238E27FC236}">
                <a16:creationId xmlns:a16="http://schemas.microsoft.com/office/drawing/2014/main" id="{E4874F26-219D-B57B-DD85-C6AD2CDD7D02}"/>
              </a:ext>
            </a:extLst>
          </p:cNvPr>
          <p:cNvCxnSpPr/>
          <p:nvPr/>
        </p:nvCxnSpPr>
        <p:spPr>
          <a:xfrm>
            <a:off x="6793992" y="1929383"/>
            <a:ext cx="0" cy="3931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84" name="Straight Arrow Connector 83">
            <a:extLst>
              <a:ext uri="{FF2B5EF4-FFF2-40B4-BE49-F238E27FC236}">
                <a16:creationId xmlns:a16="http://schemas.microsoft.com/office/drawing/2014/main" id="{F8EB06B3-849B-8DFD-AA8B-341D0C957EFB}"/>
              </a:ext>
            </a:extLst>
          </p:cNvPr>
          <p:cNvCxnSpPr/>
          <p:nvPr/>
        </p:nvCxnSpPr>
        <p:spPr>
          <a:xfrm>
            <a:off x="6793992" y="2750055"/>
            <a:ext cx="0" cy="3931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85" name="Straight Arrow Connector 84">
            <a:extLst>
              <a:ext uri="{FF2B5EF4-FFF2-40B4-BE49-F238E27FC236}">
                <a16:creationId xmlns:a16="http://schemas.microsoft.com/office/drawing/2014/main" id="{A3FC703E-6E3A-B912-6188-7EEC6FE4C270}"/>
              </a:ext>
            </a:extLst>
          </p:cNvPr>
          <p:cNvCxnSpPr/>
          <p:nvPr/>
        </p:nvCxnSpPr>
        <p:spPr>
          <a:xfrm>
            <a:off x="3264406" y="1936241"/>
            <a:ext cx="0" cy="3931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86" name="Straight Arrow Connector 85">
            <a:extLst>
              <a:ext uri="{FF2B5EF4-FFF2-40B4-BE49-F238E27FC236}">
                <a16:creationId xmlns:a16="http://schemas.microsoft.com/office/drawing/2014/main" id="{E616CECC-9439-29A0-3864-EDDC2E004220}"/>
              </a:ext>
            </a:extLst>
          </p:cNvPr>
          <p:cNvCxnSpPr/>
          <p:nvPr/>
        </p:nvCxnSpPr>
        <p:spPr>
          <a:xfrm>
            <a:off x="6782563" y="3483863"/>
            <a:ext cx="0" cy="3931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87" name="Straight Arrow Connector 86">
            <a:extLst>
              <a:ext uri="{FF2B5EF4-FFF2-40B4-BE49-F238E27FC236}">
                <a16:creationId xmlns:a16="http://schemas.microsoft.com/office/drawing/2014/main" id="{3EE1049A-C456-E433-8F0F-BA20DB4E6569}"/>
              </a:ext>
            </a:extLst>
          </p:cNvPr>
          <p:cNvCxnSpPr/>
          <p:nvPr/>
        </p:nvCxnSpPr>
        <p:spPr>
          <a:xfrm>
            <a:off x="8291323" y="4277103"/>
            <a:ext cx="0" cy="3931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88" name="Straight Arrow Connector 87">
            <a:extLst>
              <a:ext uri="{FF2B5EF4-FFF2-40B4-BE49-F238E27FC236}">
                <a16:creationId xmlns:a16="http://schemas.microsoft.com/office/drawing/2014/main" id="{84531067-6DB1-9C2F-2120-EC040C1B2429}"/>
              </a:ext>
            </a:extLst>
          </p:cNvPr>
          <p:cNvCxnSpPr/>
          <p:nvPr/>
        </p:nvCxnSpPr>
        <p:spPr>
          <a:xfrm>
            <a:off x="5202935" y="4277103"/>
            <a:ext cx="0" cy="3931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89" name="Flowchart: Decision 88">
            <a:extLst>
              <a:ext uri="{FF2B5EF4-FFF2-40B4-BE49-F238E27FC236}">
                <a16:creationId xmlns:a16="http://schemas.microsoft.com/office/drawing/2014/main" id="{20037C7B-9214-12A8-2604-CAEC1FBD94E0}"/>
              </a:ext>
            </a:extLst>
          </p:cNvPr>
          <p:cNvSpPr/>
          <p:nvPr/>
        </p:nvSpPr>
        <p:spPr>
          <a:xfrm>
            <a:off x="5769861" y="3890198"/>
            <a:ext cx="2011675" cy="773811"/>
          </a:xfrm>
          <a:prstGeom prst="flowChartDecisio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 </a:t>
            </a:r>
            <a:r>
              <a:rPr lang="en-US" sz="1400" dirty="0"/>
              <a:t>available</a:t>
            </a:r>
            <a:endParaRPr lang="en-IN" sz="1400" dirty="0"/>
          </a:p>
        </p:txBody>
      </p:sp>
      <p:cxnSp>
        <p:nvCxnSpPr>
          <p:cNvPr id="91" name="Straight Connector 90">
            <a:extLst>
              <a:ext uri="{FF2B5EF4-FFF2-40B4-BE49-F238E27FC236}">
                <a16:creationId xmlns:a16="http://schemas.microsoft.com/office/drawing/2014/main" id="{36A76C07-5984-104A-9999-2AC1110401B8}"/>
              </a:ext>
            </a:extLst>
          </p:cNvPr>
          <p:cNvCxnSpPr>
            <a:endCxn id="89" idx="1"/>
          </p:cNvCxnSpPr>
          <p:nvPr/>
        </p:nvCxnSpPr>
        <p:spPr>
          <a:xfrm>
            <a:off x="5193792" y="4277103"/>
            <a:ext cx="576069" cy="1"/>
          </a:xfrm>
          <a:prstGeom prst="line">
            <a:avLst/>
          </a:prstGeom>
        </p:spPr>
        <p:style>
          <a:lnRef idx="3">
            <a:schemeClr val="accent4"/>
          </a:lnRef>
          <a:fillRef idx="0">
            <a:schemeClr val="accent4"/>
          </a:fillRef>
          <a:effectRef idx="2">
            <a:schemeClr val="accent4"/>
          </a:effectRef>
          <a:fontRef idx="minor">
            <a:schemeClr val="tx1"/>
          </a:fontRef>
        </p:style>
      </p:cxnSp>
      <p:cxnSp>
        <p:nvCxnSpPr>
          <p:cNvPr id="93" name="Straight Connector 92">
            <a:extLst>
              <a:ext uri="{FF2B5EF4-FFF2-40B4-BE49-F238E27FC236}">
                <a16:creationId xmlns:a16="http://schemas.microsoft.com/office/drawing/2014/main" id="{342DD23A-7388-1C70-94FE-450D3FF50AA8}"/>
              </a:ext>
            </a:extLst>
          </p:cNvPr>
          <p:cNvCxnSpPr>
            <a:stCxn id="89" idx="3"/>
          </p:cNvCxnSpPr>
          <p:nvPr/>
        </p:nvCxnSpPr>
        <p:spPr>
          <a:xfrm flipV="1">
            <a:off x="7781536" y="4277103"/>
            <a:ext cx="509787" cy="1"/>
          </a:xfrm>
          <a:prstGeom prst="line">
            <a:avLst/>
          </a:prstGeom>
        </p:spPr>
        <p:style>
          <a:lnRef idx="3">
            <a:schemeClr val="accent4"/>
          </a:lnRef>
          <a:fillRef idx="0">
            <a:schemeClr val="accent4"/>
          </a:fillRef>
          <a:effectRef idx="2">
            <a:schemeClr val="accent4"/>
          </a:effectRef>
          <a:fontRef idx="minor">
            <a:schemeClr val="tx1"/>
          </a:fontRef>
        </p:style>
      </p:cxnSp>
      <p:sp>
        <p:nvSpPr>
          <p:cNvPr id="95" name="Rectangle 94">
            <a:extLst>
              <a:ext uri="{FF2B5EF4-FFF2-40B4-BE49-F238E27FC236}">
                <a16:creationId xmlns:a16="http://schemas.microsoft.com/office/drawing/2014/main" id="{22715DBF-B107-FCA0-E696-B4FFB133A2EE}"/>
              </a:ext>
            </a:extLst>
          </p:cNvPr>
          <p:cNvSpPr/>
          <p:nvPr/>
        </p:nvSpPr>
        <p:spPr>
          <a:xfrm>
            <a:off x="7242052" y="4677151"/>
            <a:ext cx="1828794" cy="53492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Store in s[count] call reduce seat(dept)]</a:t>
            </a:r>
            <a:endParaRPr lang="en-IN" sz="1400" dirty="0"/>
          </a:p>
        </p:txBody>
      </p:sp>
      <p:cxnSp>
        <p:nvCxnSpPr>
          <p:cNvPr id="97" name="Straight Arrow Connector 96">
            <a:extLst>
              <a:ext uri="{FF2B5EF4-FFF2-40B4-BE49-F238E27FC236}">
                <a16:creationId xmlns:a16="http://schemas.microsoft.com/office/drawing/2014/main" id="{8D69814C-5DBA-3239-10B5-A2628985DA00}"/>
              </a:ext>
            </a:extLst>
          </p:cNvPr>
          <p:cNvCxnSpPr/>
          <p:nvPr/>
        </p:nvCxnSpPr>
        <p:spPr>
          <a:xfrm>
            <a:off x="8285225" y="5212078"/>
            <a:ext cx="0" cy="3931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98" name="Flowchart: Data 97">
            <a:extLst>
              <a:ext uri="{FF2B5EF4-FFF2-40B4-BE49-F238E27FC236}">
                <a16:creationId xmlns:a16="http://schemas.microsoft.com/office/drawing/2014/main" id="{CDE5C3C5-7F15-9166-C9B3-FEB1CD0214D1}"/>
              </a:ext>
            </a:extLst>
          </p:cNvPr>
          <p:cNvSpPr/>
          <p:nvPr/>
        </p:nvSpPr>
        <p:spPr>
          <a:xfrm>
            <a:off x="7086603" y="5586983"/>
            <a:ext cx="1984239" cy="393193"/>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Display “successful”</a:t>
            </a:r>
            <a:endParaRPr lang="en-IN" sz="1400" dirty="0"/>
          </a:p>
        </p:txBody>
      </p:sp>
      <p:sp>
        <p:nvSpPr>
          <p:cNvPr id="99" name="Flowchart: Data 98">
            <a:extLst>
              <a:ext uri="{FF2B5EF4-FFF2-40B4-BE49-F238E27FC236}">
                <a16:creationId xmlns:a16="http://schemas.microsoft.com/office/drawing/2014/main" id="{ACB82B97-BCAE-0F2E-38A6-F3120E89AAFC}"/>
              </a:ext>
            </a:extLst>
          </p:cNvPr>
          <p:cNvSpPr/>
          <p:nvPr/>
        </p:nvSpPr>
        <p:spPr>
          <a:xfrm>
            <a:off x="2172849" y="2336291"/>
            <a:ext cx="2084829" cy="420623"/>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Print “cannot add seats”</a:t>
            </a:r>
            <a:endParaRPr lang="en-IN" sz="1400" dirty="0"/>
          </a:p>
        </p:txBody>
      </p:sp>
      <p:cxnSp>
        <p:nvCxnSpPr>
          <p:cNvPr id="101" name="Straight Connector 100">
            <a:extLst>
              <a:ext uri="{FF2B5EF4-FFF2-40B4-BE49-F238E27FC236}">
                <a16:creationId xmlns:a16="http://schemas.microsoft.com/office/drawing/2014/main" id="{2C9135C1-A93B-75B3-D3A8-15CC5904C744}"/>
              </a:ext>
            </a:extLst>
          </p:cNvPr>
          <p:cNvCxnSpPr/>
          <p:nvPr/>
        </p:nvCxnSpPr>
        <p:spPr>
          <a:xfrm>
            <a:off x="3255262" y="2743199"/>
            <a:ext cx="0" cy="3511297"/>
          </a:xfrm>
          <a:prstGeom prst="line">
            <a:avLst/>
          </a:prstGeom>
        </p:spPr>
        <p:style>
          <a:lnRef idx="3">
            <a:schemeClr val="accent4"/>
          </a:lnRef>
          <a:fillRef idx="0">
            <a:schemeClr val="accent4"/>
          </a:fillRef>
          <a:effectRef idx="2">
            <a:schemeClr val="accent4"/>
          </a:effectRef>
          <a:fontRef idx="minor">
            <a:schemeClr val="tx1"/>
          </a:fontRef>
        </p:style>
      </p:cxnSp>
      <p:cxnSp>
        <p:nvCxnSpPr>
          <p:cNvPr id="103" name="Straight Connector 102">
            <a:extLst>
              <a:ext uri="{FF2B5EF4-FFF2-40B4-BE49-F238E27FC236}">
                <a16:creationId xmlns:a16="http://schemas.microsoft.com/office/drawing/2014/main" id="{7074DD52-A703-C76D-6D4A-685C1DA369B0}"/>
              </a:ext>
            </a:extLst>
          </p:cNvPr>
          <p:cNvCxnSpPr>
            <a:cxnSpLocks/>
          </p:cNvCxnSpPr>
          <p:nvPr/>
        </p:nvCxnSpPr>
        <p:spPr>
          <a:xfrm>
            <a:off x="8285225" y="5980176"/>
            <a:ext cx="0" cy="274320"/>
          </a:xfrm>
          <a:prstGeom prst="line">
            <a:avLst/>
          </a:prstGeom>
        </p:spPr>
        <p:style>
          <a:lnRef idx="3">
            <a:schemeClr val="accent4"/>
          </a:lnRef>
          <a:fillRef idx="0">
            <a:schemeClr val="accent4"/>
          </a:fillRef>
          <a:effectRef idx="2">
            <a:schemeClr val="accent4"/>
          </a:effectRef>
          <a:fontRef idx="minor">
            <a:schemeClr val="tx1"/>
          </a:fontRef>
        </p:style>
      </p:cxnSp>
      <p:cxnSp>
        <p:nvCxnSpPr>
          <p:cNvPr id="105" name="Straight Connector 104">
            <a:extLst>
              <a:ext uri="{FF2B5EF4-FFF2-40B4-BE49-F238E27FC236}">
                <a16:creationId xmlns:a16="http://schemas.microsoft.com/office/drawing/2014/main" id="{3193154C-6318-DE28-10E7-54C2FB22C2F4}"/>
              </a:ext>
            </a:extLst>
          </p:cNvPr>
          <p:cNvCxnSpPr/>
          <p:nvPr/>
        </p:nvCxnSpPr>
        <p:spPr>
          <a:xfrm>
            <a:off x="3264406" y="6245352"/>
            <a:ext cx="5020819" cy="0"/>
          </a:xfrm>
          <a:prstGeom prst="line">
            <a:avLst/>
          </a:prstGeom>
        </p:spPr>
        <p:style>
          <a:lnRef idx="3">
            <a:schemeClr val="accent4"/>
          </a:lnRef>
          <a:fillRef idx="0">
            <a:schemeClr val="accent4"/>
          </a:fillRef>
          <a:effectRef idx="2">
            <a:schemeClr val="accent4"/>
          </a:effectRef>
          <a:fontRef idx="minor">
            <a:schemeClr val="tx1"/>
          </a:fontRef>
        </p:style>
      </p:cxnSp>
      <p:sp>
        <p:nvSpPr>
          <p:cNvPr id="107" name="Flowchart: Data 106">
            <a:extLst>
              <a:ext uri="{FF2B5EF4-FFF2-40B4-BE49-F238E27FC236}">
                <a16:creationId xmlns:a16="http://schemas.microsoft.com/office/drawing/2014/main" id="{67FD0017-59B4-3178-913C-AB8137B4FB7B}"/>
              </a:ext>
            </a:extLst>
          </p:cNvPr>
          <p:cNvSpPr/>
          <p:nvPr/>
        </p:nvSpPr>
        <p:spPr>
          <a:xfrm>
            <a:off x="4187955" y="4658869"/>
            <a:ext cx="2011674" cy="594358"/>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Print “seats not available”</a:t>
            </a:r>
            <a:endParaRPr lang="en-IN" sz="1400" dirty="0"/>
          </a:p>
        </p:txBody>
      </p:sp>
      <p:cxnSp>
        <p:nvCxnSpPr>
          <p:cNvPr id="109" name="Straight Connector 108">
            <a:extLst>
              <a:ext uri="{FF2B5EF4-FFF2-40B4-BE49-F238E27FC236}">
                <a16:creationId xmlns:a16="http://schemas.microsoft.com/office/drawing/2014/main" id="{B1744AB0-EEE1-AB0B-066D-3D2BA439B569}"/>
              </a:ext>
            </a:extLst>
          </p:cNvPr>
          <p:cNvCxnSpPr>
            <a:stCxn id="107" idx="4"/>
          </p:cNvCxnSpPr>
          <p:nvPr/>
        </p:nvCxnSpPr>
        <p:spPr>
          <a:xfrm>
            <a:off x="5193792" y="5253227"/>
            <a:ext cx="9143" cy="992125"/>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111" name="Straight Arrow Connector 110">
            <a:extLst>
              <a:ext uri="{FF2B5EF4-FFF2-40B4-BE49-F238E27FC236}">
                <a16:creationId xmlns:a16="http://schemas.microsoft.com/office/drawing/2014/main" id="{6E396F04-8933-7CDD-2B28-6AB3B77DF66A}"/>
              </a:ext>
            </a:extLst>
          </p:cNvPr>
          <p:cNvCxnSpPr/>
          <p:nvPr/>
        </p:nvCxnSpPr>
        <p:spPr>
          <a:xfrm flipH="1">
            <a:off x="5193792" y="6254496"/>
            <a:ext cx="9143" cy="2103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12" name="Oval 111">
            <a:extLst>
              <a:ext uri="{FF2B5EF4-FFF2-40B4-BE49-F238E27FC236}">
                <a16:creationId xmlns:a16="http://schemas.microsoft.com/office/drawing/2014/main" id="{112AD04A-2F83-F0F9-00C1-996194B07D01}"/>
              </a:ext>
            </a:extLst>
          </p:cNvPr>
          <p:cNvSpPr/>
          <p:nvPr/>
        </p:nvSpPr>
        <p:spPr>
          <a:xfrm>
            <a:off x="4539999" y="6444234"/>
            <a:ext cx="1298446" cy="384049"/>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STOP</a:t>
            </a:r>
            <a:endParaRPr lang="en-IN" dirty="0"/>
          </a:p>
        </p:txBody>
      </p:sp>
    </p:spTree>
    <p:extLst>
      <p:ext uri="{BB962C8B-B14F-4D97-AF65-F5344CB8AC3E}">
        <p14:creationId xmlns:p14="http://schemas.microsoft.com/office/powerpoint/2010/main" val="796702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5B2BB424-3A5B-4924-C04D-8341035D3F28}"/>
              </a:ext>
            </a:extLst>
          </p:cNvPr>
          <p:cNvCxnSpPr/>
          <p:nvPr/>
        </p:nvCxnSpPr>
        <p:spPr>
          <a:xfrm>
            <a:off x="8385048" y="0"/>
            <a:ext cx="0" cy="54864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FF89678-8FCC-3EF5-1FCE-400DD9CA2B54}"/>
              </a:ext>
            </a:extLst>
          </p:cNvPr>
          <p:cNvCxnSpPr>
            <a:cxnSpLocks/>
          </p:cNvCxnSpPr>
          <p:nvPr/>
        </p:nvCxnSpPr>
        <p:spPr>
          <a:xfrm>
            <a:off x="9710928" y="16002"/>
            <a:ext cx="0" cy="6825996"/>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4702856-B78C-B06C-F61A-4A1F67463A28}"/>
              </a:ext>
            </a:extLst>
          </p:cNvPr>
          <p:cNvCxnSpPr>
            <a:cxnSpLocks/>
          </p:cNvCxnSpPr>
          <p:nvPr/>
        </p:nvCxnSpPr>
        <p:spPr>
          <a:xfrm>
            <a:off x="10155936" y="16002"/>
            <a:ext cx="0" cy="6841998"/>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CAB991B-AAB8-6D52-7F3F-9851AF361090}"/>
              </a:ext>
            </a:extLst>
          </p:cNvPr>
          <p:cNvCxnSpPr>
            <a:cxnSpLocks/>
          </p:cNvCxnSpPr>
          <p:nvPr/>
        </p:nvCxnSpPr>
        <p:spPr>
          <a:xfrm>
            <a:off x="10591800" y="16002"/>
            <a:ext cx="0" cy="6841998"/>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30B67D4-C10D-CE61-3116-7B32D8622555}"/>
              </a:ext>
            </a:extLst>
          </p:cNvPr>
          <p:cNvCxnSpPr/>
          <p:nvPr/>
        </p:nvCxnSpPr>
        <p:spPr>
          <a:xfrm flipH="1">
            <a:off x="5522976" y="548640"/>
            <a:ext cx="2862072" cy="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D441547-87B2-9F3A-5DE6-099C2568F51F}"/>
              </a:ext>
            </a:extLst>
          </p:cNvPr>
          <p:cNvCxnSpPr>
            <a:cxnSpLocks/>
          </p:cNvCxnSpPr>
          <p:nvPr/>
        </p:nvCxnSpPr>
        <p:spPr>
          <a:xfrm>
            <a:off x="5532119" y="548640"/>
            <a:ext cx="0" cy="4389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7" name="Flowchart: Decision 16">
            <a:extLst>
              <a:ext uri="{FF2B5EF4-FFF2-40B4-BE49-F238E27FC236}">
                <a16:creationId xmlns:a16="http://schemas.microsoft.com/office/drawing/2014/main" id="{BC49EA38-8CED-C387-9F61-8521667BE53F}"/>
              </a:ext>
            </a:extLst>
          </p:cNvPr>
          <p:cNvSpPr/>
          <p:nvPr/>
        </p:nvSpPr>
        <p:spPr>
          <a:xfrm>
            <a:off x="4486658" y="987553"/>
            <a:ext cx="2060444" cy="667512"/>
          </a:xfrm>
          <a:prstGeom prst="flowChartDecisio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Count==0</a:t>
            </a:r>
            <a:endParaRPr lang="en-IN" sz="1400" dirty="0"/>
          </a:p>
        </p:txBody>
      </p:sp>
      <p:cxnSp>
        <p:nvCxnSpPr>
          <p:cNvPr id="19" name="Straight Connector 18">
            <a:extLst>
              <a:ext uri="{FF2B5EF4-FFF2-40B4-BE49-F238E27FC236}">
                <a16:creationId xmlns:a16="http://schemas.microsoft.com/office/drawing/2014/main" id="{866E808F-A826-462F-8033-44B317E72BA9}"/>
              </a:ext>
            </a:extLst>
          </p:cNvPr>
          <p:cNvCxnSpPr>
            <a:stCxn id="17" idx="3"/>
          </p:cNvCxnSpPr>
          <p:nvPr/>
        </p:nvCxnSpPr>
        <p:spPr>
          <a:xfrm flipV="1">
            <a:off x="6547102" y="1316736"/>
            <a:ext cx="795530" cy="4573"/>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7601AD3-9AB6-86E4-6D03-034AEB9D3019}"/>
              </a:ext>
            </a:extLst>
          </p:cNvPr>
          <p:cNvCxnSpPr/>
          <p:nvPr/>
        </p:nvCxnSpPr>
        <p:spPr>
          <a:xfrm flipV="1">
            <a:off x="3726174" y="1316736"/>
            <a:ext cx="795530" cy="4573"/>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22C6024-AA18-606A-5775-EEE7189C995D}"/>
              </a:ext>
            </a:extLst>
          </p:cNvPr>
          <p:cNvCxnSpPr>
            <a:cxnSpLocks/>
          </p:cNvCxnSpPr>
          <p:nvPr/>
        </p:nvCxnSpPr>
        <p:spPr>
          <a:xfrm>
            <a:off x="3732269" y="1316736"/>
            <a:ext cx="0" cy="4389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4" name="Straight Arrow Connector 23">
            <a:extLst>
              <a:ext uri="{FF2B5EF4-FFF2-40B4-BE49-F238E27FC236}">
                <a16:creationId xmlns:a16="http://schemas.microsoft.com/office/drawing/2014/main" id="{2126323B-A6BC-CB35-8CAE-8D6285E9FD6A}"/>
              </a:ext>
            </a:extLst>
          </p:cNvPr>
          <p:cNvCxnSpPr>
            <a:cxnSpLocks/>
          </p:cNvCxnSpPr>
          <p:nvPr/>
        </p:nvCxnSpPr>
        <p:spPr>
          <a:xfrm>
            <a:off x="7342632" y="1316736"/>
            <a:ext cx="0" cy="4389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25" name="Flowchart: Data 24">
            <a:extLst>
              <a:ext uri="{FF2B5EF4-FFF2-40B4-BE49-F238E27FC236}">
                <a16:creationId xmlns:a16="http://schemas.microsoft.com/office/drawing/2014/main" id="{6FB4480B-4163-9498-9F21-EC5A4DBB2478}"/>
              </a:ext>
            </a:extLst>
          </p:cNvPr>
          <p:cNvSpPr/>
          <p:nvPr/>
        </p:nvSpPr>
        <p:spPr>
          <a:xfrm>
            <a:off x="2449080" y="1755648"/>
            <a:ext cx="2400285" cy="982979"/>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 </a:t>
            </a:r>
            <a:r>
              <a:rPr lang="en-US" sz="1400" dirty="0"/>
              <a:t>print all the inputs of student details from count=0  </a:t>
            </a:r>
            <a:endParaRPr lang="en-IN" sz="1400" dirty="0"/>
          </a:p>
        </p:txBody>
      </p:sp>
      <p:sp>
        <p:nvSpPr>
          <p:cNvPr id="26" name="Flowchart: Data 25">
            <a:extLst>
              <a:ext uri="{FF2B5EF4-FFF2-40B4-BE49-F238E27FC236}">
                <a16:creationId xmlns:a16="http://schemas.microsoft.com/office/drawing/2014/main" id="{92833FFB-3EB3-3608-2DED-A254DA795624}"/>
              </a:ext>
            </a:extLst>
          </p:cNvPr>
          <p:cNvSpPr/>
          <p:nvPr/>
        </p:nvSpPr>
        <p:spPr>
          <a:xfrm>
            <a:off x="6175244" y="1760220"/>
            <a:ext cx="2170165" cy="658368"/>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Display “No students admitted</a:t>
            </a:r>
            <a:endParaRPr lang="en-IN" sz="1400" dirty="0"/>
          </a:p>
        </p:txBody>
      </p:sp>
      <p:cxnSp>
        <p:nvCxnSpPr>
          <p:cNvPr id="28" name="Straight Connector 27">
            <a:extLst>
              <a:ext uri="{FF2B5EF4-FFF2-40B4-BE49-F238E27FC236}">
                <a16:creationId xmlns:a16="http://schemas.microsoft.com/office/drawing/2014/main" id="{384BA9F0-D20C-4818-1ECB-84A27FDB31F5}"/>
              </a:ext>
            </a:extLst>
          </p:cNvPr>
          <p:cNvCxnSpPr>
            <a:cxnSpLocks/>
          </p:cNvCxnSpPr>
          <p:nvPr/>
        </p:nvCxnSpPr>
        <p:spPr>
          <a:xfrm flipH="1">
            <a:off x="3694163" y="2738627"/>
            <a:ext cx="1" cy="598933"/>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A09C096-3CC4-AD43-FD43-FA54A07EE2A7}"/>
              </a:ext>
            </a:extLst>
          </p:cNvPr>
          <p:cNvCxnSpPr>
            <a:cxnSpLocks/>
          </p:cNvCxnSpPr>
          <p:nvPr/>
        </p:nvCxnSpPr>
        <p:spPr>
          <a:xfrm>
            <a:off x="7342633" y="2418588"/>
            <a:ext cx="0" cy="918972"/>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55BCF02-C72D-E556-FA1C-8ABC9F7B4217}"/>
              </a:ext>
            </a:extLst>
          </p:cNvPr>
          <p:cNvCxnSpPr>
            <a:cxnSpLocks/>
          </p:cNvCxnSpPr>
          <p:nvPr/>
        </p:nvCxnSpPr>
        <p:spPr>
          <a:xfrm>
            <a:off x="3694163" y="3337560"/>
            <a:ext cx="3648469" cy="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4FCD97A-F6DA-AF08-C9DD-345EE32F447D}"/>
              </a:ext>
            </a:extLst>
          </p:cNvPr>
          <p:cNvCxnSpPr/>
          <p:nvPr/>
        </p:nvCxnSpPr>
        <p:spPr>
          <a:xfrm>
            <a:off x="5532119" y="3337560"/>
            <a:ext cx="0" cy="539496"/>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C9D2F608-0A89-1EE4-D189-165DBC18BECB}"/>
              </a:ext>
            </a:extLst>
          </p:cNvPr>
          <p:cNvSpPr/>
          <p:nvPr/>
        </p:nvSpPr>
        <p:spPr>
          <a:xfrm>
            <a:off x="4718304" y="3918206"/>
            <a:ext cx="1636771" cy="502916"/>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 STOP</a:t>
            </a:r>
            <a:endParaRPr lang="en-IN" dirty="0"/>
          </a:p>
        </p:txBody>
      </p:sp>
    </p:spTree>
    <p:extLst>
      <p:ext uri="{BB962C8B-B14F-4D97-AF65-F5344CB8AC3E}">
        <p14:creationId xmlns:p14="http://schemas.microsoft.com/office/powerpoint/2010/main" val="2931703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7C56B2C-A8C8-3EA9-1DFA-5CB74211D074}"/>
              </a:ext>
            </a:extLst>
          </p:cNvPr>
          <p:cNvCxnSpPr/>
          <p:nvPr/>
        </p:nvCxnSpPr>
        <p:spPr>
          <a:xfrm>
            <a:off x="9793224" y="0"/>
            <a:ext cx="0" cy="758952"/>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0C291DF-D3ED-DCD2-BFB9-775134309276}"/>
              </a:ext>
            </a:extLst>
          </p:cNvPr>
          <p:cNvCxnSpPr/>
          <p:nvPr/>
        </p:nvCxnSpPr>
        <p:spPr>
          <a:xfrm>
            <a:off x="10250424" y="0"/>
            <a:ext cx="0" cy="685800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C598342-9D43-356D-E919-707CB982C3B7}"/>
              </a:ext>
            </a:extLst>
          </p:cNvPr>
          <p:cNvCxnSpPr/>
          <p:nvPr/>
        </p:nvCxnSpPr>
        <p:spPr>
          <a:xfrm>
            <a:off x="10622280" y="0"/>
            <a:ext cx="0" cy="685800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069505F-857F-B80B-51E8-893B59DB3BAE}"/>
              </a:ext>
            </a:extLst>
          </p:cNvPr>
          <p:cNvCxnSpPr>
            <a:cxnSpLocks/>
          </p:cNvCxnSpPr>
          <p:nvPr/>
        </p:nvCxnSpPr>
        <p:spPr>
          <a:xfrm flipH="1">
            <a:off x="5340096" y="758952"/>
            <a:ext cx="4453128" cy="36576"/>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C4F43CB-D44F-66C3-BB7F-875364D3C64B}"/>
              </a:ext>
            </a:extLst>
          </p:cNvPr>
          <p:cNvCxnSpPr>
            <a:cxnSpLocks/>
          </p:cNvCxnSpPr>
          <p:nvPr/>
        </p:nvCxnSpPr>
        <p:spPr>
          <a:xfrm>
            <a:off x="5340096" y="795528"/>
            <a:ext cx="0" cy="457200"/>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Flowchart: Data 14">
            <a:extLst>
              <a:ext uri="{FF2B5EF4-FFF2-40B4-BE49-F238E27FC236}">
                <a16:creationId xmlns:a16="http://schemas.microsoft.com/office/drawing/2014/main" id="{2DA7277F-4478-E4E4-49B6-0AF85264E7E6}"/>
              </a:ext>
            </a:extLst>
          </p:cNvPr>
          <p:cNvSpPr/>
          <p:nvPr/>
        </p:nvSpPr>
        <p:spPr>
          <a:xfrm>
            <a:off x="3803904" y="1252728"/>
            <a:ext cx="3072384" cy="621792"/>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Read application no</a:t>
            </a:r>
            <a:endParaRPr lang="en-IN" sz="1400" dirty="0"/>
          </a:p>
        </p:txBody>
      </p:sp>
      <p:cxnSp>
        <p:nvCxnSpPr>
          <p:cNvPr id="16" name="Straight Arrow Connector 15">
            <a:extLst>
              <a:ext uri="{FF2B5EF4-FFF2-40B4-BE49-F238E27FC236}">
                <a16:creationId xmlns:a16="http://schemas.microsoft.com/office/drawing/2014/main" id="{F5517B54-F1E7-90F8-0D4E-C122C8470B07}"/>
              </a:ext>
            </a:extLst>
          </p:cNvPr>
          <p:cNvCxnSpPr>
            <a:cxnSpLocks/>
          </p:cNvCxnSpPr>
          <p:nvPr/>
        </p:nvCxnSpPr>
        <p:spPr>
          <a:xfrm>
            <a:off x="3270504" y="2889504"/>
            <a:ext cx="0" cy="457200"/>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E8DD36B-63FB-C0B7-C004-0C89552B0FD1}"/>
              </a:ext>
            </a:extLst>
          </p:cNvPr>
          <p:cNvCxnSpPr>
            <a:cxnSpLocks/>
          </p:cNvCxnSpPr>
          <p:nvPr/>
        </p:nvCxnSpPr>
        <p:spPr>
          <a:xfrm>
            <a:off x="7447783" y="4142232"/>
            <a:ext cx="0" cy="457200"/>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56F1E9F-7628-E05B-1558-473278F34102}"/>
              </a:ext>
            </a:extLst>
          </p:cNvPr>
          <p:cNvCxnSpPr>
            <a:cxnSpLocks/>
          </p:cNvCxnSpPr>
          <p:nvPr/>
        </p:nvCxnSpPr>
        <p:spPr>
          <a:xfrm>
            <a:off x="5340096" y="1874520"/>
            <a:ext cx="0" cy="457200"/>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D9E8D4C-9D1C-F8EF-5699-36817E36E3E4}"/>
              </a:ext>
            </a:extLst>
          </p:cNvPr>
          <p:cNvCxnSpPr>
            <a:cxnSpLocks/>
          </p:cNvCxnSpPr>
          <p:nvPr/>
        </p:nvCxnSpPr>
        <p:spPr>
          <a:xfrm>
            <a:off x="7463023" y="2889504"/>
            <a:ext cx="0" cy="457200"/>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Flowchart: Decision 19">
            <a:extLst>
              <a:ext uri="{FF2B5EF4-FFF2-40B4-BE49-F238E27FC236}">
                <a16:creationId xmlns:a16="http://schemas.microsoft.com/office/drawing/2014/main" id="{911DAE04-1E16-7CAC-C044-E9D68A18E485}"/>
              </a:ext>
            </a:extLst>
          </p:cNvPr>
          <p:cNvSpPr/>
          <p:nvPr/>
        </p:nvSpPr>
        <p:spPr>
          <a:xfrm>
            <a:off x="4057650" y="2331720"/>
            <a:ext cx="2571745" cy="1097280"/>
          </a:xfrm>
          <a:prstGeom prst="flowChartDecisio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If s[</a:t>
            </a:r>
            <a:r>
              <a:rPr lang="en-US" sz="1400" dirty="0" err="1"/>
              <a:t>i</a:t>
            </a:r>
            <a:r>
              <a:rPr lang="en-US" sz="1400" dirty="0"/>
              <a:t>].app-no matches</a:t>
            </a:r>
            <a:endParaRPr lang="en-IN" sz="1400" dirty="0"/>
          </a:p>
        </p:txBody>
      </p:sp>
      <p:cxnSp>
        <p:nvCxnSpPr>
          <p:cNvPr id="22" name="Straight Connector 21">
            <a:extLst>
              <a:ext uri="{FF2B5EF4-FFF2-40B4-BE49-F238E27FC236}">
                <a16:creationId xmlns:a16="http://schemas.microsoft.com/office/drawing/2014/main" id="{56440918-03EC-9816-CBE6-EE54439A65DF}"/>
              </a:ext>
            </a:extLst>
          </p:cNvPr>
          <p:cNvCxnSpPr>
            <a:stCxn id="20" idx="1"/>
          </p:cNvCxnSpPr>
          <p:nvPr/>
        </p:nvCxnSpPr>
        <p:spPr>
          <a:xfrm flipH="1" flipV="1">
            <a:off x="3255264" y="2871216"/>
            <a:ext cx="802386" cy="9144"/>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1E32B6F-DE21-3C55-34D6-4EDCF7A69663}"/>
              </a:ext>
            </a:extLst>
          </p:cNvPr>
          <p:cNvCxnSpPr>
            <a:cxnSpLocks/>
          </p:cNvCxnSpPr>
          <p:nvPr/>
        </p:nvCxnSpPr>
        <p:spPr>
          <a:xfrm flipH="1">
            <a:off x="3270504" y="4142232"/>
            <a:ext cx="1" cy="1536192"/>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1B40EE2-9DD5-1110-0ADC-1D5E160BCC1A}"/>
              </a:ext>
            </a:extLst>
          </p:cNvPr>
          <p:cNvCxnSpPr/>
          <p:nvPr/>
        </p:nvCxnSpPr>
        <p:spPr>
          <a:xfrm flipH="1" flipV="1">
            <a:off x="6636253" y="2880360"/>
            <a:ext cx="802386" cy="9144"/>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sp>
        <p:nvSpPr>
          <p:cNvPr id="25" name="Flowchart: Data 24">
            <a:extLst>
              <a:ext uri="{FF2B5EF4-FFF2-40B4-BE49-F238E27FC236}">
                <a16:creationId xmlns:a16="http://schemas.microsoft.com/office/drawing/2014/main" id="{40DF2721-8EBA-69C7-20E5-992260C56CAC}"/>
              </a:ext>
            </a:extLst>
          </p:cNvPr>
          <p:cNvSpPr/>
          <p:nvPr/>
        </p:nvSpPr>
        <p:spPr>
          <a:xfrm>
            <a:off x="2103874" y="3346704"/>
            <a:ext cx="2205975" cy="795528"/>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Display ”No matches found” </a:t>
            </a:r>
            <a:endParaRPr lang="en-IN" sz="1400" dirty="0"/>
          </a:p>
        </p:txBody>
      </p:sp>
      <p:sp>
        <p:nvSpPr>
          <p:cNvPr id="26" name="Flowchart: Data 25">
            <a:extLst>
              <a:ext uri="{FF2B5EF4-FFF2-40B4-BE49-F238E27FC236}">
                <a16:creationId xmlns:a16="http://schemas.microsoft.com/office/drawing/2014/main" id="{00A602E8-1A67-18BD-79FD-E17BE1063E6E}"/>
              </a:ext>
            </a:extLst>
          </p:cNvPr>
          <p:cNvSpPr/>
          <p:nvPr/>
        </p:nvSpPr>
        <p:spPr>
          <a:xfrm>
            <a:off x="6377198" y="3346704"/>
            <a:ext cx="2205974" cy="786384"/>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Display student details</a:t>
            </a:r>
            <a:endParaRPr lang="en-IN" sz="1400" dirty="0"/>
          </a:p>
        </p:txBody>
      </p:sp>
      <p:sp>
        <p:nvSpPr>
          <p:cNvPr id="27" name="Rectangle 26">
            <a:extLst>
              <a:ext uri="{FF2B5EF4-FFF2-40B4-BE49-F238E27FC236}">
                <a16:creationId xmlns:a16="http://schemas.microsoft.com/office/drawing/2014/main" id="{CE8FC56D-422C-4F36-3B64-AFF7BD793CA2}"/>
              </a:ext>
            </a:extLst>
          </p:cNvPr>
          <p:cNvSpPr/>
          <p:nvPr/>
        </p:nvSpPr>
        <p:spPr>
          <a:xfrm>
            <a:off x="6656827" y="4608576"/>
            <a:ext cx="1563623" cy="42062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Found=1</a:t>
            </a:r>
            <a:endParaRPr lang="en-IN" sz="1400" dirty="0"/>
          </a:p>
        </p:txBody>
      </p:sp>
      <p:cxnSp>
        <p:nvCxnSpPr>
          <p:cNvPr id="31" name="Straight Connector 30">
            <a:extLst>
              <a:ext uri="{FF2B5EF4-FFF2-40B4-BE49-F238E27FC236}">
                <a16:creationId xmlns:a16="http://schemas.microsoft.com/office/drawing/2014/main" id="{09789BC4-45C4-0E33-3F69-93A3CAEADCC6}"/>
              </a:ext>
            </a:extLst>
          </p:cNvPr>
          <p:cNvCxnSpPr>
            <a:cxnSpLocks/>
          </p:cNvCxnSpPr>
          <p:nvPr/>
        </p:nvCxnSpPr>
        <p:spPr>
          <a:xfrm flipH="1">
            <a:off x="7447782" y="5029200"/>
            <a:ext cx="1" cy="649224"/>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173028D-27BA-1541-6A76-8B5ADCE0EB07}"/>
              </a:ext>
            </a:extLst>
          </p:cNvPr>
          <p:cNvCxnSpPr/>
          <p:nvPr/>
        </p:nvCxnSpPr>
        <p:spPr>
          <a:xfrm>
            <a:off x="3270504" y="5678424"/>
            <a:ext cx="4177279" cy="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C83CF0E-6FE9-A01F-677F-54D8F9325659}"/>
              </a:ext>
            </a:extLst>
          </p:cNvPr>
          <p:cNvCxnSpPr/>
          <p:nvPr/>
        </p:nvCxnSpPr>
        <p:spPr>
          <a:xfrm>
            <a:off x="5340096" y="5678424"/>
            <a:ext cx="0" cy="356616"/>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E8F698F0-0411-5330-C243-0277981D8D18}"/>
              </a:ext>
            </a:extLst>
          </p:cNvPr>
          <p:cNvSpPr/>
          <p:nvPr/>
        </p:nvSpPr>
        <p:spPr>
          <a:xfrm>
            <a:off x="4640961" y="6062472"/>
            <a:ext cx="1398269" cy="566925"/>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 STOP</a:t>
            </a:r>
            <a:endParaRPr lang="en-IN" dirty="0"/>
          </a:p>
        </p:txBody>
      </p:sp>
    </p:spTree>
    <p:extLst>
      <p:ext uri="{BB962C8B-B14F-4D97-AF65-F5344CB8AC3E}">
        <p14:creationId xmlns:p14="http://schemas.microsoft.com/office/powerpoint/2010/main" val="1812893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4E652F3-00B8-8608-B5A8-2F0149B700AE}"/>
              </a:ext>
            </a:extLst>
          </p:cNvPr>
          <p:cNvCxnSpPr>
            <a:cxnSpLocks/>
          </p:cNvCxnSpPr>
          <p:nvPr/>
        </p:nvCxnSpPr>
        <p:spPr>
          <a:xfrm>
            <a:off x="10131552" y="0"/>
            <a:ext cx="0" cy="694944"/>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0F067D1-17A2-429C-8BD1-5D9B97E9B533}"/>
              </a:ext>
            </a:extLst>
          </p:cNvPr>
          <p:cNvCxnSpPr/>
          <p:nvPr/>
        </p:nvCxnSpPr>
        <p:spPr>
          <a:xfrm flipH="1">
            <a:off x="5550408" y="694944"/>
            <a:ext cx="4572000" cy="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B1BE19F-7B7E-2008-6F27-EB71BAD983AD}"/>
              </a:ext>
            </a:extLst>
          </p:cNvPr>
          <p:cNvCxnSpPr>
            <a:cxnSpLocks/>
          </p:cNvCxnSpPr>
          <p:nvPr/>
        </p:nvCxnSpPr>
        <p:spPr>
          <a:xfrm>
            <a:off x="10680192" y="0"/>
            <a:ext cx="0" cy="342900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77272D3-EAD1-5B95-1F73-85127E6DCFB2}"/>
              </a:ext>
            </a:extLst>
          </p:cNvPr>
          <p:cNvCxnSpPr/>
          <p:nvPr/>
        </p:nvCxnSpPr>
        <p:spPr>
          <a:xfrm>
            <a:off x="5550408" y="694944"/>
            <a:ext cx="0" cy="530352"/>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Flowchart: Data 13">
            <a:extLst>
              <a:ext uri="{FF2B5EF4-FFF2-40B4-BE49-F238E27FC236}">
                <a16:creationId xmlns:a16="http://schemas.microsoft.com/office/drawing/2014/main" id="{F385BABA-8D35-BC98-CEF6-BC39AC4CF80E}"/>
              </a:ext>
            </a:extLst>
          </p:cNvPr>
          <p:cNvSpPr/>
          <p:nvPr/>
        </p:nvSpPr>
        <p:spPr>
          <a:xfrm>
            <a:off x="4261103" y="1225295"/>
            <a:ext cx="2734047" cy="859535"/>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t> Print CSE,ECE,EEE,MECH,CIVIL VALUES</a:t>
            </a:r>
            <a:endParaRPr lang="en-IN" sz="1400" dirty="0"/>
          </a:p>
        </p:txBody>
      </p:sp>
      <p:cxnSp>
        <p:nvCxnSpPr>
          <p:cNvPr id="18" name="Straight Arrow Connector 17">
            <a:extLst>
              <a:ext uri="{FF2B5EF4-FFF2-40B4-BE49-F238E27FC236}">
                <a16:creationId xmlns:a16="http://schemas.microsoft.com/office/drawing/2014/main" id="{15C0057B-5939-5523-25B3-B224C1220663}"/>
              </a:ext>
            </a:extLst>
          </p:cNvPr>
          <p:cNvCxnSpPr>
            <a:cxnSpLocks/>
          </p:cNvCxnSpPr>
          <p:nvPr/>
        </p:nvCxnSpPr>
        <p:spPr>
          <a:xfrm>
            <a:off x="5550408" y="2084830"/>
            <a:ext cx="0" cy="448058"/>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B00C2ABD-FE08-F1EF-DD5F-C30E2ACB7C88}"/>
              </a:ext>
            </a:extLst>
          </p:cNvPr>
          <p:cNvSpPr/>
          <p:nvPr/>
        </p:nvSpPr>
        <p:spPr>
          <a:xfrm>
            <a:off x="4709160" y="2532888"/>
            <a:ext cx="1645916" cy="55778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 STOP</a:t>
            </a:r>
            <a:endParaRPr lang="en-IN" dirty="0"/>
          </a:p>
        </p:txBody>
      </p:sp>
      <p:cxnSp>
        <p:nvCxnSpPr>
          <p:cNvPr id="26" name="Straight Connector 25">
            <a:extLst>
              <a:ext uri="{FF2B5EF4-FFF2-40B4-BE49-F238E27FC236}">
                <a16:creationId xmlns:a16="http://schemas.microsoft.com/office/drawing/2014/main" id="{AC5D3EF3-C68A-5C18-D41C-D417B4A64FA0}"/>
              </a:ext>
            </a:extLst>
          </p:cNvPr>
          <p:cNvCxnSpPr/>
          <p:nvPr/>
        </p:nvCxnSpPr>
        <p:spPr>
          <a:xfrm flipH="1">
            <a:off x="5550408" y="3429000"/>
            <a:ext cx="5129784" cy="0"/>
          </a:xfrm>
          <a:prstGeom prst="line">
            <a:avLst/>
          </a:prstGeom>
          <a:ln>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52D15EA-1ECB-33CC-4D78-0AA988711964}"/>
              </a:ext>
            </a:extLst>
          </p:cNvPr>
          <p:cNvCxnSpPr/>
          <p:nvPr/>
        </p:nvCxnSpPr>
        <p:spPr>
          <a:xfrm>
            <a:off x="5550408" y="3429000"/>
            <a:ext cx="0" cy="502920"/>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Flowchart: Data 29">
            <a:extLst>
              <a:ext uri="{FF2B5EF4-FFF2-40B4-BE49-F238E27FC236}">
                <a16:creationId xmlns:a16="http://schemas.microsoft.com/office/drawing/2014/main" id="{7FCC8A40-7928-DB86-6E21-DECB6AC93868}"/>
              </a:ext>
            </a:extLst>
          </p:cNvPr>
          <p:cNvSpPr/>
          <p:nvPr/>
        </p:nvSpPr>
        <p:spPr>
          <a:xfrm>
            <a:off x="3963921" y="3959350"/>
            <a:ext cx="3172974" cy="694935"/>
          </a:xfrm>
          <a:prstGeom prst="flowChartInputOutpu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Print ”Exiting”</a:t>
            </a:r>
            <a:endParaRPr lang="en-IN" dirty="0"/>
          </a:p>
        </p:txBody>
      </p:sp>
      <p:cxnSp>
        <p:nvCxnSpPr>
          <p:cNvPr id="31" name="Straight Arrow Connector 30">
            <a:extLst>
              <a:ext uri="{FF2B5EF4-FFF2-40B4-BE49-F238E27FC236}">
                <a16:creationId xmlns:a16="http://schemas.microsoft.com/office/drawing/2014/main" id="{8FC9D385-2D79-4315-F91D-5F10AF5981C6}"/>
              </a:ext>
            </a:extLst>
          </p:cNvPr>
          <p:cNvCxnSpPr/>
          <p:nvPr/>
        </p:nvCxnSpPr>
        <p:spPr>
          <a:xfrm>
            <a:off x="5550408" y="4654285"/>
            <a:ext cx="0" cy="502920"/>
          </a:xfrm>
          <a:prstGeom prst="straightConnector1">
            <a:avLst/>
          </a:prstGeom>
          <a:ln>
            <a:solidFill>
              <a:schemeClr val="tx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392B52A6-2F52-FCA5-0FC5-795645173B4B}"/>
              </a:ext>
            </a:extLst>
          </p:cNvPr>
          <p:cNvSpPr/>
          <p:nvPr/>
        </p:nvSpPr>
        <p:spPr>
          <a:xfrm>
            <a:off x="4727450" y="5129785"/>
            <a:ext cx="1645916" cy="55778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 STOP</a:t>
            </a:r>
            <a:endParaRPr lang="en-IN" dirty="0"/>
          </a:p>
        </p:txBody>
      </p:sp>
    </p:spTree>
    <p:extLst>
      <p:ext uri="{BB962C8B-B14F-4D97-AF65-F5344CB8AC3E}">
        <p14:creationId xmlns:p14="http://schemas.microsoft.com/office/powerpoint/2010/main" val="884949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05280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2D251F"/>
      </a:dk2>
      <a:lt2>
        <a:srgbClr val="FAE9C5"/>
      </a:lt2>
      <a:accent1>
        <a:srgbClr val="ED3846"/>
      </a:accent1>
      <a:accent2>
        <a:srgbClr val="F87184"/>
      </a:accent2>
      <a:accent3>
        <a:srgbClr val="EC9DA9"/>
      </a:accent3>
      <a:accent4>
        <a:srgbClr val="ECC190"/>
      </a:accent4>
      <a:accent5>
        <a:srgbClr val="FFB268"/>
      </a:accent5>
      <a:accent6>
        <a:srgbClr val="F98657"/>
      </a:accent6>
      <a:hlink>
        <a:srgbClr val="B97669"/>
      </a:hlink>
      <a:folHlink>
        <a:srgbClr val="9E94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BCCF8060-3FCB-4641-B728-8A589529B1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128</TotalTime>
  <Words>725</Words>
  <Application>Microsoft Office PowerPoint</Application>
  <PresentationFormat>Widescreen</PresentationFormat>
  <Paragraphs>103</Paragraphs>
  <Slides>12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Algerian</vt:lpstr>
      <vt:lpstr>Aptos</vt:lpstr>
      <vt:lpstr>Arial</vt:lpstr>
      <vt:lpstr>Arial Black</vt:lpstr>
      <vt:lpstr>Bahnschrift SemiLight</vt:lpstr>
      <vt:lpstr>Century</vt:lpstr>
      <vt:lpstr>MS Shell Dlg 2</vt:lpstr>
      <vt:lpstr>Wingdings</vt:lpstr>
      <vt:lpstr>Wingdings 3</vt:lpstr>
      <vt:lpstr>Madison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Pranavi 25MGM154</dc:creator>
  <cp:lastModifiedBy>Pranavi 25MGM154</cp:lastModifiedBy>
  <cp:revision>4</cp:revision>
  <dcterms:created xsi:type="dcterms:W3CDTF">2025-12-04T14:30:21Z</dcterms:created>
  <dcterms:modified xsi:type="dcterms:W3CDTF">2025-12-04T16:43:19Z</dcterms:modified>
</cp:coreProperties>
</file>