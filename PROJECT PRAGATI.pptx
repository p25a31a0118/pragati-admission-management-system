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40"/>
  </p:notesMasterIdLst>
  <p:sldIdLst>
    <p:sldId id="267" r:id="rId2"/>
    <p:sldId id="263" r:id="rId3"/>
    <p:sldId id="262" r:id="rId4"/>
    <p:sldId id="264" r:id="rId5"/>
    <p:sldId id="265" r:id="rId6"/>
    <p:sldId id="266" r:id="rId7"/>
    <p:sldId id="257" r:id="rId8"/>
    <p:sldId id="258" r:id="rId9"/>
    <p:sldId id="259" r:id="rId10"/>
    <p:sldId id="260" r:id="rId11"/>
    <p:sldId id="261" r:id="rId12"/>
    <p:sldId id="268" r:id="rId13"/>
    <p:sldId id="269" r:id="rId14"/>
    <p:sldId id="270" r:id="rId15"/>
    <p:sldId id="271" r:id="rId16"/>
    <p:sldId id="272" r:id="rId17"/>
    <p:sldId id="273"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9" r:id="rId32"/>
    <p:sldId id="290" r:id="rId33"/>
    <p:sldId id="288" r:id="rId34"/>
    <p:sldId id="291" r:id="rId35"/>
    <p:sldId id="292" r:id="rId36"/>
    <p:sldId id="293" r:id="rId37"/>
    <p:sldId id="294" r:id="rId38"/>
    <p:sldId id="295"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2C38E0-715F-4B4A-9A93-F03ED5875DC7}" v="4" dt="2025-12-08T04:36:08.7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404" autoAdjust="0"/>
  </p:normalViewPr>
  <p:slideViewPr>
    <p:cSldViewPr snapToGrid="0">
      <p:cViewPr varScale="1">
        <p:scale>
          <a:sx n="59" d="100"/>
          <a:sy n="59" d="100"/>
        </p:scale>
        <p:origin x="132" y="7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6" d="100"/>
          <a:sy n="56" d="100"/>
        </p:scale>
        <p:origin x="2588" y="5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gulmeera reddy" userId="62b6f0d03cc4a489" providerId="LiveId" clId="{638235DE-F834-4E96-84F2-62997CFD7016}"/>
    <pc:docChg chg="undo custSel addSld delSld modSld">
      <pc:chgData name="nagulmeera reddy" userId="62b6f0d03cc4a489" providerId="LiveId" clId="{638235DE-F834-4E96-84F2-62997CFD7016}" dt="2025-12-08T05:28:18.512" v="2208" actId="20577"/>
      <pc:docMkLst>
        <pc:docMk/>
      </pc:docMkLst>
      <pc:sldChg chg="modSp mod">
        <pc:chgData name="nagulmeera reddy" userId="62b6f0d03cc4a489" providerId="LiveId" clId="{638235DE-F834-4E96-84F2-62997CFD7016}" dt="2025-12-06T05:12:29.167" v="1243" actId="20577"/>
        <pc:sldMkLst>
          <pc:docMk/>
          <pc:sldMk cId="708597691" sldId="264"/>
        </pc:sldMkLst>
        <pc:spChg chg="mod">
          <ac:chgData name="nagulmeera reddy" userId="62b6f0d03cc4a489" providerId="LiveId" clId="{638235DE-F834-4E96-84F2-62997CFD7016}" dt="2025-12-06T05:12:29.167" v="1243" actId="20577"/>
          <ac:spMkLst>
            <pc:docMk/>
            <pc:sldMk cId="708597691" sldId="264"/>
            <ac:spMk id="2" creationId="{989CD52F-AD06-98BB-695F-06BAD9E54557}"/>
          </ac:spMkLst>
        </pc:spChg>
      </pc:sldChg>
      <pc:sldChg chg="modSp mod">
        <pc:chgData name="nagulmeera reddy" userId="62b6f0d03cc4a489" providerId="LiveId" clId="{638235DE-F834-4E96-84F2-62997CFD7016}" dt="2025-12-08T05:28:03.882" v="2199" actId="20577"/>
        <pc:sldMkLst>
          <pc:docMk/>
          <pc:sldMk cId="2573780934" sldId="265"/>
        </pc:sldMkLst>
        <pc:spChg chg="mod">
          <ac:chgData name="nagulmeera reddy" userId="62b6f0d03cc4a489" providerId="LiveId" clId="{638235DE-F834-4E96-84F2-62997CFD7016}" dt="2025-12-08T05:28:03.882" v="2199" actId="20577"/>
          <ac:spMkLst>
            <pc:docMk/>
            <pc:sldMk cId="2573780934" sldId="265"/>
            <ac:spMk id="2" creationId="{845F6F40-50A5-6CBB-13B2-FEB689943214}"/>
          </ac:spMkLst>
        </pc:spChg>
      </pc:sldChg>
      <pc:sldChg chg="modSp mod">
        <pc:chgData name="nagulmeera reddy" userId="62b6f0d03cc4a489" providerId="LiveId" clId="{638235DE-F834-4E96-84F2-62997CFD7016}" dt="2025-12-08T05:28:18.512" v="2208" actId="20577"/>
        <pc:sldMkLst>
          <pc:docMk/>
          <pc:sldMk cId="2654727646" sldId="266"/>
        </pc:sldMkLst>
        <pc:spChg chg="mod">
          <ac:chgData name="nagulmeera reddy" userId="62b6f0d03cc4a489" providerId="LiveId" clId="{638235DE-F834-4E96-84F2-62997CFD7016}" dt="2025-12-08T05:28:18.512" v="2208" actId="20577"/>
          <ac:spMkLst>
            <pc:docMk/>
            <pc:sldMk cId="2654727646" sldId="266"/>
            <ac:spMk id="2" creationId="{88AA426D-2409-FF01-29D2-4EFAD420E047}"/>
          </ac:spMkLst>
        </pc:spChg>
      </pc:sldChg>
      <pc:sldChg chg="addSp modSp mod">
        <pc:chgData name="nagulmeera reddy" userId="62b6f0d03cc4a489" providerId="LiveId" clId="{638235DE-F834-4E96-84F2-62997CFD7016}" dt="2025-12-06T04:33:29.015" v="669" actId="1036"/>
        <pc:sldMkLst>
          <pc:docMk/>
          <pc:sldMk cId="2765841821" sldId="267"/>
        </pc:sldMkLst>
        <pc:spChg chg="add mod">
          <ac:chgData name="nagulmeera reddy" userId="62b6f0d03cc4a489" providerId="LiveId" clId="{638235DE-F834-4E96-84F2-62997CFD7016}" dt="2025-12-05T18:00:18.118" v="13" actId="255"/>
          <ac:spMkLst>
            <pc:docMk/>
            <pc:sldMk cId="2765841821" sldId="267"/>
            <ac:spMk id="2" creationId="{C650E452-0DBA-B6F4-0F11-607C0B529CBF}"/>
          </ac:spMkLst>
        </pc:spChg>
        <pc:picChg chg="mod">
          <ac:chgData name="nagulmeera reddy" userId="62b6f0d03cc4a489" providerId="LiveId" clId="{638235DE-F834-4E96-84F2-62997CFD7016}" dt="2025-12-06T04:33:29.015" v="669" actId="1036"/>
          <ac:picMkLst>
            <pc:docMk/>
            <pc:sldMk cId="2765841821" sldId="267"/>
            <ac:picMk id="5" creationId="{2C0B303D-F089-3185-FC18-C947AF2F0D10}"/>
          </ac:picMkLst>
        </pc:picChg>
      </pc:sldChg>
      <pc:sldChg chg="modSp mod">
        <pc:chgData name="nagulmeera reddy" userId="62b6f0d03cc4a489" providerId="LiveId" clId="{638235DE-F834-4E96-84F2-62997CFD7016}" dt="2025-12-08T03:40:34.942" v="1505" actId="20577"/>
        <pc:sldMkLst>
          <pc:docMk/>
          <pc:sldMk cId="3724932952" sldId="268"/>
        </pc:sldMkLst>
        <pc:spChg chg="mod">
          <ac:chgData name="nagulmeera reddy" userId="62b6f0d03cc4a489" providerId="LiveId" clId="{638235DE-F834-4E96-84F2-62997CFD7016}" dt="2025-12-08T03:40:34.942" v="1505" actId="20577"/>
          <ac:spMkLst>
            <pc:docMk/>
            <pc:sldMk cId="3724932952" sldId="268"/>
            <ac:spMk id="9" creationId="{0E9E5023-191E-7BCD-BF7F-E8D546D7FF89}"/>
          </ac:spMkLst>
        </pc:spChg>
      </pc:sldChg>
      <pc:sldChg chg="modSp mod">
        <pc:chgData name="nagulmeera reddy" userId="62b6f0d03cc4a489" providerId="LiveId" clId="{638235DE-F834-4E96-84F2-62997CFD7016}" dt="2025-12-08T04:11:33.554" v="1618" actId="20577"/>
        <pc:sldMkLst>
          <pc:docMk/>
          <pc:sldMk cId="1737291100" sldId="269"/>
        </pc:sldMkLst>
        <pc:spChg chg="mod">
          <ac:chgData name="nagulmeera reddy" userId="62b6f0d03cc4a489" providerId="LiveId" clId="{638235DE-F834-4E96-84F2-62997CFD7016}" dt="2025-12-08T04:11:33.554" v="1618" actId="20577"/>
          <ac:spMkLst>
            <pc:docMk/>
            <pc:sldMk cId="1737291100" sldId="269"/>
            <ac:spMk id="2" creationId="{24C1F740-C259-385A-763A-088A249D5330}"/>
          </ac:spMkLst>
        </pc:spChg>
      </pc:sldChg>
      <pc:sldChg chg="modSp mod">
        <pc:chgData name="nagulmeera reddy" userId="62b6f0d03cc4a489" providerId="LiveId" clId="{638235DE-F834-4E96-84F2-62997CFD7016}" dt="2025-12-08T04:12:15.936" v="1624" actId="20577"/>
        <pc:sldMkLst>
          <pc:docMk/>
          <pc:sldMk cId="2102450616" sldId="272"/>
        </pc:sldMkLst>
        <pc:spChg chg="mod">
          <ac:chgData name="nagulmeera reddy" userId="62b6f0d03cc4a489" providerId="LiveId" clId="{638235DE-F834-4E96-84F2-62997CFD7016}" dt="2025-12-06T05:43:41.473" v="1501" actId="20577"/>
          <ac:spMkLst>
            <pc:docMk/>
            <pc:sldMk cId="2102450616" sldId="272"/>
            <ac:spMk id="2" creationId="{9C3B62C9-AF52-A532-1B07-28EF99BA9BCA}"/>
          </ac:spMkLst>
        </pc:spChg>
        <pc:spChg chg="mod">
          <ac:chgData name="nagulmeera reddy" userId="62b6f0d03cc4a489" providerId="LiveId" clId="{638235DE-F834-4E96-84F2-62997CFD7016}" dt="2025-12-08T04:12:15.936" v="1624" actId="20577"/>
          <ac:spMkLst>
            <pc:docMk/>
            <pc:sldMk cId="2102450616" sldId="272"/>
            <ac:spMk id="3" creationId="{8B4A3D8F-20A2-0EBD-4B73-98873BD2B651}"/>
          </ac:spMkLst>
        </pc:spChg>
      </pc:sldChg>
      <pc:sldChg chg="modSp mod">
        <pc:chgData name="nagulmeera reddy" userId="62b6f0d03cc4a489" providerId="LiveId" clId="{638235DE-F834-4E96-84F2-62997CFD7016}" dt="2025-12-06T05:09:59.505" v="1190" actId="20577"/>
        <pc:sldMkLst>
          <pc:docMk/>
          <pc:sldMk cId="3327587508" sldId="273"/>
        </pc:sldMkLst>
        <pc:spChg chg="mod">
          <ac:chgData name="nagulmeera reddy" userId="62b6f0d03cc4a489" providerId="LiveId" clId="{638235DE-F834-4E96-84F2-62997CFD7016}" dt="2025-12-06T05:09:59.505" v="1190" actId="20577"/>
          <ac:spMkLst>
            <pc:docMk/>
            <pc:sldMk cId="3327587508" sldId="273"/>
            <ac:spMk id="2" creationId="{2770F816-9E71-3808-49A1-C4C78B0BDE55}"/>
          </ac:spMkLst>
        </pc:spChg>
      </pc:sldChg>
      <pc:sldChg chg="del">
        <pc:chgData name="nagulmeera reddy" userId="62b6f0d03cc4a489" providerId="LiveId" clId="{638235DE-F834-4E96-84F2-62997CFD7016}" dt="2025-12-08T04:13:57.301" v="1629" actId="2696"/>
        <pc:sldMkLst>
          <pc:docMk/>
          <pc:sldMk cId="2363473323" sldId="274"/>
        </pc:sldMkLst>
      </pc:sldChg>
      <pc:sldChg chg="addSp modSp mod">
        <pc:chgData name="nagulmeera reddy" userId="62b6f0d03cc4a489" providerId="LiveId" clId="{638235DE-F834-4E96-84F2-62997CFD7016}" dt="2025-12-08T04:14:21.815" v="1641" actId="20577"/>
        <pc:sldMkLst>
          <pc:docMk/>
          <pc:sldMk cId="487651374" sldId="275"/>
        </pc:sldMkLst>
        <pc:spChg chg="mod">
          <ac:chgData name="nagulmeera reddy" userId="62b6f0d03cc4a489" providerId="LiveId" clId="{638235DE-F834-4E96-84F2-62997CFD7016}" dt="2025-12-08T04:14:21.815" v="1641" actId="20577"/>
          <ac:spMkLst>
            <pc:docMk/>
            <pc:sldMk cId="487651374" sldId="275"/>
            <ac:spMk id="2" creationId="{7691BEB8-9CD2-C16C-A551-063E86DE42A4}"/>
          </ac:spMkLst>
        </pc:spChg>
        <pc:spChg chg="add mod">
          <ac:chgData name="nagulmeera reddy" userId="62b6f0d03cc4a489" providerId="LiveId" clId="{638235DE-F834-4E96-84F2-62997CFD7016}" dt="2025-12-08T04:13:27.191" v="1628" actId="20577"/>
          <ac:spMkLst>
            <pc:docMk/>
            <pc:sldMk cId="487651374" sldId="275"/>
            <ac:spMk id="4" creationId="{F520FFD4-0B9F-6F62-E575-971C26502CD3}"/>
          </ac:spMkLst>
        </pc:spChg>
      </pc:sldChg>
      <pc:sldChg chg="modSp mod">
        <pc:chgData name="nagulmeera reddy" userId="62b6f0d03cc4a489" providerId="LiveId" clId="{638235DE-F834-4E96-84F2-62997CFD7016}" dt="2025-12-08T04:14:45.775" v="1647" actId="20577"/>
        <pc:sldMkLst>
          <pc:docMk/>
          <pc:sldMk cId="1307939554" sldId="276"/>
        </pc:sldMkLst>
        <pc:spChg chg="mod">
          <ac:chgData name="nagulmeera reddy" userId="62b6f0d03cc4a489" providerId="LiveId" clId="{638235DE-F834-4E96-84F2-62997CFD7016}" dt="2025-12-08T04:14:45.775" v="1647" actId="20577"/>
          <ac:spMkLst>
            <pc:docMk/>
            <pc:sldMk cId="1307939554" sldId="276"/>
            <ac:spMk id="2" creationId="{975E46C1-4516-4729-B23F-87D955B84723}"/>
          </ac:spMkLst>
        </pc:spChg>
      </pc:sldChg>
      <pc:sldChg chg="modSp mod">
        <pc:chgData name="nagulmeera reddy" userId="62b6f0d03cc4a489" providerId="LiveId" clId="{638235DE-F834-4E96-84F2-62997CFD7016}" dt="2025-12-08T04:17:24.630" v="1669" actId="20577"/>
        <pc:sldMkLst>
          <pc:docMk/>
          <pc:sldMk cId="3327467365" sldId="278"/>
        </pc:sldMkLst>
        <pc:spChg chg="mod">
          <ac:chgData name="nagulmeera reddy" userId="62b6f0d03cc4a489" providerId="LiveId" clId="{638235DE-F834-4E96-84F2-62997CFD7016}" dt="2025-12-06T05:43:23.520" v="1495" actId="20577"/>
          <ac:spMkLst>
            <pc:docMk/>
            <pc:sldMk cId="3327467365" sldId="278"/>
            <ac:spMk id="2" creationId="{AE67C2D4-2BC3-E3A4-0127-7636E234F55F}"/>
          </ac:spMkLst>
        </pc:spChg>
        <pc:spChg chg="mod">
          <ac:chgData name="nagulmeera reddy" userId="62b6f0d03cc4a489" providerId="LiveId" clId="{638235DE-F834-4E96-84F2-62997CFD7016}" dt="2025-12-08T04:17:24.630" v="1669" actId="20577"/>
          <ac:spMkLst>
            <pc:docMk/>
            <pc:sldMk cId="3327467365" sldId="278"/>
            <ac:spMk id="3" creationId="{3FF04D3F-0908-DF99-707C-000B1DF0D4B4}"/>
          </ac:spMkLst>
        </pc:spChg>
      </pc:sldChg>
      <pc:sldChg chg="modSp mod">
        <pc:chgData name="nagulmeera reddy" userId="62b6f0d03cc4a489" providerId="LiveId" clId="{638235DE-F834-4E96-84F2-62997CFD7016}" dt="2025-12-06T05:09:42.905" v="1186" actId="20577"/>
        <pc:sldMkLst>
          <pc:docMk/>
          <pc:sldMk cId="1537316628" sldId="279"/>
        </pc:sldMkLst>
        <pc:spChg chg="mod">
          <ac:chgData name="nagulmeera reddy" userId="62b6f0d03cc4a489" providerId="LiveId" clId="{638235DE-F834-4E96-84F2-62997CFD7016}" dt="2025-12-06T05:09:42.905" v="1186" actId="20577"/>
          <ac:spMkLst>
            <pc:docMk/>
            <pc:sldMk cId="1537316628" sldId="279"/>
            <ac:spMk id="2" creationId="{200C7C13-F4A7-ACD9-A6E0-B2346C9AB8D5}"/>
          </ac:spMkLst>
        </pc:spChg>
      </pc:sldChg>
      <pc:sldChg chg="modSp mod">
        <pc:chgData name="nagulmeera reddy" userId="62b6f0d03cc4a489" providerId="LiveId" clId="{638235DE-F834-4E96-84F2-62997CFD7016}" dt="2025-12-08T04:18:59.678" v="1726" actId="20577"/>
        <pc:sldMkLst>
          <pc:docMk/>
          <pc:sldMk cId="2343045452" sldId="281"/>
        </pc:sldMkLst>
        <pc:spChg chg="mod">
          <ac:chgData name="nagulmeera reddy" userId="62b6f0d03cc4a489" providerId="LiveId" clId="{638235DE-F834-4E96-84F2-62997CFD7016}" dt="2025-12-08T04:18:59.678" v="1726" actId="20577"/>
          <ac:spMkLst>
            <pc:docMk/>
            <pc:sldMk cId="2343045452" sldId="281"/>
            <ac:spMk id="2" creationId="{B5CDCB88-76DA-C11E-81E0-4A4B60003D6D}"/>
          </ac:spMkLst>
        </pc:spChg>
      </pc:sldChg>
      <pc:sldChg chg="modSp mod">
        <pc:chgData name="nagulmeera reddy" userId="62b6f0d03cc4a489" providerId="LiveId" clId="{638235DE-F834-4E96-84F2-62997CFD7016}" dt="2025-12-08T04:21:14.227" v="1769" actId="20577"/>
        <pc:sldMkLst>
          <pc:docMk/>
          <pc:sldMk cId="3500066120" sldId="282"/>
        </pc:sldMkLst>
        <pc:spChg chg="mod">
          <ac:chgData name="nagulmeera reddy" userId="62b6f0d03cc4a489" providerId="LiveId" clId="{638235DE-F834-4E96-84F2-62997CFD7016}" dt="2025-12-08T04:21:14.227" v="1769" actId="20577"/>
          <ac:spMkLst>
            <pc:docMk/>
            <pc:sldMk cId="3500066120" sldId="282"/>
            <ac:spMk id="2" creationId="{FC8FC9D5-D9B1-87CB-B557-509495966EF4}"/>
          </ac:spMkLst>
        </pc:spChg>
      </pc:sldChg>
      <pc:sldChg chg="modSp mod">
        <pc:chgData name="nagulmeera reddy" userId="62b6f0d03cc4a489" providerId="LiveId" clId="{638235DE-F834-4E96-84F2-62997CFD7016}" dt="2025-12-08T04:22:18.659" v="1813" actId="20577"/>
        <pc:sldMkLst>
          <pc:docMk/>
          <pc:sldMk cId="3814862054" sldId="283"/>
        </pc:sldMkLst>
        <pc:spChg chg="mod">
          <ac:chgData name="nagulmeera reddy" userId="62b6f0d03cc4a489" providerId="LiveId" clId="{638235DE-F834-4E96-84F2-62997CFD7016}" dt="2025-12-08T04:22:18.659" v="1813" actId="20577"/>
          <ac:spMkLst>
            <pc:docMk/>
            <pc:sldMk cId="3814862054" sldId="283"/>
            <ac:spMk id="2" creationId="{B331902D-58FA-FFA4-D7D6-E3481BA9A116}"/>
          </ac:spMkLst>
        </pc:spChg>
      </pc:sldChg>
      <pc:sldChg chg="addSp delSp modSp new mod">
        <pc:chgData name="nagulmeera reddy" userId="62b6f0d03cc4a489" providerId="LiveId" clId="{638235DE-F834-4E96-84F2-62997CFD7016}" dt="2025-12-08T04:22:57.703" v="1834" actId="20577"/>
        <pc:sldMkLst>
          <pc:docMk/>
          <pc:sldMk cId="2156543556" sldId="285"/>
        </pc:sldMkLst>
        <pc:spChg chg="add mod">
          <ac:chgData name="nagulmeera reddy" userId="62b6f0d03cc4a489" providerId="LiveId" clId="{638235DE-F834-4E96-84F2-62997CFD7016}" dt="2025-12-08T04:22:57.703" v="1834" actId="20577"/>
          <ac:spMkLst>
            <pc:docMk/>
            <pc:sldMk cId="2156543556" sldId="285"/>
            <ac:spMk id="3" creationId="{F1E8BB1A-A009-ECE0-31F1-90AC554F0FBF}"/>
          </ac:spMkLst>
        </pc:spChg>
        <pc:spChg chg="add mod">
          <ac:chgData name="nagulmeera reddy" userId="62b6f0d03cc4a489" providerId="LiveId" clId="{638235DE-F834-4E96-84F2-62997CFD7016}" dt="2025-12-06T05:43:09.531" v="1493" actId="20577"/>
          <ac:spMkLst>
            <pc:docMk/>
            <pc:sldMk cId="2156543556" sldId="285"/>
            <ac:spMk id="4" creationId="{56FDA38E-3B0B-E55E-2914-6688CEEE6CD1}"/>
          </ac:spMkLst>
        </pc:spChg>
      </pc:sldChg>
      <pc:sldChg chg="addSp modSp new mod">
        <pc:chgData name="nagulmeera reddy" userId="62b6f0d03cc4a489" providerId="LiveId" clId="{638235DE-F834-4E96-84F2-62997CFD7016}" dt="2025-12-06T04:50:20.990" v="866" actId="2711"/>
        <pc:sldMkLst>
          <pc:docMk/>
          <pc:sldMk cId="1822065173" sldId="286"/>
        </pc:sldMkLst>
        <pc:spChg chg="add mod">
          <ac:chgData name="nagulmeera reddy" userId="62b6f0d03cc4a489" providerId="LiveId" clId="{638235DE-F834-4E96-84F2-62997CFD7016}" dt="2025-12-06T04:50:20.990" v="866" actId="2711"/>
          <ac:spMkLst>
            <pc:docMk/>
            <pc:sldMk cId="1822065173" sldId="286"/>
            <ac:spMk id="2" creationId="{F623012C-4030-6FF8-0956-DF670AFC4960}"/>
          </ac:spMkLst>
        </pc:spChg>
      </pc:sldChg>
      <pc:sldChg chg="addSp modSp new mod">
        <pc:chgData name="nagulmeera reddy" userId="62b6f0d03cc4a489" providerId="LiveId" clId="{638235DE-F834-4E96-84F2-62997CFD7016}" dt="2025-12-06T04:50:35.644" v="868" actId="20577"/>
        <pc:sldMkLst>
          <pc:docMk/>
          <pc:sldMk cId="4070339043" sldId="287"/>
        </pc:sldMkLst>
        <pc:spChg chg="add mod">
          <ac:chgData name="nagulmeera reddy" userId="62b6f0d03cc4a489" providerId="LiveId" clId="{638235DE-F834-4E96-84F2-62997CFD7016}" dt="2025-12-06T04:50:35.644" v="868" actId="20577"/>
          <ac:spMkLst>
            <pc:docMk/>
            <pc:sldMk cId="4070339043" sldId="287"/>
            <ac:spMk id="2" creationId="{4C87A671-E1D3-A6CE-BC78-E6C180BCC81B}"/>
          </ac:spMkLst>
        </pc:spChg>
      </pc:sldChg>
      <pc:sldChg chg="addSp modSp new mod">
        <pc:chgData name="nagulmeera reddy" userId="62b6f0d03cc4a489" providerId="LiveId" clId="{638235DE-F834-4E96-84F2-62997CFD7016}" dt="2025-12-06T04:51:54.138" v="872" actId="2711"/>
        <pc:sldMkLst>
          <pc:docMk/>
          <pc:sldMk cId="1185934060" sldId="288"/>
        </pc:sldMkLst>
        <pc:spChg chg="add mod">
          <ac:chgData name="nagulmeera reddy" userId="62b6f0d03cc4a489" providerId="LiveId" clId="{638235DE-F834-4E96-84F2-62997CFD7016}" dt="2025-12-06T04:51:54.138" v="872" actId="2711"/>
          <ac:spMkLst>
            <pc:docMk/>
            <pc:sldMk cId="1185934060" sldId="288"/>
            <ac:spMk id="2" creationId="{AEB7D203-DE36-2233-BDE6-9AC8CCC81C6D}"/>
          </ac:spMkLst>
        </pc:spChg>
      </pc:sldChg>
      <pc:sldChg chg="addSp delSp modSp new mod">
        <pc:chgData name="nagulmeera reddy" userId="62b6f0d03cc4a489" providerId="LiveId" clId="{638235DE-F834-4E96-84F2-62997CFD7016}" dt="2025-12-08T04:23:30.818" v="1892" actId="20577"/>
        <pc:sldMkLst>
          <pc:docMk/>
          <pc:sldMk cId="3898233232" sldId="289"/>
        </pc:sldMkLst>
        <pc:spChg chg="add mod">
          <ac:chgData name="nagulmeera reddy" userId="62b6f0d03cc4a489" providerId="LiveId" clId="{638235DE-F834-4E96-84F2-62997CFD7016}" dt="2025-12-08T04:23:30.818" v="1892" actId="20577"/>
          <ac:spMkLst>
            <pc:docMk/>
            <pc:sldMk cId="3898233232" sldId="289"/>
            <ac:spMk id="3" creationId="{5A16B749-E23A-7B34-5F1B-316A4451244C}"/>
          </ac:spMkLst>
        </pc:spChg>
      </pc:sldChg>
      <pc:sldChg chg="addSp modSp new mod">
        <pc:chgData name="nagulmeera reddy" userId="62b6f0d03cc4a489" providerId="LiveId" clId="{638235DE-F834-4E96-84F2-62997CFD7016}" dt="2025-12-08T04:29:40.751" v="1971" actId="20577"/>
        <pc:sldMkLst>
          <pc:docMk/>
          <pc:sldMk cId="1289981210" sldId="290"/>
        </pc:sldMkLst>
        <pc:spChg chg="add mod">
          <ac:chgData name="nagulmeera reddy" userId="62b6f0d03cc4a489" providerId="LiveId" clId="{638235DE-F834-4E96-84F2-62997CFD7016}" dt="2025-12-08T04:29:40.751" v="1971" actId="20577"/>
          <ac:spMkLst>
            <pc:docMk/>
            <pc:sldMk cId="1289981210" sldId="290"/>
            <ac:spMk id="2" creationId="{1D18C1B8-C471-B003-B3CF-3F6E84DE6B6C}"/>
          </ac:spMkLst>
        </pc:spChg>
      </pc:sldChg>
      <pc:sldChg chg="addSp delSp modSp new mod">
        <pc:chgData name="nagulmeera reddy" userId="62b6f0d03cc4a489" providerId="LiveId" clId="{638235DE-F834-4E96-84F2-62997CFD7016}" dt="2025-12-08T04:29:55.380" v="1988" actId="20577"/>
        <pc:sldMkLst>
          <pc:docMk/>
          <pc:sldMk cId="1639634457" sldId="291"/>
        </pc:sldMkLst>
        <pc:spChg chg="add mod">
          <ac:chgData name="nagulmeera reddy" userId="62b6f0d03cc4a489" providerId="LiveId" clId="{638235DE-F834-4E96-84F2-62997CFD7016}" dt="2025-12-06T05:42:57.272" v="1491" actId="20577"/>
          <ac:spMkLst>
            <pc:docMk/>
            <pc:sldMk cId="1639634457" sldId="291"/>
            <ac:spMk id="4" creationId="{5613DF3B-848F-EE38-C930-FFC8579A8246}"/>
          </ac:spMkLst>
        </pc:spChg>
        <pc:spChg chg="add mod">
          <ac:chgData name="nagulmeera reddy" userId="62b6f0d03cc4a489" providerId="LiveId" clId="{638235DE-F834-4E96-84F2-62997CFD7016}" dt="2025-12-08T04:29:55.380" v="1988" actId="20577"/>
          <ac:spMkLst>
            <pc:docMk/>
            <pc:sldMk cId="1639634457" sldId="291"/>
            <ac:spMk id="6" creationId="{F9D613D9-D660-25A6-EDDC-A020617DCC23}"/>
          </ac:spMkLst>
        </pc:spChg>
      </pc:sldChg>
      <pc:sldChg chg="addSp modSp new mod">
        <pc:chgData name="nagulmeera reddy" userId="62b6f0d03cc4a489" providerId="LiveId" clId="{638235DE-F834-4E96-84F2-62997CFD7016}" dt="2025-12-08T04:30:09.123" v="2002" actId="20577"/>
        <pc:sldMkLst>
          <pc:docMk/>
          <pc:sldMk cId="340493997" sldId="292"/>
        </pc:sldMkLst>
        <pc:spChg chg="add mod">
          <ac:chgData name="nagulmeera reddy" userId="62b6f0d03cc4a489" providerId="LiveId" clId="{638235DE-F834-4E96-84F2-62997CFD7016}" dt="2025-12-08T04:30:09.123" v="2002" actId="20577"/>
          <ac:spMkLst>
            <pc:docMk/>
            <pc:sldMk cId="340493997" sldId="292"/>
            <ac:spMk id="2" creationId="{4BBFF127-9280-5FA4-6FF3-C2CD0C976172}"/>
          </ac:spMkLst>
        </pc:spChg>
      </pc:sldChg>
      <pc:sldChg chg="addSp modSp new mod">
        <pc:chgData name="nagulmeera reddy" userId="62b6f0d03cc4a489" providerId="LiveId" clId="{638235DE-F834-4E96-84F2-62997CFD7016}" dt="2025-12-08T04:30:16.309" v="2016" actId="20577"/>
        <pc:sldMkLst>
          <pc:docMk/>
          <pc:sldMk cId="4157953566" sldId="293"/>
        </pc:sldMkLst>
        <pc:spChg chg="add mod">
          <ac:chgData name="nagulmeera reddy" userId="62b6f0d03cc4a489" providerId="LiveId" clId="{638235DE-F834-4E96-84F2-62997CFD7016}" dt="2025-12-08T04:30:16.309" v="2016" actId="20577"/>
          <ac:spMkLst>
            <pc:docMk/>
            <pc:sldMk cId="4157953566" sldId="293"/>
            <ac:spMk id="2" creationId="{CA31013A-4327-41A5-4B1B-E955D520C1A2}"/>
          </ac:spMkLst>
        </pc:spChg>
      </pc:sldChg>
      <pc:sldChg chg="addSp modSp new mod">
        <pc:chgData name="nagulmeera reddy" userId="62b6f0d03cc4a489" providerId="LiveId" clId="{638235DE-F834-4E96-84F2-62997CFD7016}" dt="2025-12-06T05:42:38.936" v="1489" actId="2711"/>
        <pc:sldMkLst>
          <pc:docMk/>
          <pc:sldMk cId="289228339" sldId="294"/>
        </pc:sldMkLst>
        <pc:spChg chg="add mod">
          <ac:chgData name="nagulmeera reddy" userId="62b6f0d03cc4a489" providerId="LiveId" clId="{638235DE-F834-4E96-84F2-62997CFD7016}" dt="2025-12-06T05:42:38.936" v="1489" actId="2711"/>
          <ac:spMkLst>
            <pc:docMk/>
            <pc:sldMk cId="289228339" sldId="294"/>
            <ac:spMk id="2" creationId="{F1B7FF73-7530-6BEC-577D-58E8A56AFCED}"/>
          </ac:spMkLst>
        </pc:spChg>
      </pc:sldChg>
      <pc:sldChg chg="addSp delSp modSp new mod">
        <pc:chgData name="nagulmeera reddy" userId="62b6f0d03cc4a489" providerId="LiveId" clId="{638235DE-F834-4E96-84F2-62997CFD7016}" dt="2025-12-08T04:37:29.805" v="2187" actId="1076"/>
        <pc:sldMkLst>
          <pc:docMk/>
          <pc:sldMk cId="1046288406" sldId="295"/>
        </pc:sldMkLst>
        <pc:spChg chg="add del mod">
          <ac:chgData name="nagulmeera reddy" userId="62b6f0d03cc4a489" providerId="LiveId" clId="{638235DE-F834-4E96-84F2-62997CFD7016}" dt="2025-12-08T04:31:09.788" v="2021" actId="21"/>
          <ac:spMkLst>
            <pc:docMk/>
            <pc:sldMk cId="1046288406" sldId="295"/>
            <ac:spMk id="2" creationId="{5C3F1E82-E8F9-542C-A7D2-6CE80748C440}"/>
          </ac:spMkLst>
        </pc:spChg>
        <pc:spChg chg="add mod">
          <ac:chgData name="nagulmeera reddy" userId="62b6f0d03cc4a489" providerId="LiveId" clId="{638235DE-F834-4E96-84F2-62997CFD7016}" dt="2025-12-08T04:37:29.805" v="2187" actId="1076"/>
          <ac:spMkLst>
            <pc:docMk/>
            <pc:sldMk cId="1046288406" sldId="295"/>
            <ac:spMk id="3" creationId="{DF318458-93B3-253F-22E2-A6C3C5826BC0}"/>
          </ac:spMkLst>
        </pc:spChg>
        <pc:spChg chg="add mod">
          <ac:chgData name="nagulmeera reddy" userId="62b6f0d03cc4a489" providerId="LiveId" clId="{638235DE-F834-4E96-84F2-62997CFD7016}" dt="2025-12-08T04:37:14.606" v="2186" actId="1076"/>
          <ac:spMkLst>
            <pc:docMk/>
            <pc:sldMk cId="1046288406" sldId="295"/>
            <ac:spMk id="4" creationId="{DD2D57FA-5CB9-26D0-9124-E94E786DFA2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CCFFD6-FA5D-46DF-9856-FBE404D217F2}" type="datetimeFigureOut">
              <a:rPr lang="en-IN" smtClean="0"/>
              <a:t>08-12-2025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848762-0013-46DD-936A-696F990A8820}" type="slidenum">
              <a:rPr lang="en-IN" smtClean="0"/>
              <a:t>‹#›</a:t>
            </a:fld>
            <a:endParaRPr lang="en-IN"/>
          </a:p>
        </p:txBody>
      </p:sp>
    </p:spTree>
    <p:extLst>
      <p:ext uri="{BB962C8B-B14F-4D97-AF65-F5344CB8AC3E}">
        <p14:creationId xmlns:p14="http://schemas.microsoft.com/office/powerpoint/2010/main" val="34485938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F848762-0013-46DD-936A-696F990A8820}" type="slidenum">
              <a:rPr lang="en-IN" smtClean="0"/>
              <a:t>5</a:t>
            </a:fld>
            <a:endParaRPr lang="en-IN"/>
          </a:p>
        </p:txBody>
      </p:sp>
    </p:spTree>
    <p:extLst>
      <p:ext uri="{BB962C8B-B14F-4D97-AF65-F5344CB8AC3E}">
        <p14:creationId xmlns:p14="http://schemas.microsoft.com/office/powerpoint/2010/main" val="24267688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F848762-0013-46DD-936A-696F990A8820}" type="slidenum">
              <a:rPr lang="en-IN" smtClean="0"/>
              <a:t>7</a:t>
            </a:fld>
            <a:endParaRPr lang="en-IN"/>
          </a:p>
        </p:txBody>
      </p:sp>
    </p:spTree>
    <p:extLst>
      <p:ext uri="{BB962C8B-B14F-4D97-AF65-F5344CB8AC3E}">
        <p14:creationId xmlns:p14="http://schemas.microsoft.com/office/powerpoint/2010/main" val="24696801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US"/>
              <a:t>Click to edit Master title style</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70072E2-4A83-4608-9318-8E4BC2087B2A}" type="datetimeFigureOut">
              <a:rPr lang="en-IN" smtClean="0"/>
              <a:t>08-12-2025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rIns="45720"/>
          <a:lstStyle/>
          <a:p>
            <a:fld id="{E105645B-5D00-4FBA-8D31-1C330B20D27A}" type="slidenum">
              <a:rPr lang="en-IN" smtClean="0"/>
              <a:t>‹#›</a:t>
            </a:fld>
            <a:endParaRPr lang="en-IN"/>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4826668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0072E2-4A83-4608-9318-8E4BC2087B2A}" type="datetimeFigureOut">
              <a:rPr lang="en-IN" smtClean="0"/>
              <a:t>08-12-2025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105645B-5D00-4FBA-8D31-1C330B20D27A}" type="slidenum">
              <a:rPr lang="en-IN" smtClean="0"/>
              <a:t>‹#›</a:t>
            </a:fld>
            <a:endParaRPr lang="en-IN"/>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38438081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US"/>
              <a:t>Click to edit Master title style</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70072E2-4A83-4608-9318-8E4BC2087B2A}" type="datetimeFigureOut">
              <a:rPr lang="en-IN" smtClean="0"/>
              <a:t>08-12-2025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105645B-5D00-4FBA-8D31-1C330B20D27A}" type="slidenum">
              <a:rPr lang="en-IN" smtClean="0"/>
              <a:t>‹#›</a:t>
            </a:fld>
            <a:endParaRPr lang="en-IN"/>
          </a:p>
        </p:txBody>
      </p:sp>
    </p:spTree>
    <p:extLst>
      <p:ext uri="{BB962C8B-B14F-4D97-AF65-F5344CB8AC3E}">
        <p14:creationId xmlns:p14="http://schemas.microsoft.com/office/powerpoint/2010/main" val="27351109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70072E2-4A83-4608-9318-8E4BC2087B2A}" type="datetimeFigureOut">
              <a:rPr lang="en-IN" smtClean="0"/>
              <a:t>08-12-2025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105645B-5D00-4FBA-8D31-1C330B20D27A}" type="slidenum">
              <a:rPr lang="en-IN" smtClean="0"/>
              <a:t>‹#›</a:t>
            </a:fld>
            <a:endParaRPr lang="en-IN"/>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26850413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70072E2-4A83-4608-9318-8E4BC2087B2A}" type="datetimeFigureOut">
              <a:rPr lang="en-IN" smtClean="0"/>
              <a:t>08-12-2025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105645B-5D00-4FBA-8D31-1C330B20D27A}" type="slidenum">
              <a:rPr lang="en-IN" smtClean="0"/>
              <a:t>‹#›</a:t>
            </a:fld>
            <a:endParaRPr lang="en-IN"/>
          </a:p>
        </p:txBody>
      </p:sp>
    </p:spTree>
    <p:extLst>
      <p:ext uri="{BB962C8B-B14F-4D97-AF65-F5344CB8AC3E}">
        <p14:creationId xmlns:p14="http://schemas.microsoft.com/office/powerpoint/2010/main" val="3958943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70072E2-4A83-4608-9318-8E4BC2087B2A}" type="datetimeFigureOut">
              <a:rPr lang="en-IN" smtClean="0"/>
              <a:t>08-12-2025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105645B-5D00-4FBA-8D31-1C330B20D27A}" type="slidenum">
              <a:rPr lang="en-IN" smtClean="0"/>
              <a:t>‹#›</a:t>
            </a:fld>
            <a:endParaRPr lang="en-IN"/>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8434187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Date Placeholder 1"/>
          <p:cNvSpPr>
            <a:spLocks noGrp="1"/>
          </p:cNvSpPr>
          <p:nvPr>
            <p:ph type="dt" sz="half" idx="10"/>
          </p:nvPr>
        </p:nvSpPr>
        <p:spPr/>
        <p:txBody>
          <a:bodyPr/>
          <a:lstStyle/>
          <a:p>
            <a:fld id="{470072E2-4A83-4608-9318-8E4BC2087B2A}" type="datetimeFigureOut">
              <a:rPr lang="en-IN" smtClean="0"/>
              <a:t>08-12-2025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105645B-5D00-4FBA-8D31-1C330B20D27A}" type="slidenum">
              <a:rPr lang="en-IN" smtClean="0"/>
              <a:t>‹#›</a:t>
            </a:fld>
            <a:endParaRPr lang="en-IN"/>
          </a:p>
        </p:txBody>
      </p:sp>
    </p:spTree>
    <p:extLst>
      <p:ext uri="{BB962C8B-B14F-4D97-AF65-F5344CB8AC3E}">
        <p14:creationId xmlns:p14="http://schemas.microsoft.com/office/powerpoint/2010/main" val="35831418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70072E2-4A83-4608-9318-8E4BC2087B2A}" type="datetimeFigureOut">
              <a:rPr lang="en-IN" smtClean="0"/>
              <a:t>08-12-2025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105645B-5D00-4FBA-8D31-1C330B20D27A}" type="slidenum">
              <a:rPr lang="en-IN" smtClean="0"/>
              <a:t>‹#›</a:t>
            </a:fld>
            <a:endParaRPr lang="en-IN"/>
          </a:p>
        </p:txBody>
      </p:sp>
    </p:spTree>
    <p:extLst>
      <p:ext uri="{BB962C8B-B14F-4D97-AF65-F5344CB8AC3E}">
        <p14:creationId xmlns:p14="http://schemas.microsoft.com/office/powerpoint/2010/main" val="33843175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70072E2-4A83-4608-9318-8E4BC2087B2A}" type="datetimeFigureOut">
              <a:rPr lang="en-IN" smtClean="0"/>
              <a:t>08-12-2025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105645B-5D00-4FBA-8D31-1C330B20D27A}" type="slidenum">
              <a:rPr lang="en-IN" smtClean="0"/>
              <a:t>‹#›</a:t>
            </a:fld>
            <a:endParaRPr lang="en-IN"/>
          </a:p>
        </p:txBody>
      </p:sp>
    </p:spTree>
    <p:extLst>
      <p:ext uri="{BB962C8B-B14F-4D97-AF65-F5344CB8AC3E}">
        <p14:creationId xmlns:p14="http://schemas.microsoft.com/office/powerpoint/2010/main" val="3182398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0072E2-4A83-4608-9318-8E4BC2087B2A}" type="datetimeFigureOut">
              <a:rPr lang="en-IN" smtClean="0"/>
              <a:t>08-12-2025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105645B-5D00-4FBA-8D31-1C330B20D27A}" type="slidenum">
              <a:rPr lang="en-IN" smtClean="0"/>
              <a:t>‹#›</a:t>
            </a:fld>
            <a:endParaRPr lang="en-IN"/>
          </a:p>
        </p:txBody>
      </p:sp>
    </p:spTree>
    <p:extLst>
      <p:ext uri="{BB962C8B-B14F-4D97-AF65-F5344CB8AC3E}">
        <p14:creationId xmlns:p14="http://schemas.microsoft.com/office/powerpoint/2010/main" val="17410120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0072E2-4A83-4608-9318-8E4BC2087B2A}" type="datetimeFigureOut">
              <a:rPr lang="en-IN" smtClean="0"/>
              <a:t>08-12-2025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105645B-5D00-4FBA-8D31-1C330B20D27A}" type="slidenum">
              <a:rPr lang="en-IN" smtClean="0"/>
              <a:t>‹#›</a:t>
            </a:fld>
            <a:endParaRPr lang="en-IN"/>
          </a:p>
        </p:txBody>
      </p:sp>
    </p:spTree>
    <p:extLst>
      <p:ext uri="{BB962C8B-B14F-4D97-AF65-F5344CB8AC3E}">
        <p14:creationId xmlns:p14="http://schemas.microsoft.com/office/powerpoint/2010/main" val="8111285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470072E2-4A83-4608-9318-8E4BC2087B2A}" type="datetimeFigureOut">
              <a:rPr lang="en-IN" smtClean="0"/>
              <a:t>08-12-2025</a:t>
            </a:fld>
            <a:endParaRPr lang="en-IN"/>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E105645B-5D00-4FBA-8D31-1C330B20D27A}" type="slidenum">
              <a:rPr lang="en-IN" smtClean="0"/>
              <a:t>‹#›</a:t>
            </a:fld>
            <a:endParaRPr lang="en-IN"/>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896135105"/>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erson standing next to a large book&#10;&#10;AI-generated content may be incorrect.">
            <a:extLst>
              <a:ext uri="{FF2B5EF4-FFF2-40B4-BE49-F238E27FC236}">
                <a16:creationId xmlns:a16="http://schemas.microsoft.com/office/drawing/2014/main" id="{2C0B303D-F089-3185-FC18-C947AF2F0D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80184" y="270402"/>
            <a:ext cx="6583855" cy="6208282"/>
          </a:xfrm>
          <a:prstGeom prst="rect">
            <a:avLst/>
          </a:prstGeom>
        </p:spPr>
      </p:pic>
      <p:sp>
        <p:nvSpPr>
          <p:cNvPr id="2" name="TextBox 1">
            <a:extLst>
              <a:ext uri="{FF2B5EF4-FFF2-40B4-BE49-F238E27FC236}">
                <a16:creationId xmlns:a16="http://schemas.microsoft.com/office/drawing/2014/main" id="{C650E452-0DBA-B6F4-0F11-607C0B529CBF}"/>
              </a:ext>
            </a:extLst>
          </p:cNvPr>
          <p:cNvSpPr txBox="1"/>
          <p:nvPr/>
        </p:nvSpPr>
        <p:spPr>
          <a:xfrm>
            <a:off x="5747657" y="1404257"/>
            <a:ext cx="1589314" cy="338554"/>
          </a:xfrm>
          <a:prstGeom prst="rect">
            <a:avLst/>
          </a:prstGeom>
          <a:noFill/>
        </p:spPr>
        <p:txBody>
          <a:bodyPr wrap="square" rtlCol="0">
            <a:spAutoFit/>
          </a:bodyPr>
          <a:lstStyle/>
          <a:p>
            <a:r>
              <a:rPr lang="en-IN" sz="1600" dirty="0">
                <a:latin typeface="Arial Black" panose="020B0A04020102020204" pitchFamily="34" charset="0"/>
              </a:rPr>
              <a:t>PRAGATHI</a:t>
            </a:r>
          </a:p>
        </p:txBody>
      </p:sp>
    </p:spTree>
    <p:extLst>
      <p:ext uri="{BB962C8B-B14F-4D97-AF65-F5344CB8AC3E}">
        <p14:creationId xmlns:p14="http://schemas.microsoft.com/office/powerpoint/2010/main" val="27658418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15C318-CE6F-6B57-4D75-01D35055E0A1}"/>
              </a:ext>
            </a:extLst>
          </p:cNvPr>
          <p:cNvSpPr txBox="1"/>
          <p:nvPr/>
        </p:nvSpPr>
        <p:spPr>
          <a:xfrm>
            <a:off x="1536192" y="786384"/>
            <a:ext cx="4727448" cy="646331"/>
          </a:xfrm>
          <a:prstGeom prst="rect">
            <a:avLst/>
          </a:prstGeom>
          <a:noFill/>
        </p:spPr>
        <p:txBody>
          <a:bodyPr wrap="square" rtlCol="0">
            <a:spAutoFit/>
          </a:bodyPr>
          <a:lstStyle/>
          <a:p>
            <a:r>
              <a:rPr lang="en-US" sz="3600" dirty="0">
                <a:latin typeface="Algerian" panose="04020705040A02060702" pitchFamily="82" charset="0"/>
              </a:rPr>
              <a:t>REQUIREMENTS:</a:t>
            </a:r>
            <a:endParaRPr lang="en-IN" sz="3600" dirty="0">
              <a:latin typeface="Algerian" panose="04020705040A02060702" pitchFamily="82" charset="0"/>
            </a:endParaRPr>
          </a:p>
        </p:txBody>
      </p:sp>
      <p:sp>
        <p:nvSpPr>
          <p:cNvPr id="3" name="TextBox 2">
            <a:extLst>
              <a:ext uri="{FF2B5EF4-FFF2-40B4-BE49-F238E27FC236}">
                <a16:creationId xmlns:a16="http://schemas.microsoft.com/office/drawing/2014/main" id="{39CD5203-D67C-BA79-1FC6-DA2DEA001D40}"/>
              </a:ext>
            </a:extLst>
          </p:cNvPr>
          <p:cNvSpPr txBox="1"/>
          <p:nvPr/>
        </p:nvSpPr>
        <p:spPr>
          <a:xfrm>
            <a:off x="1536192" y="1993392"/>
            <a:ext cx="10021824" cy="646331"/>
          </a:xfrm>
          <a:prstGeom prst="rect">
            <a:avLst/>
          </a:prstGeom>
          <a:noFill/>
        </p:spPr>
        <p:txBody>
          <a:bodyPr wrap="square" rtlCol="0">
            <a:spAutoFit/>
          </a:bodyPr>
          <a:lstStyle/>
          <a:p>
            <a:pPr marL="285750" indent="-285750">
              <a:buFont typeface="Wingdings" panose="05000000000000000000" pitchFamily="2" charset="2"/>
              <a:buChar char="v"/>
            </a:pPr>
            <a:r>
              <a:rPr lang="en-US" dirty="0">
                <a:latin typeface="Century" panose="02040604050505020304" pitchFamily="18" charset="0"/>
              </a:rPr>
              <a:t>Software Requirements </a:t>
            </a:r>
            <a:r>
              <a:rPr lang="en-IN" dirty="0"/>
              <a:t>:</a:t>
            </a:r>
          </a:p>
          <a:p>
            <a:endParaRPr lang="en-US" dirty="0"/>
          </a:p>
        </p:txBody>
      </p:sp>
      <p:sp>
        <p:nvSpPr>
          <p:cNvPr id="4" name="TextBox 3">
            <a:extLst>
              <a:ext uri="{FF2B5EF4-FFF2-40B4-BE49-F238E27FC236}">
                <a16:creationId xmlns:a16="http://schemas.microsoft.com/office/drawing/2014/main" id="{859E8432-0D71-98E3-8618-3D705DCED210}"/>
              </a:ext>
            </a:extLst>
          </p:cNvPr>
          <p:cNvSpPr txBox="1"/>
          <p:nvPr/>
        </p:nvSpPr>
        <p:spPr>
          <a:xfrm>
            <a:off x="1847088" y="2639723"/>
            <a:ext cx="5266944" cy="1200329"/>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Century" panose="02040604050505020304" pitchFamily="18" charset="0"/>
              </a:rPr>
              <a:t>Operating System </a:t>
            </a:r>
            <a:r>
              <a:rPr lang="en-US" dirty="0">
                <a:latin typeface="Century" panose="02040604050505020304" pitchFamily="18" charset="0"/>
                <a:sym typeface="Wingdings" panose="05000000000000000000" pitchFamily="2" charset="2"/>
              </a:rPr>
              <a:t> Windows 11</a:t>
            </a:r>
          </a:p>
          <a:p>
            <a:pPr marL="285750" indent="-285750">
              <a:buFont typeface="Arial" panose="020B0604020202020204" pitchFamily="34" charset="0"/>
              <a:buChar char="•"/>
            </a:pPr>
            <a:r>
              <a:rPr lang="en-US" dirty="0">
                <a:latin typeface="Century" panose="02040604050505020304" pitchFamily="18" charset="0"/>
                <a:sym typeface="Wingdings" panose="05000000000000000000" pitchFamily="2" charset="2"/>
              </a:rPr>
              <a:t>C compiler </a:t>
            </a:r>
          </a:p>
          <a:p>
            <a:pPr marL="285750" indent="-285750">
              <a:buFont typeface="Arial" panose="020B0604020202020204" pitchFamily="34" charset="0"/>
              <a:buChar char="•"/>
            </a:pPr>
            <a:r>
              <a:rPr lang="en-US" dirty="0">
                <a:latin typeface="Century" panose="02040604050505020304" pitchFamily="18" charset="0"/>
                <a:sym typeface="Wingdings" panose="05000000000000000000" pitchFamily="2" charset="2"/>
              </a:rPr>
              <a:t>Integrated Development Environment  </a:t>
            </a:r>
          </a:p>
          <a:p>
            <a:pPr marL="285750" indent="-285750">
              <a:buFont typeface="Arial" panose="020B0604020202020204" pitchFamily="34" charset="0"/>
              <a:buChar char="•"/>
            </a:pPr>
            <a:r>
              <a:rPr lang="en-US" dirty="0">
                <a:latin typeface="Century" panose="02040604050505020304" pitchFamily="18" charset="0"/>
                <a:sym typeface="Wingdings" panose="05000000000000000000" pitchFamily="2" charset="2"/>
              </a:rPr>
              <a:t>Version Control System</a:t>
            </a:r>
            <a:endParaRPr lang="en-IN" dirty="0">
              <a:latin typeface="Century" panose="02040604050505020304" pitchFamily="18" charset="0"/>
            </a:endParaRPr>
          </a:p>
        </p:txBody>
      </p:sp>
      <p:sp>
        <p:nvSpPr>
          <p:cNvPr id="5" name="TextBox 4">
            <a:extLst>
              <a:ext uri="{FF2B5EF4-FFF2-40B4-BE49-F238E27FC236}">
                <a16:creationId xmlns:a16="http://schemas.microsoft.com/office/drawing/2014/main" id="{9A8549C3-3B89-5372-C718-49AA8B3BDCE3}"/>
              </a:ext>
            </a:extLst>
          </p:cNvPr>
          <p:cNvSpPr txBox="1"/>
          <p:nvPr/>
        </p:nvSpPr>
        <p:spPr>
          <a:xfrm>
            <a:off x="1536192" y="4059936"/>
            <a:ext cx="3264408" cy="369332"/>
          </a:xfrm>
          <a:prstGeom prst="rect">
            <a:avLst/>
          </a:prstGeom>
          <a:noFill/>
        </p:spPr>
        <p:txBody>
          <a:bodyPr wrap="square" rtlCol="0">
            <a:spAutoFit/>
          </a:bodyPr>
          <a:lstStyle/>
          <a:p>
            <a:pPr marL="285750" indent="-285750">
              <a:buFont typeface="Wingdings" panose="05000000000000000000" pitchFamily="2" charset="2"/>
              <a:buChar char="v"/>
            </a:pPr>
            <a:r>
              <a:rPr lang="en-US" dirty="0">
                <a:latin typeface="Century" panose="02040604050505020304" pitchFamily="18" charset="0"/>
              </a:rPr>
              <a:t>Hardware Requirements </a:t>
            </a:r>
            <a:r>
              <a:rPr lang="en-US" dirty="0"/>
              <a:t>:</a:t>
            </a:r>
            <a:endParaRPr lang="en-IN" dirty="0"/>
          </a:p>
        </p:txBody>
      </p:sp>
      <p:sp>
        <p:nvSpPr>
          <p:cNvPr id="6" name="TextBox 5">
            <a:extLst>
              <a:ext uri="{FF2B5EF4-FFF2-40B4-BE49-F238E27FC236}">
                <a16:creationId xmlns:a16="http://schemas.microsoft.com/office/drawing/2014/main" id="{719A705A-E479-8913-1AFD-BDADD4ACE4BE}"/>
              </a:ext>
            </a:extLst>
          </p:cNvPr>
          <p:cNvSpPr txBox="1"/>
          <p:nvPr/>
        </p:nvSpPr>
        <p:spPr>
          <a:xfrm>
            <a:off x="1847088" y="4486383"/>
            <a:ext cx="5733288" cy="1477328"/>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Century" panose="02040604050505020304" pitchFamily="18" charset="0"/>
              </a:rPr>
              <a:t>Processor</a:t>
            </a:r>
          </a:p>
          <a:p>
            <a:pPr marL="285750" indent="-285750">
              <a:buFont typeface="Arial" panose="020B0604020202020204" pitchFamily="34" charset="0"/>
              <a:buChar char="•"/>
            </a:pPr>
            <a:r>
              <a:rPr lang="en-US" dirty="0">
                <a:latin typeface="Century" panose="02040604050505020304" pitchFamily="18" charset="0"/>
              </a:rPr>
              <a:t>RAM</a:t>
            </a:r>
          </a:p>
          <a:p>
            <a:pPr marL="285750" indent="-285750">
              <a:buFont typeface="Arial" panose="020B0604020202020204" pitchFamily="34" charset="0"/>
              <a:buChar char="•"/>
            </a:pPr>
            <a:r>
              <a:rPr lang="en-US" dirty="0">
                <a:latin typeface="Century" panose="02040604050505020304" pitchFamily="18" charset="0"/>
              </a:rPr>
              <a:t>Storage</a:t>
            </a:r>
          </a:p>
          <a:p>
            <a:pPr marL="285750" indent="-285750">
              <a:buFont typeface="Arial" panose="020B0604020202020204" pitchFamily="34" charset="0"/>
              <a:buChar char="•"/>
            </a:pPr>
            <a:r>
              <a:rPr lang="en-US" dirty="0">
                <a:latin typeface="Century" panose="02040604050505020304" pitchFamily="18" charset="0"/>
              </a:rPr>
              <a:t>Input Devices</a:t>
            </a:r>
          </a:p>
          <a:p>
            <a:pPr marL="285750" indent="-285750">
              <a:buFont typeface="Arial" panose="020B0604020202020204" pitchFamily="34" charset="0"/>
              <a:buChar char="•"/>
            </a:pPr>
            <a:r>
              <a:rPr lang="en-US" dirty="0">
                <a:latin typeface="Century" panose="02040604050505020304" pitchFamily="18" charset="0"/>
              </a:rPr>
              <a:t>Display</a:t>
            </a:r>
            <a:endParaRPr lang="en-IN" dirty="0">
              <a:latin typeface="Century" panose="02040604050505020304" pitchFamily="18" charset="0"/>
            </a:endParaRPr>
          </a:p>
        </p:txBody>
      </p:sp>
    </p:spTree>
    <p:extLst>
      <p:ext uri="{BB962C8B-B14F-4D97-AF65-F5344CB8AC3E}">
        <p14:creationId xmlns:p14="http://schemas.microsoft.com/office/powerpoint/2010/main" val="16622450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5D8AA28-CC74-03B4-7199-884F1323847A}"/>
              </a:ext>
            </a:extLst>
          </p:cNvPr>
          <p:cNvSpPr txBox="1"/>
          <p:nvPr/>
        </p:nvSpPr>
        <p:spPr>
          <a:xfrm>
            <a:off x="1121229" y="2180626"/>
            <a:ext cx="10091057" cy="3477875"/>
          </a:xfrm>
          <a:prstGeom prst="rect">
            <a:avLst/>
          </a:prstGeom>
          <a:noFill/>
        </p:spPr>
        <p:txBody>
          <a:bodyPr wrap="square" rtlCol="0">
            <a:spAutoFit/>
          </a:bodyPr>
          <a:lstStyle/>
          <a:p>
            <a:pPr algn="just"/>
            <a:r>
              <a:rPr lang="en-US" sz="2000" dirty="0">
                <a:latin typeface="Century" panose="02040604050505020304" pitchFamily="18" charset="0"/>
              </a:rPr>
              <a:t>Student Admission System in C is a simple console-based project designed to manage admissions for different departments by tracking the number of available seats. The program helps automate basic admission tasks such as collecting student details, checking seat availability, allocating seats, and displaying remaining seats. It uses core C programming concepts like arrays, structures, loops, and conditional statements to simulate a real-time admission process. This project allows users to select a department, verifies whether seats are available, and updates the seat count after each successful admission. It also provides options to view seat status and manage multiple admissions efficiently. The system demonstrates how C can be used to implement decision-making, data storage, and basic record handling in an educational institution’s admission workflow</a:t>
            </a:r>
            <a:endParaRPr lang="en-IN" sz="2000" dirty="0"/>
          </a:p>
        </p:txBody>
      </p:sp>
      <p:sp>
        <p:nvSpPr>
          <p:cNvPr id="3" name="TextBox 2">
            <a:extLst>
              <a:ext uri="{FF2B5EF4-FFF2-40B4-BE49-F238E27FC236}">
                <a16:creationId xmlns:a16="http://schemas.microsoft.com/office/drawing/2014/main" id="{0A976CD9-6629-0D58-092E-B0ABDC9B9B8A}"/>
              </a:ext>
            </a:extLst>
          </p:cNvPr>
          <p:cNvSpPr txBox="1"/>
          <p:nvPr/>
        </p:nvSpPr>
        <p:spPr>
          <a:xfrm>
            <a:off x="1673352" y="877824"/>
            <a:ext cx="3749040" cy="646331"/>
          </a:xfrm>
          <a:prstGeom prst="rect">
            <a:avLst/>
          </a:prstGeom>
          <a:noFill/>
        </p:spPr>
        <p:txBody>
          <a:bodyPr wrap="square" rtlCol="0">
            <a:spAutoFit/>
          </a:bodyPr>
          <a:lstStyle/>
          <a:p>
            <a:r>
              <a:rPr lang="en-US" sz="3600" dirty="0">
                <a:latin typeface="Algerian" panose="04020705040A02060702" pitchFamily="82" charset="0"/>
              </a:rPr>
              <a:t>INTRODUCTION:</a:t>
            </a:r>
            <a:endParaRPr lang="en-IN" sz="3600" dirty="0">
              <a:latin typeface="Algerian" panose="04020705040A02060702" pitchFamily="82" charset="0"/>
            </a:endParaRPr>
          </a:p>
        </p:txBody>
      </p:sp>
    </p:spTree>
    <p:extLst>
      <p:ext uri="{BB962C8B-B14F-4D97-AF65-F5344CB8AC3E}">
        <p14:creationId xmlns:p14="http://schemas.microsoft.com/office/powerpoint/2010/main" val="20163917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89CD52F-AD06-98BB-695F-06BAD9E54557}"/>
              </a:ext>
            </a:extLst>
          </p:cNvPr>
          <p:cNvSpPr txBox="1"/>
          <p:nvPr/>
        </p:nvSpPr>
        <p:spPr>
          <a:xfrm>
            <a:off x="1380744" y="1166842"/>
            <a:ext cx="7251192" cy="5909310"/>
          </a:xfrm>
          <a:prstGeom prst="rect">
            <a:avLst/>
          </a:prstGeom>
          <a:noFill/>
        </p:spPr>
        <p:txBody>
          <a:bodyPr wrap="square" rtlCol="0">
            <a:spAutoFit/>
          </a:bodyPr>
          <a:lstStyle/>
          <a:p>
            <a:pPr marL="10117" indent="0">
              <a:buNone/>
            </a:pPr>
            <a:endParaRPr lang="en-IN" dirty="0">
              <a:latin typeface="Arial Black" panose="020B0A04020102020204" pitchFamily="34" charset="0"/>
              <a:ea typeface="Artifakt Element Medium" panose="020B0603050000020004" pitchFamily="34" charset="0"/>
            </a:endParaRPr>
          </a:p>
          <a:p>
            <a:pPr marL="10117" indent="0">
              <a:buNone/>
            </a:pPr>
            <a:r>
              <a:rPr lang="en-IN" dirty="0">
                <a:latin typeface="Century" panose="02040604050505020304" pitchFamily="18" charset="0"/>
              </a:rPr>
              <a:t>Step 1: </a:t>
            </a:r>
            <a:r>
              <a:rPr lang="en-US" dirty="0">
                <a:latin typeface="Century" panose="02040604050505020304" pitchFamily="18" charset="0"/>
                <a:ea typeface="Artifakt Element Black" panose="020B0A03050000020004" pitchFamily="34" charset="0"/>
              </a:rPr>
              <a:t>Start </a:t>
            </a:r>
            <a:endParaRPr lang="en-IN" dirty="0">
              <a:latin typeface="Century" panose="02040604050505020304" pitchFamily="18" charset="0"/>
              <a:ea typeface="Artifakt Element Black" panose="020B0A03050000020004" pitchFamily="34" charset="0"/>
            </a:endParaRPr>
          </a:p>
          <a:p>
            <a:pPr marL="10117" indent="0">
              <a:buNone/>
            </a:pPr>
            <a:r>
              <a:rPr lang="en-IN" dirty="0">
                <a:latin typeface="Century" panose="02040604050505020304" pitchFamily="18" charset="0"/>
              </a:rPr>
              <a:t>Step 2: </a:t>
            </a:r>
            <a:r>
              <a:rPr lang="en-IN" dirty="0">
                <a:latin typeface="Century" panose="02040604050505020304" pitchFamily="18" charset="0"/>
                <a:ea typeface="Artifakt Element Black" panose="020B0A03050000020004" pitchFamily="34" charset="0"/>
              </a:rPr>
              <a:t>Initialize number of seats in each department</a:t>
            </a:r>
          </a:p>
          <a:p>
            <a:pPr marL="10117" indent="0">
              <a:buNone/>
            </a:pPr>
            <a:r>
              <a:rPr lang="en-IN" dirty="0">
                <a:latin typeface="Century" panose="02040604050505020304" pitchFamily="18" charset="0"/>
                <a:ea typeface="Artifakt Element Black" panose="020B0A03050000020004" pitchFamily="34" charset="0"/>
              </a:rPr>
              <a:t>               </a:t>
            </a:r>
            <a:r>
              <a:rPr lang="en-IN" dirty="0">
                <a:latin typeface="Century" panose="02040604050505020304" pitchFamily="18" charset="0"/>
                <a:ea typeface="Artifakt Element Black" panose="020B0A03050000020004" pitchFamily="34" charset="0"/>
                <a:sym typeface="Wingdings" panose="05000000000000000000" pitchFamily="2" charset="2"/>
              </a:rPr>
              <a:t>CSE=150</a:t>
            </a:r>
          </a:p>
          <a:p>
            <a:pPr marL="10117" indent="0">
              <a:buNone/>
            </a:pPr>
            <a:r>
              <a:rPr lang="en-IN" dirty="0">
                <a:latin typeface="Century" panose="02040604050505020304" pitchFamily="18" charset="0"/>
                <a:ea typeface="Artifakt Element Black" panose="020B0A03050000020004" pitchFamily="34" charset="0"/>
                <a:sym typeface="Wingdings" panose="05000000000000000000" pitchFamily="2" charset="2"/>
              </a:rPr>
              <a:t>               ECE=100</a:t>
            </a:r>
          </a:p>
          <a:p>
            <a:pPr marL="10117" indent="0">
              <a:buNone/>
            </a:pPr>
            <a:r>
              <a:rPr lang="en-IN" dirty="0">
                <a:latin typeface="Century" panose="02040604050505020304" pitchFamily="18" charset="0"/>
                <a:ea typeface="Artifakt Element Black" panose="020B0A03050000020004" pitchFamily="34" charset="0"/>
                <a:sym typeface="Wingdings" panose="05000000000000000000" pitchFamily="2" charset="2"/>
              </a:rPr>
              <a:t>               MECH=80</a:t>
            </a:r>
          </a:p>
          <a:p>
            <a:pPr marL="10117" indent="0">
              <a:buNone/>
            </a:pPr>
            <a:r>
              <a:rPr lang="en-IN" dirty="0">
                <a:latin typeface="Century" panose="02040604050505020304" pitchFamily="18" charset="0"/>
                <a:ea typeface="Artifakt Element Black" panose="020B0A03050000020004" pitchFamily="34" charset="0"/>
              </a:rPr>
              <a:t>               </a:t>
            </a:r>
            <a:r>
              <a:rPr lang="en-IN" dirty="0">
                <a:latin typeface="Century" panose="02040604050505020304" pitchFamily="18" charset="0"/>
                <a:ea typeface="Artifakt Element Black" panose="020B0A03050000020004" pitchFamily="34" charset="0"/>
                <a:sym typeface="Wingdings" panose="05000000000000000000" pitchFamily="2" charset="2"/>
              </a:rPr>
              <a:t>CIVIL=80</a:t>
            </a:r>
          </a:p>
          <a:p>
            <a:pPr marL="10117" indent="0">
              <a:buNone/>
            </a:pPr>
            <a:r>
              <a:rPr lang="en-IN" dirty="0">
                <a:latin typeface="Century" panose="02040604050505020304" pitchFamily="18" charset="0"/>
                <a:ea typeface="Artifakt Element Black" panose="020B0A03050000020004" pitchFamily="34" charset="0"/>
              </a:rPr>
              <a:t>Step 3: Create an empty </a:t>
            </a:r>
            <a:r>
              <a:rPr lang="en-US" dirty="0">
                <a:latin typeface="Century" panose="02040604050505020304" pitchFamily="18" charset="0"/>
                <a:ea typeface="Artifakt Element Black" panose="020B0A03050000020004" pitchFamily="34" charset="0"/>
              </a:rPr>
              <a:t>student array s[MAX] and set count=0</a:t>
            </a:r>
            <a:endParaRPr lang="en-IN" dirty="0">
              <a:latin typeface="Century" panose="02040604050505020304" pitchFamily="18" charset="0"/>
              <a:ea typeface="Artifakt Element Black" panose="020B0A03050000020004" pitchFamily="34" charset="0"/>
            </a:endParaRPr>
          </a:p>
          <a:p>
            <a:pPr marL="10117" indent="0">
              <a:buNone/>
            </a:pPr>
            <a:r>
              <a:rPr lang="en-US" dirty="0">
                <a:latin typeface="Century" panose="02040604050505020304" pitchFamily="18" charset="0"/>
              </a:rPr>
              <a:t>Step 4: Display Menu</a:t>
            </a:r>
          </a:p>
          <a:p>
            <a:pPr marL="10117" indent="0">
              <a:buNone/>
            </a:pPr>
            <a:r>
              <a:rPr lang="en-US" dirty="0">
                <a:latin typeface="Century" panose="02040604050505020304" pitchFamily="18" charset="0"/>
              </a:rPr>
              <a:t>                 1.Add student</a:t>
            </a:r>
          </a:p>
          <a:p>
            <a:pPr marL="10117" indent="0">
              <a:buNone/>
            </a:pPr>
            <a:r>
              <a:rPr lang="en-US" dirty="0">
                <a:latin typeface="Century" panose="02040604050505020304" pitchFamily="18" charset="0"/>
              </a:rPr>
              <a:t>                 2.Display All Students</a:t>
            </a:r>
          </a:p>
          <a:p>
            <a:pPr marL="10117" indent="0">
              <a:buNone/>
            </a:pPr>
            <a:r>
              <a:rPr lang="en-US" dirty="0">
                <a:latin typeface="Century" panose="02040604050505020304" pitchFamily="18" charset="0"/>
              </a:rPr>
              <a:t>                 3.Search Student</a:t>
            </a:r>
          </a:p>
          <a:p>
            <a:pPr marL="10117" indent="0">
              <a:buNone/>
            </a:pPr>
            <a:r>
              <a:rPr lang="en-US" dirty="0">
                <a:latin typeface="Century" panose="02040604050505020304" pitchFamily="18" charset="0"/>
              </a:rPr>
              <a:t>                 4.Show remaining seats</a:t>
            </a:r>
          </a:p>
          <a:p>
            <a:pPr marL="10117" indent="0">
              <a:buNone/>
            </a:pPr>
            <a:r>
              <a:rPr lang="en-US" dirty="0">
                <a:latin typeface="Century" panose="02040604050505020304" pitchFamily="18" charset="0"/>
              </a:rPr>
              <a:t>                 5.Exit</a:t>
            </a:r>
          </a:p>
          <a:p>
            <a:pPr marL="10117" indent="0">
              <a:buNone/>
            </a:pPr>
            <a:r>
              <a:rPr lang="en-US" dirty="0">
                <a:latin typeface="Century" panose="02040604050505020304" pitchFamily="18" charset="0"/>
              </a:rPr>
              <a:t>Step 5:If Display Menu is 1.  go to step 6</a:t>
            </a:r>
          </a:p>
          <a:p>
            <a:pPr marL="10117" indent="0">
              <a:buNone/>
            </a:pPr>
            <a:r>
              <a:rPr lang="en-US" dirty="0">
                <a:latin typeface="Century" panose="02040604050505020304" pitchFamily="18" charset="0"/>
              </a:rPr>
              <a:t>                 If Display Menu is 2. go to step 7</a:t>
            </a:r>
          </a:p>
          <a:p>
            <a:pPr marL="10117" indent="0">
              <a:buNone/>
            </a:pPr>
            <a:r>
              <a:rPr lang="en-US" dirty="0">
                <a:latin typeface="Century" panose="02040604050505020304" pitchFamily="18" charset="0"/>
              </a:rPr>
              <a:t>                 If Display Menu is 3.  go to step 8</a:t>
            </a:r>
          </a:p>
          <a:p>
            <a:pPr marL="10117" indent="0">
              <a:buNone/>
            </a:pPr>
            <a:r>
              <a:rPr lang="en-US" dirty="0">
                <a:latin typeface="Century" panose="02040604050505020304" pitchFamily="18" charset="0"/>
              </a:rPr>
              <a:t>                 If Display Menu is 4.  go to step 9</a:t>
            </a:r>
          </a:p>
          <a:p>
            <a:pPr marL="10117" indent="0">
              <a:buNone/>
            </a:pPr>
            <a:r>
              <a:rPr lang="en-US" dirty="0">
                <a:latin typeface="Century" panose="02040604050505020304" pitchFamily="18" charset="0"/>
              </a:rPr>
              <a:t>                 If Display Menu is 5.  go to step 4</a:t>
            </a:r>
          </a:p>
          <a:p>
            <a:pPr marL="10117" indent="0">
              <a:buNone/>
            </a:pPr>
            <a:endParaRPr lang="en-US" dirty="0">
              <a:latin typeface="Century" panose="02040604050505020304" pitchFamily="18" charset="0"/>
            </a:endParaRPr>
          </a:p>
          <a:p>
            <a:endParaRPr lang="en-IN" dirty="0"/>
          </a:p>
        </p:txBody>
      </p:sp>
      <p:sp>
        <p:nvSpPr>
          <p:cNvPr id="3" name="TextBox 2">
            <a:extLst>
              <a:ext uri="{FF2B5EF4-FFF2-40B4-BE49-F238E27FC236}">
                <a16:creationId xmlns:a16="http://schemas.microsoft.com/office/drawing/2014/main" id="{8C9E8074-DEAA-2518-50EE-A93BD655435A}"/>
              </a:ext>
            </a:extLst>
          </p:cNvPr>
          <p:cNvSpPr txBox="1"/>
          <p:nvPr/>
        </p:nvSpPr>
        <p:spPr>
          <a:xfrm>
            <a:off x="1380744" y="448056"/>
            <a:ext cx="2962656" cy="646331"/>
          </a:xfrm>
          <a:prstGeom prst="rect">
            <a:avLst/>
          </a:prstGeom>
          <a:noFill/>
        </p:spPr>
        <p:txBody>
          <a:bodyPr wrap="square" rtlCol="0">
            <a:spAutoFit/>
          </a:bodyPr>
          <a:lstStyle/>
          <a:p>
            <a:r>
              <a:rPr lang="en-US" sz="3600" dirty="0">
                <a:latin typeface="Algerian" panose="04020705040A02060702" pitchFamily="82" charset="0"/>
              </a:rPr>
              <a:t>ALGORITHM:</a:t>
            </a:r>
            <a:endParaRPr lang="en-IN" sz="3600" dirty="0">
              <a:latin typeface="Algerian" panose="04020705040A02060702" pitchFamily="82" charset="0"/>
            </a:endParaRPr>
          </a:p>
        </p:txBody>
      </p:sp>
    </p:spTree>
    <p:extLst>
      <p:ext uri="{BB962C8B-B14F-4D97-AF65-F5344CB8AC3E}">
        <p14:creationId xmlns:p14="http://schemas.microsoft.com/office/powerpoint/2010/main" val="7085976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45F6F40-50A5-6CBB-13B2-FEB689943214}"/>
              </a:ext>
            </a:extLst>
          </p:cNvPr>
          <p:cNvSpPr txBox="1"/>
          <p:nvPr/>
        </p:nvSpPr>
        <p:spPr>
          <a:xfrm>
            <a:off x="1654048" y="144780"/>
            <a:ext cx="8394192" cy="7017306"/>
          </a:xfrm>
          <a:prstGeom prst="rect">
            <a:avLst/>
          </a:prstGeom>
          <a:noFill/>
        </p:spPr>
        <p:txBody>
          <a:bodyPr wrap="square" rtlCol="0">
            <a:spAutoFit/>
          </a:bodyPr>
          <a:lstStyle/>
          <a:p>
            <a:pPr marL="10117" indent="0">
              <a:buNone/>
            </a:pPr>
            <a:r>
              <a:rPr lang="en-US" dirty="0">
                <a:latin typeface="Century" panose="02040604050505020304" pitchFamily="18" charset="0"/>
              </a:rPr>
              <a:t>Step 6:</a:t>
            </a:r>
            <a:r>
              <a:rPr lang="en-US" dirty="0">
                <a:latin typeface="Bahnschrift SemiLight" panose="020B0502040204020203" pitchFamily="34" charset="0"/>
              </a:rPr>
              <a:t> </a:t>
            </a:r>
            <a:r>
              <a:rPr lang="en-US" dirty="0">
                <a:latin typeface="Century" panose="02040604050505020304" pitchFamily="18" charset="0"/>
              </a:rPr>
              <a:t>FOR 1.ADD STUDENT </a:t>
            </a:r>
          </a:p>
          <a:p>
            <a:pPr marL="10117" indent="0">
              <a:buNone/>
            </a:pPr>
            <a:r>
              <a:rPr lang="en-US" dirty="0">
                <a:latin typeface="Century" panose="02040604050505020304" pitchFamily="18" charset="0"/>
              </a:rPr>
              <a:t>                &gt; If Count&gt;=MAX DISPLAY  “Cannot add more students” go to step 4     , otherwise</a:t>
            </a:r>
          </a:p>
          <a:p>
            <a:pPr marL="10117" indent="0">
              <a:buNone/>
            </a:pPr>
            <a:r>
              <a:rPr lang="en-IN" dirty="0">
                <a:latin typeface="Century" panose="02040604050505020304" pitchFamily="18" charset="0"/>
              </a:rPr>
              <a:t>                &gt; Read the inputs of</a:t>
            </a:r>
          </a:p>
          <a:p>
            <a:pPr marL="10117" indent="0">
              <a:buNone/>
            </a:pPr>
            <a:r>
              <a:rPr lang="en-IN" dirty="0">
                <a:latin typeface="Century" panose="02040604050505020304" pitchFamily="18" charset="0"/>
              </a:rPr>
              <a:t>                  </a:t>
            </a:r>
            <a:r>
              <a:rPr lang="en-IN" dirty="0">
                <a:latin typeface="Century" panose="02040604050505020304" pitchFamily="18" charset="0"/>
                <a:sym typeface="Wingdings" panose="05000000000000000000" pitchFamily="2" charset="2"/>
              </a:rPr>
              <a:t>Application Number</a:t>
            </a:r>
          </a:p>
          <a:p>
            <a:pPr marL="10117" indent="0">
              <a:buNone/>
            </a:pPr>
            <a:r>
              <a:rPr lang="en-IN" dirty="0">
                <a:latin typeface="Century" panose="02040604050505020304" pitchFamily="18" charset="0"/>
                <a:sym typeface="Wingdings" panose="05000000000000000000" pitchFamily="2" charset="2"/>
              </a:rPr>
              <a:t>                  Name</a:t>
            </a:r>
          </a:p>
          <a:p>
            <a:pPr marL="10117" indent="0">
              <a:buNone/>
            </a:pPr>
            <a:r>
              <a:rPr lang="en-IN" dirty="0">
                <a:latin typeface="Century" panose="02040604050505020304" pitchFamily="18" charset="0"/>
                <a:sym typeface="Wingdings" panose="05000000000000000000" pitchFamily="2" charset="2"/>
              </a:rPr>
              <a:t>                  </a:t>
            </a:r>
            <a:r>
              <a:rPr lang="en-US" dirty="0">
                <a:latin typeface="Century" panose="02040604050505020304" pitchFamily="18" charset="0"/>
                <a:sym typeface="Wingdings" panose="05000000000000000000" pitchFamily="2" charset="2"/>
              </a:rPr>
              <a:t>Department (CSE/ECE/MECH/CIVIL)</a:t>
            </a:r>
          </a:p>
          <a:p>
            <a:pPr marL="10117" indent="0">
              <a:buNone/>
            </a:pPr>
            <a:r>
              <a:rPr lang="en-US" dirty="0">
                <a:latin typeface="Century" panose="02040604050505020304" pitchFamily="18" charset="0"/>
                <a:sym typeface="Wingdings" panose="05000000000000000000" pitchFamily="2" charset="2"/>
              </a:rPr>
              <a:t>                      AND</a:t>
            </a:r>
          </a:p>
          <a:p>
            <a:pPr marL="10117" indent="0">
              <a:buNone/>
            </a:pPr>
            <a:r>
              <a:rPr lang="en-US" dirty="0">
                <a:latin typeface="Century" panose="02040604050505020304" pitchFamily="18" charset="0"/>
                <a:sym typeface="Wingdings" panose="05000000000000000000" pitchFamily="2" charset="2"/>
              </a:rPr>
              <a:t>               &gt; Call check seats(Department)</a:t>
            </a:r>
          </a:p>
          <a:p>
            <a:pPr marL="10117" indent="0">
              <a:buNone/>
            </a:pPr>
            <a:r>
              <a:rPr lang="en-US" dirty="0">
                <a:latin typeface="Century" panose="02040604050505020304" pitchFamily="18" charset="0"/>
                <a:sym typeface="Wingdings" panose="05000000000000000000" pitchFamily="2" charset="2"/>
              </a:rPr>
              <a:t>               &gt; If seats not available  DISPLAY  “seats full” and GOTO step 4                  ,otherwise</a:t>
            </a:r>
          </a:p>
          <a:p>
            <a:pPr marL="10117" indent="0">
              <a:buNone/>
            </a:pPr>
            <a:r>
              <a:rPr lang="en-US" dirty="0">
                <a:latin typeface="Century" panose="02040604050505020304" pitchFamily="18" charset="0"/>
                <a:sym typeface="Wingdings" panose="05000000000000000000" pitchFamily="2" charset="2"/>
              </a:rPr>
              <a:t>               &gt; Store student details in s[count] and increment count</a:t>
            </a:r>
          </a:p>
          <a:p>
            <a:pPr marL="10117" indent="0">
              <a:buNone/>
            </a:pPr>
            <a:r>
              <a:rPr lang="en-US" dirty="0">
                <a:latin typeface="Century" panose="02040604050505020304" pitchFamily="18" charset="0"/>
                <a:sym typeface="Wingdings" panose="05000000000000000000" pitchFamily="2" charset="2"/>
              </a:rPr>
              <a:t>               &gt; Reduce seat by calling reduce seat(Department)</a:t>
            </a:r>
          </a:p>
          <a:p>
            <a:pPr marL="10117" indent="0">
              <a:buNone/>
            </a:pPr>
            <a:r>
              <a:rPr lang="en-US" dirty="0">
                <a:latin typeface="Century" panose="02040604050505020304" pitchFamily="18" charset="0"/>
                <a:sym typeface="Wingdings" panose="05000000000000000000" pitchFamily="2" charset="2"/>
              </a:rPr>
              <a:t>               &gt; DISPLAY “admissions successful”</a:t>
            </a:r>
          </a:p>
          <a:p>
            <a:pPr marL="10117" indent="0">
              <a:buNone/>
            </a:pPr>
            <a:r>
              <a:rPr lang="en-US" dirty="0">
                <a:latin typeface="Century" panose="02040604050505020304" pitchFamily="18" charset="0"/>
                <a:sym typeface="Wingdings" panose="05000000000000000000" pitchFamily="2" charset="2"/>
              </a:rPr>
              <a:t>               &gt; GOTO step 4</a:t>
            </a:r>
          </a:p>
          <a:p>
            <a:pPr marL="10117" indent="0">
              <a:buNone/>
            </a:pPr>
            <a:endParaRPr lang="en-US" dirty="0">
              <a:latin typeface="Century" panose="02040604050505020304" pitchFamily="18" charset="0"/>
              <a:sym typeface="Wingdings" panose="05000000000000000000" pitchFamily="2" charset="2"/>
            </a:endParaRPr>
          </a:p>
          <a:p>
            <a:pPr marL="10117" indent="0">
              <a:buNone/>
            </a:pPr>
            <a:r>
              <a:rPr lang="en-US" dirty="0">
                <a:latin typeface="Century" panose="02040604050505020304" pitchFamily="18" charset="0"/>
              </a:rPr>
              <a:t>Step 7:</a:t>
            </a:r>
            <a:r>
              <a:rPr lang="en-US" dirty="0">
                <a:latin typeface="Bahnschrift SemiLight" panose="020B0502040204020203" pitchFamily="34" charset="0"/>
              </a:rPr>
              <a:t> </a:t>
            </a:r>
            <a:r>
              <a:rPr lang="en-US" dirty="0">
                <a:latin typeface="Century" panose="02040604050505020304" pitchFamily="18" charset="0"/>
              </a:rPr>
              <a:t>FOR 2. DISPLAY ALL STUDENTS</a:t>
            </a:r>
          </a:p>
          <a:p>
            <a:pPr marL="10117" indent="0">
              <a:buNone/>
            </a:pPr>
            <a:r>
              <a:rPr lang="en-US" dirty="0">
                <a:latin typeface="Century" panose="02040604050505020304" pitchFamily="18" charset="0"/>
              </a:rPr>
              <a:t>                &gt; If count==0 DISPLAY “no student admitted”</a:t>
            </a:r>
          </a:p>
          <a:p>
            <a:pPr marL="10117" indent="0">
              <a:buNone/>
            </a:pPr>
            <a:r>
              <a:rPr lang="en-US" dirty="0">
                <a:latin typeface="Century" panose="02040604050505020304" pitchFamily="18" charset="0"/>
              </a:rPr>
              <a:t>                  otherwise</a:t>
            </a:r>
          </a:p>
          <a:p>
            <a:pPr marL="10117" indent="0">
              <a:buNone/>
            </a:pPr>
            <a:r>
              <a:rPr lang="en-IN" dirty="0">
                <a:latin typeface="Century" panose="02040604050505020304" pitchFamily="18" charset="0"/>
              </a:rPr>
              <a:t>                &gt; for each </a:t>
            </a:r>
            <a:r>
              <a:rPr lang="en-US" dirty="0">
                <a:latin typeface="Century" panose="02040604050505020304" pitchFamily="18" charset="0"/>
              </a:rPr>
              <a:t>student from 0 to present count PRINT inputs of </a:t>
            </a:r>
          </a:p>
          <a:p>
            <a:pPr marL="10117" indent="0">
              <a:buNone/>
            </a:pPr>
            <a:r>
              <a:rPr lang="en-US" dirty="0">
                <a:latin typeface="Century" panose="02040604050505020304" pitchFamily="18" charset="0"/>
              </a:rPr>
              <a:t>                  </a:t>
            </a:r>
            <a:r>
              <a:rPr lang="en-US" dirty="0">
                <a:latin typeface="Century" panose="02040604050505020304" pitchFamily="18" charset="0"/>
                <a:sym typeface="Wingdings" panose="05000000000000000000" pitchFamily="2" charset="2"/>
              </a:rPr>
              <a:t>Application  No</a:t>
            </a:r>
          </a:p>
          <a:p>
            <a:pPr marL="10117" indent="0">
              <a:buNone/>
            </a:pPr>
            <a:r>
              <a:rPr lang="en-US" dirty="0">
                <a:latin typeface="Century" panose="02040604050505020304" pitchFamily="18" charset="0"/>
                <a:sym typeface="Wingdings" panose="05000000000000000000" pitchFamily="2" charset="2"/>
              </a:rPr>
              <a:t>                  Name</a:t>
            </a:r>
          </a:p>
          <a:p>
            <a:pPr marL="10117" indent="0">
              <a:buNone/>
            </a:pPr>
            <a:r>
              <a:rPr lang="en-US" dirty="0">
                <a:latin typeface="Century" panose="02040604050505020304" pitchFamily="18" charset="0"/>
                <a:sym typeface="Wingdings" panose="05000000000000000000" pitchFamily="2" charset="2"/>
              </a:rPr>
              <a:t>                  Department</a:t>
            </a:r>
          </a:p>
          <a:p>
            <a:pPr marL="10117" indent="0">
              <a:buNone/>
            </a:pPr>
            <a:r>
              <a:rPr lang="en-US" dirty="0">
                <a:latin typeface="Century" panose="02040604050505020304" pitchFamily="18" charset="0"/>
                <a:sym typeface="Wingdings" panose="05000000000000000000" pitchFamily="2" charset="2"/>
              </a:rPr>
              <a:t>                &gt; GOTO step 4</a:t>
            </a:r>
          </a:p>
          <a:p>
            <a:endParaRPr lang="en-IN" dirty="0"/>
          </a:p>
        </p:txBody>
      </p:sp>
    </p:spTree>
    <p:extLst>
      <p:ext uri="{BB962C8B-B14F-4D97-AF65-F5344CB8AC3E}">
        <p14:creationId xmlns:p14="http://schemas.microsoft.com/office/powerpoint/2010/main" val="25737809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AA426D-2409-FF01-29D2-4EFAD420E047}"/>
              </a:ext>
            </a:extLst>
          </p:cNvPr>
          <p:cNvSpPr txBox="1"/>
          <p:nvPr/>
        </p:nvSpPr>
        <p:spPr>
          <a:xfrm>
            <a:off x="1545336" y="374904"/>
            <a:ext cx="8339328" cy="5909310"/>
          </a:xfrm>
          <a:prstGeom prst="rect">
            <a:avLst/>
          </a:prstGeom>
          <a:noFill/>
        </p:spPr>
        <p:txBody>
          <a:bodyPr wrap="square" rtlCol="0">
            <a:spAutoFit/>
          </a:bodyPr>
          <a:lstStyle/>
          <a:p>
            <a:pPr marL="10117" indent="0">
              <a:buNone/>
            </a:pPr>
            <a:r>
              <a:rPr lang="en-US" dirty="0">
                <a:latin typeface="Century" panose="02040604050505020304" pitchFamily="18" charset="0"/>
                <a:sym typeface="Wingdings" panose="05000000000000000000" pitchFamily="2" charset="2"/>
              </a:rPr>
              <a:t>Step 8: FOR 3. SEARCH STUDENT</a:t>
            </a:r>
          </a:p>
          <a:p>
            <a:pPr marL="10117" indent="0">
              <a:buNone/>
            </a:pPr>
            <a:r>
              <a:rPr lang="en-US" dirty="0">
                <a:latin typeface="Century" panose="02040604050505020304" pitchFamily="18" charset="0"/>
                <a:sym typeface="Wingdings" panose="05000000000000000000" pitchFamily="2" charset="2"/>
              </a:rPr>
              <a:t>                 &gt; Read Application No</a:t>
            </a:r>
          </a:p>
          <a:p>
            <a:pPr marL="10117" indent="0">
              <a:buNone/>
            </a:pPr>
            <a:r>
              <a:rPr lang="en-US" dirty="0">
                <a:latin typeface="Century" panose="02040604050505020304" pitchFamily="18" charset="0"/>
                <a:sym typeface="Wingdings" panose="05000000000000000000" pitchFamily="2" charset="2"/>
              </a:rPr>
              <a:t>                 &gt; For each student in list:</a:t>
            </a:r>
          </a:p>
          <a:p>
            <a:pPr marL="10117" indent="0">
              <a:buNone/>
            </a:pPr>
            <a:r>
              <a:rPr lang="en-US" dirty="0">
                <a:latin typeface="Century" panose="02040604050505020304" pitchFamily="18" charset="0"/>
                <a:sym typeface="Wingdings" panose="05000000000000000000" pitchFamily="2" charset="2"/>
              </a:rPr>
              <a:t>                  If s[</a:t>
            </a:r>
            <a:r>
              <a:rPr lang="en-US" dirty="0" err="1">
                <a:latin typeface="Century" panose="02040604050505020304" pitchFamily="18" charset="0"/>
                <a:sym typeface="Wingdings" panose="05000000000000000000" pitchFamily="2" charset="2"/>
              </a:rPr>
              <a:t>i</a:t>
            </a:r>
            <a:r>
              <a:rPr lang="en-US" dirty="0">
                <a:latin typeface="Century" panose="02040604050505020304" pitchFamily="18" charset="0"/>
                <a:sym typeface="Wingdings" panose="05000000000000000000" pitchFamily="2" charset="2"/>
              </a:rPr>
              <a:t>]  Application No matches:</a:t>
            </a:r>
          </a:p>
          <a:p>
            <a:pPr marL="10117" indent="0">
              <a:buNone/>
            </a:pPr>
            <a:r>
              <a:rPr lang="en-US" dirty="0">
                <a:latin typeface="Century" panose="02040604050505020304" pitchFamily="18" charset="0"/>
                <a:sym typeface="Wingdings" panose="05000000000000000000" pitchFamily="2" charset="2"/>
              </a:rPr>
              <a:t>                    DISPLAY student details</a:t>
            </a:r>
          </a:p>
          <a:p>
            <a:pPr marL="10117" indent="0">
              <a:buNone/>
            </a:pPr>
            <a:r>
              <a:rPr lang="en-US" dirty="0">
                <a:latin typeface="Century" panose="02040604050505020304" pitchFamily="18" charset="0"/>
                <a:sym typeface="Wingdings" panose="05000000000000000000" pitchFamily="2" charset="2"/>
              </a:rPr>
              <a:t>                    mark found=1</a:t>
            </a:r>
          </a:p>
          <a:p>
            <a:pPr marL="10117" indent="0">
              <a:buNone/>
            </a:pPr>
            <a:r>
              <a:rPr lang="en-US" dirty="0">
                <a:latin typeface="Century" panose="02040604050505020304" pitchFamily="18" charset="0"/>
                <a:sym typeface="Wingdings" panose="05000000000000000000" pitchFamily="2" charset="2"/>
              </a:rPr>
              <a:t>                    EXIT loop</a:t>
            </a:r>
          </a:p>
          <a:p>
            <a:pPr marL="10117" indent="0">
              <a:buNone/>
            </a:pPr>
            <a:r>
              <a:rPr lang="en-US" dirty="0">
                <a:latin typeface="Century" panose="02040604050505020304" pitchFamily="18" charset="0"/>
                <a:sym typeface="Wingdings" panose="05000000000000000000" pitchFamily="2" charset="2"/>
              </a:rPr>
              <a:t>                 If doesn’t match, print “No match found”</a:t>
            </a:r>
          </a:p>
          <a:p>
            <a:pPr marL="10117" indent="0">
              <a:buNone/>
            </a:pPr>
            <a:r>
              <a:rPr lang="en-US" dirty="0">
                <a:latin typeface="Century" panose="02040604050505020304" pitchFamily="18" charset="0"/>
                <a:sym typeface="Wingdings" panose="05000000000000000000" pitchFamily="2" charset="2"/>
              </a:rPr>
              <a:t>                 &gt; GOTO step 4</a:t>
            </a:r>
          </a:p>
          <a:p>
            <a:pPr marL="10117" indent="0">
              <a:buNone/>
            </a:pPr>
            <a:r>
              <a:rPr lang="en-US" dirty="0">
                <a:latin typeface="Century" panose="02040604050505020304" pitchFamily="18" charset="0"/>
                <a:sym typeface="Wingdings" panose="05000000000000000000" pitchFamily="2" charset="2"/>
              </a:rPr>
              <a:t> </a:t>
            </a:r>
          </a:p>
          <a:p>
            <a:pPr marL="10117" indent="0">
              <a:buNone/>
            </a:pPr>
            <a:r>
              <a:rPr lang="en-US" dirty="0">
                <a:latin typeface="Century" panose="02040604050505020304" pitchFamily="18" charset="0"/>
              </a:rPr>
              <a:t>Step 9:</a:t>
            </a:r>
            <a:r>
              <a:rPr lang="en-US" dirty="0">
                <a:latin typeface="Century" panose="02040604050505020304" pitchFamily="18" charset="0"/>
                <a:ea typeface="Artifakt Element Black" panose="020B0A03050000020004" pitchFamily="34" charset="0"/>
              </a:rPr>
              <a:t> FOR 4. SHOW REAMINING SEATS</a:t>
            </a:r>
          </a:p>
          <a:p>
            <a:pPr marL="10117" indent="0">
              <a:buNone/>
            </a:pPr>
            <a:r>
              <a:rPr lang="en-US" dirty="0">
                <a:latin typeface="Century" panose="02040604050505020304" pitchFamily="18" charset="0"/>
                <a:ea typeface="Artifakt Element Black" panose="020B0A03050000020004" pitchFamily="34" charset="0"/>
              </a:rPr>
              <a:t>                 </a:t>
            </a:r>
            <a:r>
              <a:rPr lang="en-US" dirty="0">
                <a:latin typeface="Century" panose="02040604050505020304" pitchFamily="18" charset="0"/>
                <a:ea typeface="Artifakt Element Black" panose="020B0A03050000020004" pitchFamily="34" charset="0"/>
                <a:sym typeface="Wingdings" panose="05000000000000000000" pitchFamily="2" charset="2"/>
              </a:rPr>
              <a:t></a:t>
            </a:r>
            <a:r>
              <a:rPr lang="en-US" dirty="0">
                <a:latin typeface="Century" panose="02040604050505020304" pitchFamily="18" charset="0"/>
                <a:ea typeface="Artifakt Element Black" panose="020B0A03050000020004" pitchFamily="34" charset="0"/>
              </a:rPr>
              <a:t>Print CSE,ECE,EEE,MECH,CIVIL, values</a:t>
            </a:r>
          </a:p>
          <a:p>
            <a:pPr marL="10117" indent="0">
              <a:buNone/>
            </a:pPr>
            <a:r>
              <a:rPr lang="en-US" dirty="0">
                <a:latin typeface="Century" panose="02040604050505020304" pitchFamily="18" charset="0"/>
                <a:ea typeface="Artifakt Element Black" panose="020B0A03050000020004" pitchFamily="34" charset="0"/>
              </a:rPr>
              <a:t>                 </a:t>
            </a:r>
            <a:r>
              <a:rPr lang="en-US" dirty="0">
                <a:latin typeface="Century" panose="02040604050505020304" pitchFamily="18" charset="0"/>
                <a:ea typeface="Artifakt Element Black" panose="020B0A03050000020004" pitchFamily="34" charset="0"/>
                <a:sym typeface="Wingdings" panose="05000000000000000000" pitchFamily="2" charset="2"/>
              </a:rPr>
              <a:t></a:t>
            </a:r>
            <a:r>
              <a:rPr lang="en-US" dirty="0">
                <a:latin typeface="Century" panose="02040604050505020304" pitchFamily="18" charset="0"/>
                <a:ea typeface="Artifakt Element Black" panose="020B0A03050000020004" pitchFamily="34" charset="0"/>
              </a:rPr>
              <a:t>GOTO step 4</a:t>
            </a:r>
          </a:p>
          <a:p>
            <a:pPr marL="10117" indent="0">
              <a:buNone/>
            </a:pPr>
            <a:endParaRPr lang="en-US" dirty="0">
              <a:latin typeface="Century" panose="02040604050505020304" pitchFamily="18" charset="0"/>
              <a:ea typeface="Artifakt Element Black" panose="020B0A03050000020004" pitchFamily="34" charset="0"/>
            </a:endParaRPr>
          </a:p>
          <a:p>
            <a:pPr marL="10117" indent="0">
              <a:buNone/>
            </a:pPr>
            <a:r>
              <a:rPr lang="en-US" dirty="0">
                <a:latin typeface="Century" panose="02040604050505020304" pitchFamily="18" charset="0"/>
                <a:ea typeface="Artifakt Element Black" panose="020B0A03050000020004" pitchFamily="34" charset="0"/>
              </a:rPr>
              <a:t>Step 10: For 5.EXIT</a:t>
            </a:r>
          </a:p>
          <a:p>
            <a:pPr marL="10117" indent="0">
              <a:buNone/>
            </a:pPr>
            <a:r>
              <a:rPr lang="en-US" dirty="0">
                <a:latin typeface="Century" panose="02040604050505020304" pitchFamily="18" charset="0"/>
                <a:ea typeface="Artifakt Element Black" panose="020B0A03050000020004" pitchFamily="34" charset="0"/>
              </a:rPr>
              <a:t>                  </a:t>
            </a:r>
            <a:r>
              <a:rPr lang="en-US" dirty="0">
                <a:latin typeface="Century" panose="02040604050505020304" pitchFamily="18" charset="0"/>
                <a:ea typeface="Artifakt Element Black" panose="020B0A03050000020004" pitchFamily="34" charset="0"/>
                <a:sym typeface="Wingdings" panose="05000000000000000000" pitchFamily="2" charset="2"/>
              </a:rPr>
              <a:t></a:t>
            </a:r>
            <a:r>
              <a:rPr lang="en-US" dirty="0">
                <a:latin typeface="Century" panose="02040604050505020304" pitchFamily="18" charset="0"/>
                <a:ea typeface="Artifakt Element Black" panose="020B0A03050000020004" pitchFamily="34" charset="0"/>
              </a:rPr>
              <a:t>DISPLAY “Exiting”</a:t>
            </a:r>
          </a:p>
          <a:p>
            <a:pPr marL="10117" indent="0">
              <a:buNone/>
            </a:pPr>
            <a:r>
              <a:rPr lang="en-US" dirty="0">
                <a:latin typeface="Century" panose="02040604050505020304" pitchFamily="18" charset="0"/>
                <a:ea typeface="Artifakt Element Black" panose="020B0A03050000020004" pitchFamily="34" charset="0"/>
              </a:rPr>
              <a:t>                  </a:t>
            </a:r>
            <a:r>
              <a:rPr lang="en-US" dirty="0">
                <a:latin typeface="Century" panose="02040604050505020304" pitchFamily="18" charset="0"/>
                <a:ea typeface="Artifakt Element Black" panose="020B0A03050000020004" pitchFamily="34" charset="0"/>
                <a:sym typeface="Wingdings" panose="05000000000000000000" pitchFamily="2" charset="2"/>
              </a:rPr>
              <a:t>EXIT loop</a:t>
            </a:r>
            <a:endParaRPr lang="en-US" dirty="0">
              <a:latin typeface="Century" panose="02040604050505020304" pitchFamily="18" charset="0"/>
              <a:ea typeface="Artifakt Element Black" panose="020B0A03050000020004" pitchFamily="34" charset="0"/>
            </a:endParaRPr>
          </a:p>
          <a:p>
            <a:pPr marL="10117" indent="0">
              <a:buNone/>
            </a:pPr>
            <a:r>
              <a:rPr lang="en-US" dirty="0">
                <a:latin typeface="Century" panose="02040604050505020304" pitchFamily="18" charset="0"/>
                <a:ea typeface="Artifakt Element Black" panose="020B0A03050000020004" pitchFamily="34" charset="0"/>
              </a:rPr>
              <a:t>                  </a:t>
            </a:r>
            <a:r>
              <a:rPr lang="en-US" dirty="0">
                <a:latin typeface="Century" panose="02040604050505020304" pitchFamily="18" charset="0"/>
                <a:ea typeface="Artifakt Element Black" panose="020B0A03050000020004" pitchFamily="34" charset="0"/>
                <a:sym typeface="Wingdings" panose="05000000000000000000" pitchFamily="2" charset="2"/>
              </a:rPr>
              <a:t>GOTO </a:t>
            </a:r>
            <a:r>
              <a:rPr lang="en-US">
                <a:latin typeface="Century" panose="02040604050505020304" pitchFamily="18" charset="0"/>
                <a:ea typeface="Artifakt Element Black" panose="020B0A03050000020004" pitchFamily="34" charset="0"/>
                <a:sym typeface="Wingdings" panose="05000000000000000000" pitchFamily="2" charset="2"/>
              </a:rPr>
              <a:t>step 4</a:t>
            </a:r>
            <a:endParaRPr lang="en-US" dirty="0">
              <a:latin typeface="Century" panose="02040604050505020304" pitchFamily="18" charset="0"/>
              <a:ea typeface="Artifakt Element Black" panose="020B0A03050000020004" pitchFamily="34" charset="0"/>
              <a:sym typeface="Wingdings" panose="05000000000000000000" pitchFamily="2" charset="2"/>
            </a:endParaRPr>
          </a:p>
          <a:p>
            <a:pPr marL="10117" indent="0">
              <a:buNone/>
            </a:pPr>
            <a:endParaRPr lang="en-US" dirty="0">
              <a:latin typeface="Century" panose="02040604050505020304" pitchFamily="18" charset="0"/>
              <a:ea typeface="Artifakt Element Black" panose="020B0A03050000020004" pitchFamily="34" charset="0"/>
              <a:sym typeface="Wingdings" panose="05000000000000000000" pitchFamily="2" charset="2"/>
            </a:endParaRPr>
          </a:p>
          <a:p>
            <a:pPr marL="10117" indent="0">
              <a:buNone/>
            </a:pPr>
            <a:r>
              <a:rPr lang="en-US" dirty="0">
                <a:latin typeface="Century" panose="02040604050505020304" pitchFamily="18" charset="0"/>
                <a:ea typeface="Artifakt Element Black" panose="020B0A03050000020004" pitchFamily="34" charset="0"/>
                <a:sym typeface="Wingdings" panose="05000000000000000000" pitchFamily="2" charset="2"/>
              </a:rPr>
              <a:t>Step 11: STOP</a:t>
            </a:r>
            <a:r>
              <a:rPr lang="en-US" dirty="0">
                <a:latin typeface="Century" panose="02040604050505020304" pitchFamily="18" charset="0"/>
                <a:sym typeface="Wingdings" panose="05000000000000000000" pitchFamily="2" charset="2"/>
              </a:rPr>
              <a:t>             </a:t>
            </a:r>
            <a:endParaRPr lang="en-IN" dirty="0">
              <a:latin typeface="Century" panose="02040604050505020304" pitchFamily="18" charset="0"/>
            </a:endParaRPr>
          </a:p>
          <a:p>
            <a:endParaRPr lang="en-IN" dirty="0"/>
          </a:p>
        </p:txBody>
      </p:sp>
    </p:spTree>
    <p:extLst>
      <p:ext uri="{BB962C8B-B14F-4D97-AF65-F5344CB8AC3E}">
        <p14:creationId xmlns:p14="http://schemas.microsoft.com/office/powerpoint/2010/main" val="26547276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9DE87A76-7B2D-188A-C197-A46CA9E67AF6}"/>
              </a:ext>
            </a:extLst>
          </p:cNvPr>
          <p:cNvSpPr/>
          <p:nvPr/>
        </p:nvSpPr>
        <p:spPr>
          <a:xfrm>
            <a:off x="5129784" y="704088"/>
            <a:ext cx="1563624" cy="713232"/>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 </a:t>
            </a:r>
            <a:r>
              <a:rPr lang="en-US" b="1" spc="50" dirty="0">
                <a:ln w="0"/>
                <a:solidFill>
                  <a:schemeClr val="bg2"/>
                </a:solidFill>
                <a:effectLst>
                  <a:innerShdw blurRad="63500" dist="50800" dir="13500000">
                    <a:srgbClr val="000000">
                      <a:alpha val="50000"/>
                    </a:srgbClr>
                  </a:innerShdw>
                </a:effectLst>
              </a:rPr>
              <a:t>START</a:t>
            </a:r>
            <a:endParaRPr lang="en-IN" dirty="0"/>
          </a:p>
        </p:txBody>
      </p:sp>
      <p:sp>
        <p:nvSpPr>
          <p:cNvPr id="3" name="TextBox 2">
            <a:extLst>
              <a:ext uri="{FF2B5EF4-FFF2-40B4-BE49-F238E27FC236}">
                <a16:creationId xmlns:a16="http://schemas.microsoft.com/office/drawing/2014/main" id="{EE3676E3-C3AC-C9EF-2162-A94A3A3AED97}"/>
              </a:ext>
            </a:extLst>
          </p:cNvPr>
          <p:cNvSpPr txBox="1"/>
          <p:nvPr/>
        </p:nvSpPr>
        <p:spPr>
          <a:xfrm>
            <a:off x="1408176" y="384048"/>
            <a:ext cx="2907792" cy="523220"/>
          </a:xfrm>
          <a:prstGeom prst="rect">
            <a:avLst/>
          </a:prstGeom>
          <a:noFill/>
        </p:spPr>
        <p:txBody>
          <a:bodyPr wrap="square" rtlCol="0">
            <a:spAutoFit/>
          </a:bodyPr>
          <a:lstStyle/>
          <a:p>
            <a:r>
              <a:rPr lang="en-US" sz="2800" dirty="0">
                <a:latin typeface="Algerian" panose="04020705040A02060702" pitchFamily="82" charset="0"/>
              </a:rPr>
              <a:t>FLOWCHART :</a:t>
            </a:r>
            <a:endParaRPr lang="en-IN" sz="2800" dirty="0">
              <a:latin typeface="Algerian" panose="04020705040A02060702" pitchFamily="82" charset="0"/>
            </a:endParaRPr>
          </a:p>
        </p:txBody>
      </p:sp>
      <p:sp>
        <p:nvSpPr>
          <p:cNvPr id="4" name="Rectangle 3">
            <a:extLst>
              <a:ext uri="{FF2B5EF4-FFF2-40B4-BE49-F238E27FC236}">
                <a16:creationId xmlns:a16="http://schemas.microsoft.com/office/drawing/2014/main" id="{81EDF8CC-97C8-6667-07F4-CAF5C39C2F93}"/>
              </a:ext>
            </a:extLst>
          </p:cNvPr>
          <p:cNvSpPr/>
          <p:nvPr/>
        </p:nvSpPr>
        <p:spPr>
          <a:xfrm>
            <a:off x="4347972" y="2066544"/>
            <a:ext cx="3118104" cy="612648"/>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b="1" spc="50" dirty="0">
                <a:ln w="0"/>
                <a:solidFill>
                  <a:schemeClr val="bg2"/>
                </a:solidFill>
                <a:effectLst>
                  <a:innerShdw blurRad="63500" dist="50800" dir="13500000">
                    <a:srgbClr val="000000">
                      <a:alpha val="50000"/>
                    </a:srgbClr>
                  </a:innerShdw>
                </a:effectLst>
              </a:rPr>
              <a:t>Initialize values for departments</a:t>
            </a:r>
            <a:endParaRPr lang="en-IN" b="1" spc="50" dirty="0">
              <a:ln w="0"/>
              <a:solidFill>
                <a:schemeClr val="bg2"/>
              </a:solidFill>
              <a:effectLst>
                <a:innerShdw blurRad="63500" dist="50800" dir="13500000">
                  <a:srgbClr val="000000">
                    <a:alpha val="50000"/>
                  </a:srgbClr>
                </a:innerShdw>
              </a:effectLst>
            </a:endParaRPr>
          </a:p>
        </p:txBody>
      </p:sp>
      <p:cxnSp>
        <p:nvCxnSpPr>
          <p:cNvPr id="6" name="Straight Arrow Connector 5">
            <a:extLst>
              <a:ext uri="{FF2B5EF4-FFF2-40B4-BE49-F238E27FC236}">
                <a16:creationId xmlns:a16="http://schemas.microsoft.com/office/drawing/2014/main" id="{57B87B78-B42E-210A-52D2-6F5DCCA0CD6B}"/>
              </a:ext>
            </a:extLst>
          </p:cNvPr>
          <p:cNvCxnSpPr>
            <a:stCxn id="2" idx="4"/>
          </p:cNvCxnSpPr>
          <p:nvPr/>
        </p:nvCxnSpPr>
        <p:spPr>
          <a:xfrm flipH="1">
            <a:off x="5907024" y="1417320"/>
            <a:ext cx="4572" cy="649224"/>
          </a:xfrm>
          <a:prstGeom prst="straightConnector1">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8" name="Straight Arrow Connector 7">
            <a:extLst>
              <a:ext uri="{FF2B5EF4-FFF2-40B4-BE49-F238E27FC236}">
                <a16:creationId xmlns:a16="http://schemas.microsoft.com/office/drawing/2014/main" id="{C529FB78-839B-5E50-6548-7E579943FB02}"/>
              </a:ext>
            </a:extLst>
          </p:cNvPr>
          <p:cNvCxnSpPr/>
          <p:nvPr/>
        </p:nvCxnSpPr>
        <p:spPr>
          <a:xfrm>
            <a:off x="5907024" y="2697480"/>
            <a:ext cx="0" cy="731520"/>
          </a:xfrm>
          <a:prstGeom prst="straightConnector1">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9" name="Rectangle 8">
            <a:extLst>
              <a:ext uri="{FF2B5EF4-FFF2-40B4-BE49-F238E27FC236}">
                <a16:creationId xmlns:a16="http://schemas.microsoft.com/office/drawing/2014/main" id="{A26590AC-BD87-3833-298F-6CC9648F8409}"/>
              </a:ext>
            </a:extLst>
          </p:cNvPr>
          <p:cNvSpPr/>
          <p:nvPr/>
        </p:nvSpPr>
        <p:spPr>
          <a:xfrm>
            <a:off x="4727448" y="3447288"/>
            <a:ext cx="2423160" cy="9144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b="1" spc="50" dirty="0">
                <a:ln w="0"/>
                <a:solidFill>
                  <a:schemeClr val="bg2"/>
                </a:solidFill>
                <a:effectLst>
                  <a:innerShdw blurRad="63500" dist="50800" dir="13500000">
                    <a:srgbClr val="000000">
                      <a:alpha val="50000"/>
                    </a:srgbClr>
                  </a:innerShdw>
                </a:effectLst>
              </a:rPr>
              <a:t>create</a:t>
            </a:r>
            <a:r>
              <a:rPr lang="en-IN" b="1" spc="50" dirty="0">
                <a:ln w="0"/>
                <a:solidFill>
                  <a:schemeClr val="bg2"/>
                </a:solidFill>
                <a:effectLst>
                  <a:innerShdw blurRad="63500" dist="50800" dir="13500000">
                    <a:srgbClr val="000000">
                      <a:alpha val="50000"/>
                    </a:srgbClr>
                  </a:innerShdw>
                </a:effectLst>
              </a:rPr>
              <a:t> empty array set count=0</a:t>
            </a:r>
            <a:endParaRPr lang="en-US" b="1" spc="50" dirty="0">
              <a:ln w="0"/>
              <a:solidFill>
                <a:schemeClr val="bg2"/>
              </a:solidFill>
              <a:effectLst>
                <a:innerShdw blurRad="63500" dist="50800" dir="13500000">
                  <a:srgbClr val="000000">
                    <a:alpha val="50000"/>
                  </a:srgbClr>
                </a:innerShdw>
              </a:effectLst>
            </a:endParaRPr>
          </a:p>
        </p:txBody>
      </p:sp>
      <p:cxnSp>
        <p:nvCxnSpPr>
          <p:cNvPr id="11" name="Straight Arrow Connector 10">
            <a:extLst>
              <a:ext uri="{FF2B5EF4-FFF2-40B4-BE49-F238E27FC236}">
                <a16:creationId xmlns:a16="http://schemas.microsoft.com/office/drawing/2014/main" id="{3351F022-61CA-6F49-E151-C5A1121587BC}"/>
              </a:ext>
            </a:extLst>
          </p:cNvPr>
          <p:cNvCxnSpPr/>
          <p:nvPr/>
        </p:nvCxnSpPr>
        <p:spPr>
          <a:xfrm>
            <a:off x="5907024" y="4361688"/>
            <a:ext cx="0" cy="621792"/>
          </a:xfrm>
          <a:prstGeom prst="straightConnector1">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 name="Flowchart: Decision 11">
            <a:extLst>
              <a:ext uri="{FF2B5EF4-FFF2-40B4-BE49-F238E27FC236}">
                <a16:creationId xmlns:a16="http://schemas.microsoft.com/office/drawing/2014/main" id="{AF7252CC-FFD7-9360-0EC5-AE56E7BA2757}"/>
              </a:ext>
            </a:extLst>
          </p:cNvPr>
          <p:cNvSpPr/>
          <p:nvPr/>
        </p:nvSpPr>
        <p:spPr>
          <a:xfrm>
            <a:off x="4542283" y="4983480"/>
            <a:ext cx="2729482" cy="1097280"/>
          </a:xfrm>
          <a:prstGeom prst="flowChartDecision">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b="1" spc="50" dirty="0">
                <a:ln w="0"/>
                <a:solidFill>
                  <a:schemeClr val="bg2"/>
                </a:solidFill>
                <a:effectLst>
                  <a:innerShdw blurRad="63500" dist="50800" dir="13500000">
                    <a:srgbClr val="000000">
                      <a:alpha val="50000"/>
                    </a:srgbClr>
                  </a:innerShdw>
                </a:effectLst>
              </a:rPr>
              <a:t> Display Menu</a:t>
            </a:r>
            <a:endParaRPr lang="en-IN" b="1" spc="50" dirty="0">
              <a:ln w="0"/>
              <a:solidFill>
                <a:schemeClr val="bg2"/>
              </a:solidFill>
              <a:effectLst>
                <a:innerShdw blurRad="63500" dist="50800" dir="13500000">
                  <a:srgbClr val="000000">
                    <a:alpha val="50000"/>
                  </a:srgbClr>
                </a:innerShdw>
              </a:effectLst>
            </a:endParaRPr>
          </a:p>
        </p:txBody>
      </p:sp>
      <p:cxnSp>
        <p:nvCxnSpPr>
          <p:cNvPr id="14" name="Straight Connector 13">
            <a:extLst>
              <a:ext uri="{FF2B5EF4-FFF2-40B4-BE49-F238E27FC236}">
                <a16:creationId xmlns:a16="http://schemas.microsoft.com/office/drawing/2014/main" id="{7E0117FF-082B-7057-914F-626EC816C76D}"/>
              </a:ext>
            </a:extLst>
          </p:cNvPr>
          <p:cNvCxnSpPr>
            <a:cxnSpLocks/>
            <a:stCxn id="12" idx="1"/>
          </p:cNvCxnSpPr>
          <p:nvPr/>
        </p:nvCxnSpPr>
        <p:spPr>
          <a:xfrm flipH="1">
            <a:off x="1901952" y="5532120"/>
            <a:ext cx="2640331" cy="0"/>
          </a:xfrm>
          <a:prstGeom prst="line">
            <a:avLst/>
          </a:prstGeom>
        </p:spPr>
        <p:style>
          <a:lnRef idx="3">
            <a:schemeClr val="accent4"/>
          </a:lnRef>
          <a:fillRef idx="0">
            <a:schemeClr val="accent4"/>
          </a:fillRef>
          <a:effectRef idx="2">
            <a:schemeClr val="accent4"/>
          </a:effectRef>
          <a:fontRef idx="minor">
            <a:schemeClr val="tx1"/>
          </a:fontRef>
        </p:style>
      </p:cxnSp>
      <p:cxnSp>
        <p:nvCxnSpPr>
          <p:cNvPr id="17" name="Straight Connector 16">
            <a:extLst>
              <a:ext uri="{FF2B5EF4-FFF2-40B4-BE49-F238E27FC236}">
                <a16:creationId xmlns:a16="http://schemas.microsoft.com/office/drawing/2014/main" id="{E6D7790A-0A60-0550-8B64-23E3BFF77008}"/>
              </a:ext>
            </a:extLst>
          </p:cNvPr>
          <p:cNvCxnSpPr>
            <a:stCxn id="12" idx="3"/>
          </p:cNvCxnSpPr>
          <p:nvPr/>
        </p:nvCxnSpPr>
        <p:spPr>
          <a:xfrm>
            <a:off x="7271765" y="5532120"/>
            <a:ext cx="2996947" cy="0"/>
          </a:xfrm>
          <a:prstGeom prst="line">
            <a:avLst/>
          </a:prstGeom>
        </p:spPr>
        <p:style>
          <a:lnRef idx="3">
            <a:schemeClr val="accent4"/>
          </a:lnRef>
          <a:fillRef idx="0">
            <a:schemeClr val="accent4"/>
          </a:fillRef>
          <a:effectRef idx="2">
            <a:schemeClr val="accent4"/>
          </a:effectRef>
          <a:fontRef idx="minor">
            <a:schemeClr val="tx1"/>
          </a:fontRef>
        </p:style>
      </p:cxnSp>
      <p:cxnSp>
        <p:nvCxnSpPr>
          <p:cNvPr id="22" name="Straight Connector 21">
            <a:extLst>
              <a:ext uri="{FF2B5EF4-FFF2-40B4-BE49-F238E27FC236}">
                <a16:creationId xmlns:a16="http://schemas.microsoft.com/office/drawing/2014/main" id="{A771108D-542C-787F-2D45-ADB300B28E99}"/>
              </a:ext>
            </a:extLst>
          </p:cNvPr>
          <p:cNvCxnSpPr/>
          <p:nvPr/>
        </p:nvCxnSpPr>
        <p:spPr>
          <a:xfrm>
            <a:off x="1901952" y="5532120"/>
            <a:ext cx="0" cy="1325880"/>
          </a:xfrm>
          <a:prstGeom prst="line">
            <a:avLst/>
          </a:prstGeom>
        </p:spPr>
        <p:style>
          <a:lnRef idx="3">
            <a:schemeClr val="accent4"/>
          </a:lnRef>
          <a:fillRef idx="0">
            <a:schemeClr val="accent4"/>
          </a:fillRef>
          <a:effectRef idx="2">
            <a:schemeClr val="accent4"/>
          </a:effectRef>
          <a:fontRef idx="minor">
            <a:schemeClr val="tx1"/>
          </a:fontRef>
        </p:style>
      </p:cxnSp>
      <p:cxnSp>
        <p:nvCxnSpPr>
          <p:cNvPr id="24" name="Straight Connector 23">
            <a:extLst>
              <a:ext uri="{FF2B5EF4-FFF2-40B4-BE49-F238E27FC236}">
                <a16:creationId xmlns:a16="http://schemas.microsoft.com/office/drawing/2014/main" id="{C1F537F1-6D6C-9E5C-47AA-F067BAB7846F}"/>
              </a:ext>
            </a:extLst>
          </p:cNvPr>
          <p:cNvCxnSpPr/>
          <p:nvPr/>
        </p:nvCxnSpPr>
        <p:spPr>
          <a:xfrm>
            <a:off x="3776472" y="5532120"/>
            <a:ext cx="0" cy="1325880"/>
          </a:xfrm>
          <a:prstGeom prst="line">
            <a:avLst/>
          </a:prstGeom>
        </p:spPr>
        <p:style>
          <a:lnRef idx="3">
            <a:schemeClr val="accent4"/>
          </a:lnRef>
          <a:fillRef idx="0">
            <a:schemeClr val="accent4"/>
          </a:fillRef>
          <a:effectRef idx="2">
            <a:schemeClr val="accent4"/>
          </a:effectRef>
          <a:fontRef idx="minor">
            <a:schemeClr val="tx1"/>
          </a:fontRef>
        </p:style>
      </p:cxnSp>
      <p:cxnSp>
        <p:nvCxnSpPr>
          <p:cNvPr id="26" name="Straight Connector 25">
            <a:extLst>
              <a:ext uri="{FF2B5EF4-FFF2-40B4-BE49-F238E27FC236}">
                <a16:creationId xmlns:a16="http://schemas.microsoft.com/office/drawing/2014/main" id="{029F74D9-B1AE-FAE9-21AC-0597BD15293A}"/>
              </a:ext>
            </a:extLst>
          </p:cNvPr>
          <p:cNvCxnSpPr>
            <a:stCxn id="12" idx="2"/>
          </p:cNvCxnSpPr>
          <p:nvPr/>
        </p:nvCxnSpPr>
        <p:spPr>
          <a:xfrm>
            <a:off x="5907024" y="6080760"/>
            <a:ext cx="0" cy="777240"/>
          </a:xfrm>
          <a:prstGeom prst="line">
            <a:avLst/>
          </a:prstGeom>
        </p:spPr>
        <p:style>
          <a:lnRef idx="3">
            <a:schemeClr val="accent4"/>
          </a:lnRef>
          <a:fillRef idx="0">
            <a:schemeClr val="accent4"/>
          </a:fillRef>
          <a:effectRef idx="2">
            <a:schemeClr val="accent4"/>
          </a:effectRef>
          <a:fontRef idx="minor">
            <a:schemeClr val="tx1"/>
          </a:fontRef>
        </p:style>
      </p:cxnSp>
      <p:cxnSp>
        <p:nvCxnSpPr>
          <p:cNvPr id="28" name="Straight Connector 27">
            <a:extLst>
              <a:ext uri="{FF2B5EF4-FFF2-40B4-BE49-F238E27FC236}">
                <a16:creationId xmlns:a16="http://schemas.microsoft.com/office/drawing/2014/main" id="{27162F57-0823-B332-1E6E-23192BD02136}"/>
              </a:ext>
            </a:extLst>
          </p:cNvPr>
          <p:cNvCxnSpPr/>
          <p:nvPr/>
        </p:nvCxnSpPr>
        <p:spPr>
          <a:xfrm>
            <a:off x="8110728" y="5532120"/>
            <a:ext cx="0" cy="1325880"/>
          </a:xfrm>
          <a:prstGeom prst="line">
            <a:avLst/>
          </a:prstGeom>
        </p:spPr>
        <p:style>
          <a:lnRef idx="3">
            <a:schemeClr val="accent4"/>
          </a:lnRef>
          <a:fillRef idx="0">
            <a:schemeClr val="accent4"/>
          </a:fillRef>
          <a:effectRef idx="2">
            <a:schemeClr val="accent4"/>
          </a:effectRef>
          <a:fontRef idx="minor">
            <a:schemeClr val="tx1"/>
          </a:fontRef>
        </p:style>
      </p:cxnSp>
      <p:cxnSp>
        <p:nvCxnSpPr>
          <p:cNvPr id="30" name="Straight Connector 29">
            <a:extLst>
              <a:ext uri="{FF2B5EF4-FFF2-40B4-BE49-F238E27FC236}">
                <a16:creationId xmlns:a16="http://schemas.microsoft.com/office/drawing/2014/main" id="{CF00DAA9-86AE-9BA6-357F-EF0F1103DB67}"/>
              </a:ext>
            </a:extLst>
          </p:cNvPr>
          <p:cNvCxnSpPr/>
          <p:nvPr/>
        </p:nvCxnSpPr>
        <p:spPr>
          <a:xfrm>
            <a:off x="10268712" y="5532120"/>
            <a:ext cx="0" cy="1325880"/>
          </a:xfrm>
          <a:prstGeom prst="line">
            <a:avLst/>
          </a:prstGeom>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30796051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lowchart: Decision 12">
            <a:extLst>
              <a:ext uri="{FF2B5EF4-FFF2-40B4-BE49-F238E27FC236}">
                <a16:creationId xmlns:a16="http://schemas.microsoft.com/office/drawing/2014/main" id="{24E243FA-2AD1-CB1C-2B91-8A23D8770ACB}"/>
              </a:ext>
            </a:extLst>
          </p:cNvPr>
          <p:cNvSpPr/>
          <p:nvPr/>
        </p:nvSpPr>
        <p:spPr>
          <a:xfrm>
            <a:off x="4233674" y="1632203"/>
            <a:ext cx="1536187" cy="594360"/>
          </a:xfrm>
          <a:prstGeom prst="flowChartDecision">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t>Count&gt;=Max</a:t>
            </a:r>
            <a:endParaRPr lang="en-IN" sz="1400" dirty="0"/>
          </a:p>
        </p:txBody>
      </p:sp>
      <p:cxnSp>
        <p:nvCxnSpPr>
          <p:cNvPr id="19" name="Straight Connector 18">
            <a:extLst>
              <a:ext uri="{FF2B5EF4-FFF2-40B4-BE49-F238E27FC236}">
                <a16:creationId xmlns:a16="http://schemas.microsoft.com/office/drawing/2014/main" id="{0837BDF5-807B-8188-6286-DC3C2A65A132}"/>
              </a:ext>
            </a:extLst>
          </p:cNvPr>
          <p:cNvCxnSpPr>
            <a:cxnSpLocks/>
          </p:cNvCxnSpPr>
          <p:nvPr/>
        </p:nvCxnSpPr>
        <p:spPr>
          <a:xfrm>
            <a:off x="2231136" y="0"/>
            <a:ext cx="0" cy="1060704"/>
          </a:xfrm>
          <a:prstGeom prst="line">
            <a:avLst/>
          </a:prstGeom>
        </p:spPr>
        <p:style>
          <a:lnRef idx="3">
            <a:schemeClr val="accent4"/>
          </a:lnRef>
          <a:fillRef idx="0">
            <a:schemeClr val="accent4"/>
          </a:fillRef>
          <a:effectRef idx="2">
            <a:schemeClr val="accent4"/>
          </a:effectRef>
          <a:fontRef idx="minor">
            <a:schemeClr val="tx1"/>
          </a:fontRef>
        </p:style>
      </p:cxnSp>
      <p:cxnSp>
        <p:nvCxnSpPr>
          <p:cNvPr id="21" name="Straight Connector 20">
            <a:extLst>
              <a:ext uri="{FF2B5EF4-FFF2-40B4-BE49-F238E27FC236}">
                <a16:creationId xmlns:a16="http://schemas.microsoft.com/office/drawing/2014/main" id="{253CBA55-6ECC-2498-351C-E3A93678251F}"/>
              </a:ext>
            </a:extLst>
          </p:cNvPr>
          <p:cNvCxnSpPr>
            <a:cxnSpLocks/>
          </p:cNvCxnSpPr>
          <p:nvPr/>
        </p:nvCxnSpPr>
        <p:spPr>
          <a:xfrm>
            <a:off x="3776472" y="0"/>
            <a:ext cx="0" cy="795528"/>
          </a:xfrm>
          <a:prstGeom prst="line">
            <a:avLst/>
          </a:prstGeom>
        </p:spPr>
        <p:style>
          <a:lnRef idx="3">
            <a:schemeClr val="accent4"/>
          </a:lnRef>
          <a:fillRef idx="0">
            <a:schemeClr val="accent4"/>
          </a:fillRef>
          <a:effectRef idx="2">
            <a:schemeClr val="accent4"/>
          </a:effectRef>
          <a:fontRef idx="minor">
            <a:schemeClr val="tx1"/>
          </a:fontRef>
        </p:style>
      </p:cxnSp>
      <p:cxnSp>
        <p:nvCxnSpPr>
          <p:cNvPr id="23" name="Straight Connector 22">
            <a:extLst>
              <a:ext uri="{FF2B5EF4-FFF2-40B4-BE49-F238E27FC236}">
                <a16:creationId xmlns:a16="http://schemas.microsoft.com/office/drawing/2014/main" id="{E6A38B81-10D5-2BB5-17C1-1E7A50A93BE1}"/>
              </a:ext>
            </a:extLst>
          </p:cNvPr>
          <p:cNvCxnSpPr>
            <a:cxnSpLocks/>
          </p:cNvCxnSpPr>
          <p:nvPr/>
        </p:nvCxnSpPr>
        <p:spPr>
          <a:xfrm>
            <a:off x="5394960" y="0"/>
            <a:ext cx="0" cy="640080"/>
          </a:xfrm>
          <a:prstGeom prst="line">
            <a:avLst/>
          </a:prstGeom>
        </p:spPr>
        <p:style>
          <a:lnRef idx="3">
            <a:schemeClr val="accent4"/>
          </a:lnRef>
          <a:fillRef idx="0">
            <a:schemeClr val="accent4"/>
          </a:fillRef>
          <a:effectRef idx="2">
            <a:schemeClr val="accent4"/>
          </a:effectRef>
          <a:fontRef idx="minor">
            <a:schemeClr val="tx1"/>
          </a:fontRef>
        </p:style>
      </p:cxnSp>
      <p:cxnSp>
        <p:nvCxnSpPr>
          <p:cNvPr id="26" name="Straight Connector 25">
            <a:extLst>
              <a:ext uri="{FF2B5EF4-FFF2-40B4-BE49-F238E27FC236}">
                <a16:creationId xmlns:a16="http://schemas.microsoft.com/office/drawing/2014/main" id="{A569BCE7-E200-FFA8-6C5E-08BF27C4603F}"/>
              </a:ext>
            </a:extLst>
          </p:cNvPr>
          <p:cNvCxnSpPr>
            <a:cxnSpLocks/>
          </p:cNvCxnSpPr>
          <p:nvPr/>
        </p:nvCxnSpPr>
        <p:spPr>
          <a:xfrm>
            <a:off x="7306056" y="0"/>
            <a:ext cx="0" cy="502920"/>
          </a:xfrm>
          <a:prstGeom prst="line">
            <a:avLst/>
          </a:prstGeom>
        </p:spPr>
        <p:style>
          <a:lnRef idx="3">
            <a:schemeClr val="accent4"/>
          </a:lnRef>
          <a:fillRef idx="0">
            <a:schemeClr val="accent4"/>
          </a:fillRef>
          <a:effectRef idx="2">
            <a:schemeClr val="accent4"/>
          </a:effectRef>
          <a:fontRef idx="minor">
            <a:schemeClr val="tx1"/>
          </a:fontRef>
        </p:style>
      </p:cxnSp>
      <p:cxnSp>
        <p:nvCxnSpPr>
          <p:cNvPr id="28" name="Straight Connector 27">
            <a:extLst>
              <a:ext uri="{FF2B5EF4-FFF2-40B4-BE49-F238E27FC236}">
                <a16:creationId xmlns:a16="http://schemas.microsoft.com/office/drawing/2014/main" id="{CB0CF640-4F55-B161-609D-3D03D853C176}"/>
              </a:ext>
            </a:extLst>
          </p:cNvPr>
          <p:cNvCxnSpPr>
            <a:cxnSpLocks/>
          </p:cNvCxnSpPr>
          <p:nvPr/>
        </p:nvCxnSpPr>
        <p:spPr>
          <a:xfrm>
            <a:off x="9198864" y="0"/>
            <a:ext cx="0" cy="320040"/>
          </a:xfrm>
          <a:prstGeom prst="line">
            <a:avLst/>
          </a:prstGeom>
        </p:spPr>
        <p:style>
          <a:lnRef idx="3">
            <a:schemeClr val="accent4"/>
          </a:lnRef>
          <a:fillRef idx="0">
            <a:schemeClr val="accent4"/>
          </a:fillRef>
          <a:effectRef idx="2">
            <a:schemeClr val="accent4"/>
          </a:effectRef>
          <a:fontRef idx="minor">
            <a:schemeClr val="tx1"/>
          </a:fontRef>
        </p:style>
      </p:cxnSp>
      <p:cxnSp>
        <p:nvCxnSpPr>
          <p:cNvPr id="30" name="Straight Connector 29">
            <a:extLst>
              <a:ext uri="{FF2B5EF4-FFF2-40B4-BE49-F238E27FC236}">
                <a16:creationId xmlns:a16="http://schemas.microsoft.com/office/drawing/2014/main" id="{E73F2AFF-A3A3-299E-2532-701CFB8D30A0}"/>
              </a:ext>
            </a:extLst>
          </p:cNvPr>
          <p:cNvCxnSpPr/>
          <p:nvPr/>
        </p:nvCxnSpPr>
        <p:spPr>
          <a:xfrm>
            <a:off x="3776472" y="795528"/>
            <a:ext cx="5422392" cy="0"/>
          </a:xfrm>
          <a:prstGeom prst="line">
            <a:avLst/>
          </a:prstGeom>
        </p:spPr>
        <p:style>
          <a:lnRef idx="3">
            <a:schemeClr val="accent4"/>
          </a:lnRef>
          <a:fillRef idx="0">
            <a:schemeClr val="accent4"/>
          </a:fillRef>
          <a:effectRef idx="2">
            <a:schemeClr val="accent4"/>
          </a:effectRef>
          <a:fontRef idx="minor">
            <a:schemeClr val="tx1"/>
          </a:fontRef>
        </p:style>
      </p:cxnSp>
      <p:cxnSp>
        <p:nvCxnSpPr>
          <p:cNvPr id="36" name="Straight Connector 35">
            <a:extLst>
              <a:ext uri="{FF2B5EF4-FFF2-40B4-BE49-F238E27FC236}">
                <a16:creationId xmlns:a16="http://schemas.microsoft.com/office/drawing/2014/main" id="{2BE5385A-71E0-B429-8599-75005B3F9AAA}"/>
              </a:ext>
            </a:extLst>
          </p:cNvPr>
          <p:cNvCxnSpPr>
            <a:cxnSpLocks/>
          </p:cNvCxnSpPr>
          <p:nvPr/>
        </p:nvCxnSpPr>
        <p:spPr>
          <a:xfrm>
            <a:off x="5394960" y="640080"/>
            <a:ext cx="4087368" cy="0"/>
          </a:xfrm>
          <a:prstGeom prst="line">
            <a:avLst/>
          </a:prstGeom>
          <a:ln>
            <a:solidFill>
              <a:schemeClr val="tx2">
                <a:lumMod val="90000"/>
              </a:schemeClr>
            </a:solidFill>
          </a:ln>
        </p:spPr>
        <p:style>
          <a:lnRef idx="3">
            <a:schemeClr val="accent4"/>
          </a:lnRef>
          <a:fillRef idx="0">
            <a:schemeClr val="accent4"/>
          </a:fillRef>
          <a:effectRef idx="2">
            <a:schemeClr val="accent4"/>
          </a:effectRef>
          <a:fontRef idx="minor">
            <a:schemeClr val="tx1"/>
          </a:fontRef>
        </p:style>
      </p:cxnSp>
      <p:cxnSp>
        <p:nvCxnSpPr>
          <p:cNvPr id="38" name="Straight Connector 37">
            <a:extLst>
              <a:ext uri="{FF2B5EF4-FFF2-40B4-BE49-F238E27FC236}">
                <a16:creationId xmlns:a16="http://schemas.microsoft.com/office/drawing/2014/main" id="{6007CA4F-6DBB-C729-AA4C-A75E241738FE}"/>
              </a:ext>
            </a:extLst>
          </p:cNvPr>
          <p:cNvCxnSpPr/>
          <p:nvPr/>
        </p:nvCxnSpPr>
        <p:spPr>
          <a:xfrm>
            <a:off x="7306056" y="502920"/>
            <a:ext cx="2542032" cy="0"/>
          </a:xfrm>
          <a:prstGeom prst="line">
            <a:avLst/>
          </a:prstGeom>
        </p:spPr>
        <p:style>
          <a:lnRef idx="3">
            <a:schemeClr val="accent4"/>
          </a:lnRef>
          <a:fillRef idx="0">
            <a:schemeClr val="accent4"/>
          </a:fillRef>
          <a:effectRef idx="2">
            <a:schemeClr val="accent4"/>
          </a:effectRef>
          <a:fontRef idx="minor">
            <a:schemeClr val="tx1"/>
          </a:fontRef>
        </p:style>
      </p:cxnSp>
      <p:cxnSp>
        <p:nvCxnSpPr>
          <p:cNvPr id="40" name="Straight Connector 39">
            <a:extLst>
              <a:ext uri="{FF2B5EF4-FFF2-40B4-BE49-F238E27FC236}">
                <a16:creationId xmlns:a16="http://schemas.microsoft.com/office/drawing/2014/main" id="{DD7D94E1-8612-5C6F-211F-BC28368D8424}"/>
              </a:ext>
            </a:extLst>
          </p:cNvPr>
          <p:cNvCxnSpPr/>
          <p:nvPr/>
        </p:nvCxnSpPr>
        <p:spPr>
          <a:xfrm>
            <a:off x="9198864" y="320040"/>
            <a:ext cx="1060704" cy="0"/>
          </a:xfrm>
          <a:prstGeom prst="line">
            <a:avLst/>
          </a:prstGeom>
        </p:spPr>
        <p:style>
          <a:lnRef idx="3">
            <a:schemeClr val="accent4"/>
          </a:lnRef>
          <a:fillRef idx="0">
            <a:schemeClr val="accent4"/>
          </a:fillRef>
          <a:effectRef idx="2">
            <a:schemeClr val="accent4"/>
          </a:effectRef>
          <a:fontRef idx="minor">
            <a:schemeClr val="tx1"/>
          </a:fontRef>
        </p:style>
      </p:cxnSp>
      <p:cxnSp>
        <p:nvCxnSpPr>
          <p:cNvPr id="43" name="Straight Connector 42">
            <a:extLst>
              <a:ext uri="{FF2B5EF4-FFF2-40B4-BE49-F238E27FC236}">
                <a16:creationId xmlns:a16="http://schemas.microsoft.com/office/drawing/2014/main" id="{7B93FD8D-8475-E8A1-B8A0-8BD5576F136B}"/>
              </a:ext>
            </a:extLst>
          </p:cNvPr>
          <p:cNvCxnSpPr>
            <a:cxnSpLocks/>
          </p:cNvCxnSpPr>
          <p:nvPr/>
        </p:nvCxnSpPr>
        <p:spPr>
          <a:xfrm>
            <a:off x="9198864" y="786384"/>
            <a:ext cx="0" cy="6071616"/>
          </a:xfrm>
          <a:prstGeom prst="line">
            <a:avLst/>
          </a:prstGeom>
        </p:spPr>
        <p:style>
          <a:lnRef idx="3">
            <a:schemeClr val="accent4"/>
          </a:lnRef>
          <a:fillRef idx="0">
            <a:schemeClr val="accent4"/>
          </a:fillRef>
          <a:effectRef idx="2">
            <a:schemeClr val="accent4"/>
          </a:effectRef>
          <a:fontRef idx="minor">
            <a:schemeClr val="tx1"/>
          </a:fontRef>
        </p:style>
      </p:cxnSp>
      <p:cxnSp>
        <p:nvCxnSpPr>
          <p:cNvPr id="46" name="Straight Connector 45">
            <a:extLst>
              <a:ext uri="{FF2B5EF4-FFF2-40B4-BE49-F238E27FC236}">
                <a16:creationId xmlns:a16="http://schemas.microsoft.com/office/drawing/2014/main" id="{32FC8C9D-F91F-71F7-7EF7-C40DC5A1F838}"/>
              </a:ext>
            </a:extLst>
          </p:cNvPr>
          <p:cNvCxnSpPr/>
          <p:nvPr/>
        </p:nvCxnSpPr>
        <p:spPr>
          <a:xfrm>
            <a:off x="9482328" y="640080"/>
            <a:ext cx="0" cy="6217920"/>
          </a:xfrm>
          <a:prstGeom prst="line">
            <a:avLst/>
          </a:prstGeom>
        </p:spPr>
        <p:style>
          <a:lnRef idx="3">
            <a:schemeClr val="accent4"/>
          </a:lnRef>
          <a:fillRef idx="0">
            <a:schemeClr val="accent4"/>
          </a:fillRef>
          <a:effectRef idx="2">
            <a:schemeClr val="accent4"/>
          </a:effectRef>
          <a:fontRef idx="minor">
            <a:schemeClr val="tx1"/>
          </a:fontRef>
        </p:style>
      </p:cxnSp>
      <p:cxnSp>
        <p:nvCxnSpPr>
          <p:cNvPr id="49" name="Straight Connector 48">
            <a:extLst>
              <a:ext uri="{FF2B5EF4-FFF2-40B4-BE49-F238E27FC236}">
                <a16:creationId xmlns:a16="http://schemas.microsoft.com/office/drawing/2014/main" id="{15729F60-9F3F-E4D2-D6A1-84040ADFC4C9}"/>
              </a:ext>
            </a:extLst>
          </p:cNvPr>
          <p:cNvCxnSpPr/>
          <p:nvPr/>
        </p:nvCxnSpPr>
        <p:spPr>
          <a:xfrm>
            <a:off x="9848088" y="502920"/>
            <a:ext cx="0" cy="6355080"/>
          </a:xfrm>
          <a:prstGeom prst="line">
            <a:avLst/>
          </a:prstGeom>
        </p:spPr>
        <p:style>
          <a:lnRef idx="3">
            <a:schemeClr val="accent4"/>
          </a:lnRef>
          <a:fillRef idx="0">
            <a:schemeClr val="accent4"/>
          </a:fillRef>
          <a:effectRef idx="2">
            <a:schemeClr val="accent4"/>
          </a:effectRef>
          <a:fontRef idx="minor">
            <a:schemeClr val="tx1"/>
          </a:fontRef>
        </p:style>
      </p:cxnSp>
      <p:cxnSp>
        <p:nvCxnSpPr>
          <p:cNvPr id="51" name="Straight Connector 50">
            <a:extLst>
              <a:ext uri="{FF2B5EF4-FFF2-40B4-BE49-F238E27FC236}">
                <a16:creationId xmlns:a16="http://schemas.microsoft.com/office/drawing/2014/main" id="{1631E09B-C31E-7B16-C114-68B52CE326B4}"/>
              </a:ext>
            </a:extLst>
          </p:cNvPr>
          <p:cNvCxnSpPr/>
          <p:nvPr/>
        </p:nvCxnSpPr>
        <p:spPr>
          <a:xfrm>
            <a:off x="10259568" y="320040"/>
            <a:ext cx="0" cy="6537960"/>
          </a:xfrm>
          <a:prstGeom prst="line">
            <a:avLst/>
          </a:prstGeom>
        </p:spPr>
        <p:style>
          <a:lnRef idx="3">
            <a:schemeClr val="accent4"/>
          </a:lnRef>
          <a:fillRef idx="0">
            <a:schemeClr val="accent4"/>
          </a:fillRef>
          <a:effectRef idx="2">
            <a:schemeClr val="accent4"/>
          </a:effectRef>
          <a:fontRef idx="minor">
            <a:schemeClr val="tx1"/>
          </a:fontRef>
        </p:style>
      </p:cxnSp>
      <p:cxnSp>
        <p:nvCxnSpPr>
          <p:cNvPr id="55" name="Straight Connector 54">
            <a:extLst>
              <a:ext uri="{FF2B5EF4-FFF2-40B4-BE49-F238E27FC236}">
                <a16:creationId xmlns:a16="http://schemas.microsoft.com/office/drawing/2014/main" id="{1A62DAD0-74CD-2624-EF66-1FF8A14888EF}"/>
              </a:ext>
            </a:extLst>
          </p:cNvPr>
          <p:cNvCxnSpPr/>
          <p:nvPr/>
        </p:nvCxnSpPr>
        <p:spPr>
          <a:xfrm>
            <a:off x="2231136" y="1060704"/>
            <a:ext cx="2770632" cy="0"/>
          </a:xfrm>
          <a:prstGeom prst="line">
            <a:avLst/>
          </a:prstGeom>
        </p:spPr>
        <p:style>
          <a:lnRef idx="3">
            <a:schemeClr val="accent4"/>
          </a:lnRef>
          <a:fillRef idx="0">
            <a:schemeClr val="accent4"/>
          </a:fillRef>
          <a:effectRef idx="2">
            <a:schemeClr val="accent4"/>
          </a:effectRef>
          <a:fontRef idx="minor">
            <a:schemeClr val="tx1"/>
          </a:fontRef>
        </p:style>
      </p:cxnSp>
      <p:cxnSp>
        <p:nvCxnSpPr>
          <p:cNvPr id="57" name="Straight Arrow Connector 56">
            <a:extLst>
              <a:ext uri="{FF2B5EF4-FFF2-40B4-BE49-F238E27FC236}">
                <a16:creationId xmlns:a16="http://schemas.microsoft.com/office/drawing/2014/main" id="{B9156DAF-F6CC-2326-E7DB-4EA165430E4D}"/>
              </a:ext>
            </a:extLst>
          </p:cNvPr>
          <p:cNvCxnSpPr/>
          <p:nvPr/>
        </p:nvCxnSpPr>
        <p:spPr>
          <a:xfrm>
            <a:off x="5001768" y="1060704"/>
            <a:ext cx="0" cy="603504"/>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67" name="Straight Connector 66">
            <a:extLst>
              <a:ext uri="{FF2B5EF4-FFF2-40B4-BE49-F238E27FC236}">
                <a16:creationId xmlns:a16="http://schemas.microsoft.com/office/drawing/2014/main" id="{2533AADC-F046-880A-32F8-F73F85A9F7DE}"/>
              </a:ext>
            </a:extLst>
          </p:cNvPr>
          <p:cNvCxnSpPr>
            <a:stCxn id="13" idx="3"/>
          </p:cNvCxnSpPr>
          <p:nvPr/>
        </p:nvCxnSpPr>
        <p:spPr>
          <a:xfrm>
            <a:off x="5769861" y="1929383"/>
            <a:ext cx="1024131" cy="0"/>
          </a:xfrm>
          <a:prstGeom prst="line">
            <a:avLst/>
          </a:prstGeom>
        </p:spPr>
        <p:style>
          <a:lnRef idx="3">
            <a:schemeClr val="accent4"/>
          </a:lnRef>
          <a:fillRef idx="0">
            <a:schemeClr val="accent4"/>
          </a:fillRef>
          <a:effectRef idx="2">
            <a:schemeClr val="accent4"/>
          </a:effectRef>
          <a:fontRef idx="minor">
            <a:schemeClr val="tx1"/>
          </a:fontRef>
        </p:style>
      </p:cxnSp>
      <p:cxnSp>
        <p:nvCxnSpPr>
          <p:cNvPr id="68" name="Straight Connector 67">
            <a:extLst>
              <a:ext uri="{FF2B5EF4-FFF2-40B4-BE49-F238E27FC236}">
                <a16:creationId xmlns:a16="http://schemas.microsoft.com/office/drawing/2014/main" id="{64B420EB-90AA-3353-1846-A682F2A8D5B0}"/>
              </a:ext>
            </a:extLst>
          </p:cNvPr>
          <p:cNvCxnSpPr/>
          <p:nvPr/>
        </p:nvCxnSpPr>
        <p:spPr>
          <a:xfrm>
            <a:off x="3264406" y="1929383"/>
            <a:ext cx="1024131" cy="0"/>
          </a:xfrm>
          <a:prstGeom prst="line">
            <a:avLst/>
          </a:prstGeom>
        </p:spPr>
        <p:style>
          <a:lnRef idx="3">
            <a:schemeClr val="accent4"/>
          </a:lnRef>
          <a:fillRef idx="0">
            <a:schemeClr val="accent4"/>
          </a:fillRef>
          <a:effectRef idx="2">
            <a:schemeClr val="accent4"/>
          </a:effectRef>
          <a:fontRef idx="minor">
            <a:schemeClr val="tx1"/>
          </a:fontRef>
        </p:style>
      </p:cxnSp>
      <p:sp>
        <p:nvSpPr>
          <p:cNvPr id="76" name="Flowchart: Data 75">
            <a:extLst>
              <a:ext uri="{FF2B5EF4-FFF2-40B4-BE49-F238E27FC236}">
                <a16:creationId xmlns:a16="http://schemas.microsoft.com/office/drawing/2014/main" id="{3C3CCFA1-EBE0-E643-7858-F8ABEFDC5E81}"/>
              </a:ext>
            </a:extLst>
          </p:cNvPr>
          <p:cNvSpPr/>
          <p:nvPr/>
        </p:nvSpPr>
        <p:spPr>
          <a:xfrm>
            <a:off x="5465828" y="2329434"/>
            <a:ext cx="2633470" cy="413765"/>
          </a:xfrm>
          <a:prstGeom prst="flowChartInputOutpu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t>Read details of student</a:t>
            </a:r>
            <a:endParaRPr lang="en-IN" sz="1400" dirty="0"/>
          </a:p>
        </p:txBody>
      </p:sp>
      <p:sp>
        <p:nvSpPr>
          <p:cNvPr id="80" name="Rectangle 79">
            <a:extLst>
              <a:ext uri="{FF2B5EF4-FFF2-40B4-BE49-F238E27FC236}">
                <a16:creationId xmlns:a16="http://schemas.microsoft.com/office/drawing/2014/main" id="{0B73CE55-9624-1297-C51B-83BA72D52437}"/>
              </a:ext>
            </a:extLst>
          </p:cNvPr>
          <p:cNvSpPr/>
          <p:nvPr/>
        </p:nvSpPr>
        <p:spPr>
          <a:xfrm>
            <a:off x="5655577" y="3113533"/>
            <a:ext cx="2267704" cy="37033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t>Call check seat(dept)</a:t>
            </a:r>
            <a:endParaRPr lang="en-IN" sz="1400" dirty="0"/>
          </a:p>
        </p:txBody>
      </p:sp>
      <p:cxnSp>
        <p:nvCxnSpPr>
          <p:cNvPr id="83" name="Straight Arrow Connector 82">
            <a:extLst>
              <a:ext uri="{FF2B5EF4-FFF2-40B4-BE49-F238E27FC236}">
                <a16:creationId xmlns:a16="http://schemas.microsoft.com/office/drawing/2014/main" id="{E4874F26-219D-B57B-DD85-C6AD2CDD7D02}"/>
              </a:ext>
            </a:extLst>
          </p:cNvPr>
          <p:cNvCxnSpPr/>
          <p:nvPr/>
        </p:nvCxnSpPr>
        <p:spPr>
          <a:xfrm>
            <a:off x="6793992" y="1929383"/>
            <a:ext cx="0" cy="393193"/>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84" name="Straight Arrow Connector 83">
            <a:extLst>
              <a:ext uri="{FF2B5EF4-FFF2-40B4-BE49-F238E27FC236}">
                <a16:creationId xmlns:a16="http://schemas.microsoft.com/office/drawing/2014/main" id="{F8EB06B3-849B-8DFD-AA8B-341D0C957EFB}"/>
              </a:ext>
            </a:extLst>
          </p:cNvPr>
          <p:cNvCxnSpPr/>
          <p:nvPr/>
        </p:nvCxnSpPr>
        <p:spPr>
          <a:xfrm>
            <a:off x="6793992" y="2750055"/>
            <a:ext cx="0" cy="393193"/>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85" name="Straight Arrow Connector 84">
            <a:extLst>
              <a:ext uri="{FF2B5EF4-FFF2-40B4-BE49-F238E27FC236}">
                <a16:creationId xmlns:a16="http://schemas.microsoft.com/office/drawing/2014/main" id="{A3FC703E-6E3A-B912-6188-7EEC6FE4C270}"/>
              </a:ext>
            </a:extLst>
          </p:cNvPr>
          <p:cNvCxnSpPr/>
          <p:nvPr/>
        </p:nvCxnSpPr>
        <p:spPr>
          <a:xfrm>
            <a:off x="3264406" y="1936241"/>
            <a:ext cx="0" cy="393193"/>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86" name="Straight Arrow Connector 85">
            <a:extLst>
              <a:ext uri="{FF2B5EF4-FFF2-40B4-BE49-F238E27FC236}">
                <a16:creationId xmlns:a16="http://schemas.microsoft.com/office/drawing/2014/main" id="{E616CECC-9439-29A0-3864-EDDC2E004220}"/>
              </a:ext>
            </a:extLst>
          </p:cNvPr>
          <p:cNvCxnSpPr/>
          <p:nvPr/>
        </p:nvCxnSpPr>
        <p:spPr>
          <a:xfrm>
            <a:off x="6782563" y="3483863"/>
            <a:ext cx="0" cy="393193"/>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87" name="Straight Arrow Connector 86">
            <a:extLst>
              <a:ext uri="{FF2B5EF4-FFF2-40B4-BE49-F238E27FC236}">
                <a16:creationId xmlns:a16="http://schemas.microsoft.com/office/drawing/2014/main" id="{3EE1049A-C456-E433-8F0F-BA20DB4E6569}"/>
              </a:ext>
            </a:extLst>
          </p:cNvPr>
          <p:cNvCxnSpPr/>
          <p:nvPr/>
        </p:nvCxnSpPr>
        <p:spPr>
          <a:xfrm>
            <a:off x="8291323" y="4277103"/>
            <a:ext cx="0" cy="393193"/>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88" name="Straight Arrow Connector 87">
            <a:extLst>
              <a:ext uri="{FF2B5EF4-FFF2-40B4-BE49-F238E27FC236}">
                <a16:creationId xmlns:a16="http://schemas.microsoft.com/office/drawing/2014/main" id="{84531067-6DB1-9C2F-2120-EC040C1B2429}"/>
              </a:ext>
            </a:extLst>
          </p:cNvPr>
          <p:cNvCxnSpPr/>
          <p:nvPr/>
        </p:nvCxnSpPr>
        <p:spPr>
          <a:xfrm>
            <a:off x="5202935" y="4277103"/>
            <a:ext cx="0" cy="393193"/>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sp>
        <p:nvSpPr>
          <p:cNvPr id="89" name="Flowchart: Decision 88">
            <a:extLst>
              <a:ext uri="{FF2B5EF4-FFF2-40B4-BE49-F238E27FC236}">
                <a16:creationId xmlns:a16="http://schemas.microsoft.com/office/drawing/2014/main" id="{20037C7B-9214-12A8-2604-CAEC1FBD94E0}"/>
              </a:ext>
            </a:extLst>
          </p:cNvPr>
          <p:cNvSpPr/>
          <p:nvPr/>
        </p:nvSpPr>
        <p:spPr>
          <a:xfrm>
            <a:off x="5769861" y="3890198"/>
            <a:ext cx="2011675" cy="773811"/>
          </a:xfrm>
          <a:prstGeom prst="flowChartDecision">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 </a:t>
            </a:r>
            <a:r>
              <a:rPr lang="en-US" sz="1400" dirty="0"/>
              <a:t>available</a:t>
            </a:r>
            <a:endParaRPr lang="en-IN" sz="1400" dirty="0"/>
          </a:p>
        </p:txBody>
      </p:sp>
      <p:cxnSp>
        <p:nvCxnSpPr>
          <p:cNvPr id="91" name="Straight Connector 90">
            <a:extLst>
              <a:ext uri="{FF2B5EF4-FFF2-40B4-BE49-F238E27FC236}">
                <a16:creationId xmlns:a16="http://schemas.microsoft.com/office/drawing/2014/main" id="{36A76C07-5984-104A-9999-2AC1110401B8}"/>
              </a:ext>
            </a:extLst>
          </p:cNvPr>
          <p:cNvCxnSpPr>
            <a:endCxn id="89" idx="1"/>
          </p:cNvCxnSpPr>
          <p:nvPr/>
        </p:nvCxnSpPr>
        <p:spPr>
          <a:xfrm>
            <a:off x="5193792" y="4277103"/>
            <a:ext cx="576069" cy="1"/>
          </a:xfrm>
          <a:prstGeom prst="line">
            <a:avLst/>
          </a:prstGeom>
        </p:spPr>
        <p:style>
          <a:lnRef idx="3">
            <a:schemeClr val="accent4"/>
          </a:lnRef>
          <a:fillRef idx="0">
            <a:schemeClr val="accent4"/>
          </a:fillRef>
          <a:effectRef idx="2">
            <a:schemeClr val="accent4"/>
          </a:effectRef>
          <a:fontRef idx="minor">
            <a:schemeClr val="tx1"/>
          </a:fontRef>
        </p:style>
      </p:cxnSp>
      <p:cxnSp>
        <p:nvCxnSpPr>
          <p:cNvPr id="93" name="Straight Connector 92">
            <a:extLst>
              <a:ext uri="{FF2B5EF4-FFF2-40B4-BE49-F238E27FC236}">
                <a16:creationId xmlns:a16="http://schemas.microsoft.com/office/drawing/2014/main" id="{342DD23A-7388-1C70-94FE-450D3FF50AA8}"/>
              </a:ext>
            </a:extLst>
          </p:cNvPr>
          <p:cNvCxnSpPr>
            <a:stCxn id="89" idx="3"/>
          </p:cNvCxnSpPr>
          <p:nvPr/>
        </p:nvCxnSpPr>
        <p:spPr>
          <a:xfrm flipV="1">
            <a:off x="7781536" y="4277103"/>
            <a:ext cx="509787" cy="1"/>
          </a:xfrm>
          <a:prstGeom prst="line">
            <a:avLst/>
          </a:prstGeom>
        </p:spPr>
        <p:style>
          <a:lnRef idx="3">
            <a:schemeClr val="accent4"/>
          </a:lnRef>
          <a:fillRef idx="0">
            <a:schemeClr val="accent4"/>
          </a:fillRef>
          <a:effectRef idx="2">
            <a:schemeClr val="accent4"/>
          </a:effectRef>
          <a:fontRef idx="minor">
            <a:schemeClr val="tx1"/>
          </a:fontRef>
        </p:style>
      </p:cxnSp>
      <p:sp>
        <p:nvSpPr>
          <p:cNvPr id="95" name="Rectangle 94">
            <a:extLst>
              <a:ext uri="{FF2B5EF4-FFF2-40B4-BE49-F238E27FC236}">
                <a16:creationId xmlns:a16="http://schemas.microsoft.com/office/drawing/2014/main" id="{22715DBF-B107-FCA0-E696-B4FFB133A2EE}"/>
              </a:ext>
            </a:extLst>
          </p:cNvPr>
          <p:cNvSpPr/>
          <p:nvPr/>
        </p:nvSpPr>
        <p:spPr>
          <a:xfrm>
            <a:off x="7242052" y="4677151"/>
            <a:ext cx="1828794" cy="534927"/>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t>Store in s[count] call reduce seat(dept)]</a:t>
            </a:r>
            <a:endParaRPr lang="en-IN" sz="1400" dirty="0"/>
          </a:p>
        </p:txBody>
      </p:sp>
      <p:cxnSp>
        <p:nvCxnSpPr>
          <p:cNvPr id="97" name="Straight Arrow Connector 96">
            <a:extLst>
              <a:ext uri="{FF2B5EF4-FFF2-40B4-BE49-F238E27FC236}">
                <a16:creationId xmlns:a16="http://schemas.microsoft.com/office/drawing/2014/main" id="{8D69814C-5DBA-3239-10B5-A2628985DA00}"/>
              </a:ext>
            </a:extLst>
          </p:cNvPr>
          <p:cNvCxnSpPr/>
          <p:nvPr/>
        </p:nvCxnSpPr>
        <p:spPr>
          <a:xfrm>
            <a:off x="8285225" y="5212078"/>
            <a:ext cx="0" cy="393193"/>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sp>
        <p:nvSpPr>
          <p:cNvPr id="98" name="Flowchart: Data 97">
            <a:extLst>
              <a:ext uri="{FF2B5EF4-FFF2-40B4-BE49-F238E27FC236}">
                <a16:creationId xmlns:a16="http://schemas.microsoft.com/office/drawing/2014/main" id="{CDE5C3C5-7F15-9166-C9B3-FEB1CD0214D1}"/>
              </a:ext>
            </a:extLst>
          </p:cNvPr>
          <p:cNvSpPr/>
          <p:nvPr/>
        </p:nvSpPr>
        <p:spPr>
          <a:xfrm>
            <a:off x="7086603" y="5586983"/>
            <a:ext cx="1984239" cy="393193"/>
          </a:xfrm>
          <a:prstGeom prst="flowChartInputOutpu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t>Display “successful”</a:t>
            </a:r>
            <a:endParaRPr lang="en-IN" sz="1400" dirty="0"/>
          </a:p>
        </p:txBody>
      </p:sp>
      <p:sp>
        <p:nvSpPr>
          <p:cNvPr id="99" name="Flowchart: Data 98">
            <a:extLst>
              <a:ext uri="{FF2B5EF4-FFF2-40B4-BE49-F238E27FC236}">
                <a16:creationId xmlns:a16="http://schemas.microsoft.com/office/drawing/2014/main" id="{ACB82B97-BCAE-0F2E-38A6-F3120E89AAFC}"/>
              </a:ext>
            </a:extLst>
          </p:cNvPr>
          <p:cNvSpPr/>
          <p:nvPr/>
        </p:nvSpPr>
        <p:spPr>
          <a:xfrm>
            <a:off x="2172849" y="2336291"/>
            <a:ext cx="2084829" cy="420623"/>
          </a:xfrm>
          <a:prstGeom prst="flowChartInputOutpu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t>Print “cannot add seats”</a:t>
            </a:r>
            <a:endParaRPr lang="en-IN" sz="1400" dirty="0"/>
          </a:p>
        </p:txBody>
      </p:sp>
      <p:cxnSp>
        <p:nvCxnSpPr>
          <p:cNvPr id="101" name="Straight Connector 100">
            <a:extLst>
              <a:ext uri="{FF2B5EF4-FFF2-40B4-BE49-F238E27FC236}">
                <a16:creationId xmlns:a16="http://schemas.microsoft.com/office/drawing/2014/main" id="{2C9135C1-A93B-75B3-D3A8-15CC5904C744}"/>
              </a:ext>
            </a:extLst>
          </p:cNvPr>
          <p:cNvCxnSpPr/>
          <p:nvPr/>
        </p:nvCxnSpPr>
        <p:spPr>
          <a:xfrm>
            <a:off x="3255262" y="2743199"/>
            <a:ext cx="0" cy="3511297"/>
          </a:xfrm>
          <a:prstGeom prst="line">
            <a:avLst/>
          </a:prstGeom>
        </p:spPr>
        <p:style>
          <a:lnRef idx="3">
            <a:schemeClr val="accent4"/>
          </a:lnRef>
          <a:fillRef idx="0">
            <a:schemeClr val="accent4"/>
          </a:fillRef>
          <a:effectRef idx="2">
            <a:schemeClr val="accent4"/>
          </a:effectRef>
          <a:fontRef idx="minor">
            <a:schemeClr val="tx1"/>
          </a:fontRef>
        </p:style>
      </p:cxnSp>
      <p:cxnSp>
        <p:nvCxnSpPr>
          <p:cNvPr id="103" name="Straight Connector 102">
            <a:extLst>
              <a:ext uri="{FF2B5EF4-FFF2-40B4-BE49-F238E27FC236}">
                <a16:creationId xmlns:a16="http://schemas.microsoft.com/office/drawing/2014/main" id="{7074DD52-A703-C76D-6D4A-685C1DA369B0}"/>
              </a:ext>
            </a:extLst>
          </p:cNvPr>
          <p:cNvCxnSpPr>
            <a:cxnSpLocks/>
          </p:cNvCxnSpPr>
          <p:nvPr/>
        </p:nvCxnSpPr>
        <p:spPr>
          <a:xfrm>
            <a:off x="8285225" y="5980176"/>
            <a:ext cx="0" cy="274320"/>
          </a:xfrm>
          <a:prstGeom prst="line">
            <a:avLst/>
          </a:prstGeom>
        </p:spPr>
        <p:style>
          <a:lnRef idx="3">
            <a:schemeClr val="accent4"/>
          </a:lnRef>
          <a:fillRef idx="0">
            <a:schemeClr val="accent4"/>
          </a:fillRef>
          <a:effectRef idx="2">
            <a:schemeClr val="accent4"/>
          </a:effectRef>
          <a:fontRef idx="minor">
            <a:schemeClr val="tx1"/>
          </a:fontRef>
        </p:style>
      </p:cxnSp>
      <p:cxnSp>
        <p:nvCxnSpPr>
          <p:cNvPr id="105" name="Straight Connector 104">
            <a:extLst>
              <a:ext uri="{FF2B5EF4-FFF2-40B4-BE49-F238E27FC236}">
                <a16:creationId xmlns:a16="http://schemas.microsoft.com/office/drawing/2014/main" id="{3193154C-6318-DE28-10E7-54C2FB22C2F4}"/>
              </a:ext>
            </a:extLst>
          </p:cNvPr>
          <p:cNvCxnSpPr/>
          <p:nvPr/>
        </p:nvCxnSpPr>
        <p:spPr>
          <a:xfrm>
            <a:off x="3264406" y="6245352"/>
            <a:ext cx="5020819" cy="0"/>
          </a:xfrm>
          <a:prstGeom prst="line">
            <a:avLst/>
          </a:prstGeom>
        </p:spPr>
        <p:style>
          <a:lnRef idx="3">
            <a:schemeClr val="accent4"/>
          </a:lnRef>
          <a:fillRef idx="0">
            <a:schemeClr val="accent4"/>
          </a:fillRef>
          <a:effectRef idx="2">
            <a:schemeClr val="accent4"/>
          </a:effectRef>
          <a:fontRef idx="minor">
            <a:schemeClr val="tx1"/>
          </a:fontRef>
        </p:style>
      </p:cxnSp>
      <p:sp>
        <p:nvSpPr>
          <p:cNvPr id="107" name="Flowchart: Data 106">
            <a:extLst>
              <a:ext uri="{FF2B5EF4-FFF2-40B4-BE49-F238E27FC236}">
                <a16:creationId xmlns:a16="http://schemas.microsoft.com/office/drawing/2014/main" id="{67FD0017-59B4-3178-913C-AB8137B4FB7B}"/>
              </a:ext>
            </a:extLst>
          </p:cNvPr>
          <p:cNvSpPr/>
          <p:nvPr/>
        </p:nvSpPr>
        <p:spPr>
          <a:xfrm>
            <a:off x="4187955" y="4658869"/>
            <a:ext cx="2011674" cy="594358"/>
          </a:xfrm>
          <a:prstGeom prst="flowChartInputOutpu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t>Print “seats not available”</a:t>
            </a:r>
            <a:endParaRPr lang="en-IN" sz="1400" dirty="0"/>
          </a:p>
        </p:txBody>
      </p:sp>
      <p:cxnSp>
        <p:nvCxnSpPr>
          <p:cNvPr id="109" name="Straight Connector 108">
            <a:extLst>
              <a:ext uri="{FF2B5EF4-FFF2-40B4-BE49-F238E27FC236}">
                <a16:creationId xmlns:a16="http://schemas.microsoft.com/office/drawing/2014/main" id="{B1744AB0-EEE1-AB0B-066D-3D2BA439B569}"/>
              </a:ext>
            </a:extLst>
          </p:cNvPr>
          <p:cNvCxnSpPr>
            <a:stCxn id="107" idx="4"/>
          </p:cNvCxnSpPr>
          <p:nvPr/>
        </p:nvCxnSpPr>
        <p:spPr>
          <a:xfrm>
            <a:off x="5193792" y="5253227"/>
            <a:ext cx="9143" cy="992125"/>
          </a:xfrm>
          <a:prstGeom prst="line">
            <a:avLst/>
          </a:prstGeom>
          <a:ln/>
        </p:spPr>
        <p:style>
          <a:lnRef idx="3">
            <a:schemeClr val="accent4"/>
          </a:lnRef>
          <a:fillRef idx="0">
            <a:schemeClr val="accent4"/>
          </a:fillRef>
          <a:effectRef idx="2">
            <a:schemeClr val="accent4"/>
          </a:effectRef>
          <a:fontRef idx="minor">
            <a:schemeClr val="tx1"/>
          </a:fontRef>
        </p:style>
      </p:cxnSp>
      <p:cxnSp>
        <p:nvCxnSpPr>
          <p:cNvPr id="111" name="Straight Arrow Connector 110">
            <a:extLst>
              <a:ext uri="{FF2B5EF4-FFF2-40B4-BE49-F238E27FC236}">
                <a16:creationId xmlns:a16="http://schemas.microsoft.com/office/drawing/2014/main" id="{6E396F04-8933-7CDD-2B28-6AB3B77DF66A}"/>
              </a:ext>
            </a:extLst>
          </p:cNvPr>
          <p:cNvCxnSpPr/>
          <p:nvPr/>
        </p:nvCxnSpPr>
        <p:spPr>
          <a:xfrm flipH="1">
            <a:off x="5193792" y="6254496"/>
            <a:ext cx="9143" cy="21031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sp>
        <p:nvSpPr>
          <p:cNvPr id="112" name="Oval 111">
            <a:extLst>
              <a:ext uri="{FF2B5EF4-FFF2-40B4-BE49-F238E27FC236}">
                <a16:creationId xmlns:a16="http://schemas.microsoft.com/office/drawing/2014/main" id="{112AD04A-2F83-F0F9-00C1-996194B07D01}"/>
              </a:ext>
            </a:extLst>
          </p:cNvPr>
          <p:cNvSpPr/>
          <p:nvPr/>
        </p:nvSpPr>
        <p:spPr>
          <a:xfrm>
            <a:off x="4539999" y="6444234"/>
            <a:ext cx="1298446" cy="384049"/>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STOP</a:t>
            </a:r>
            <a:endParaRPr lang="en-IN" dirty="0"/>
          </a:p>
        </p:txBody>
      </p:sp>
    </p:spTree>
    <p:extLst>
      <p:ext uri="{BB962C8B-B14F-4D97-AF65-F5344CB8AC3E}">
        <p14:creationId xmlns:p14="http://schemas.microsoft.com/office/powerpoint/2010/main" val="7967022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5B2BB424-3A5B-4924-C04D-8341035D3F28}"/>
              </a:ext>
            </a:extLst>
          </p:cNvPr>
          <p:cNvCxnSpPr/>
          <p:nvPr/>
        </p:nvCxnSpPr>
        <p:spPr>
          <a:xfrm>
            <a:off x="8385048" y="0"/>
            <a:ext cx="0" cy="548640"/>
          </a:xfrm>
          <a:prstGeom prst="line">
            <a:avLst/>
          </a:prstGeom>
          <a:ln>
            <a:solidFill>
              <a:schemeClr val="tx2">
                <a:lumMod val="9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FFF89678-8FCC-3EF5-1FCE-400DD9CA2B54}"/>
              </a:ext>
            </a:extLst>
          </p:cNvPr>
          <p:cNvCxnSpPr>
            <a:cxnSpLocks/>
          </p:cNvCxnSpPr>
          <p:nvPr/>
        </p:nvCxnSpPr>
        <p:spPr>
          <a:xfrm>
            <a:off x="9710928" y="16002"/>
            <a:ext cx="0" cy="6825996"/>
          </a:xfrm>
          <a:prstGeom prst="line">
            <a:avLst/>
          </a:prstGeom>
          <a:ln>
            <a:solidFill>
              <a:schemeClr val="tx2">
                <a:lumMod val="9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84702856-B78C-B06C-F61A-4A1F67463A28}"/>
              </a:ext>
            </a:extLst>
          </p:cNvPr>
          <p:cNvCxnSpPr>
            <a:cxnSpLocks/>
          </p:cNvCxnSpPr>
          <p:nvPr/>
        </p:nvCxnSpPr>
        <p:spPr>
          <a:xfrm>
            <a:off x="10155936" y="16002"/>
            <a:ext cx="0" cy="6841998"/>
          </a:xfrm>
          <a:prstGeom prst="line">
            <a:avLst/>
          </a:prstGeom>
          <a:ln>
            <a:solidFill>
              <a:schemeClr val="tx2">
                <a:lumMod val="9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CAB991B-AAB8-6D52-7F3F-9851AF361090}"/>
              </a:ext>
            </a:extLst>
          </p:cNvPr>
          <p:cNvCxnSpPr>
            <a:cxnSpLocks/>
          </p:cNvCxnSpPr>
          <p:nvPr/>
        </p:nvCxnSpPr>
        <p:spPr>
          <a:xfrm>
            <a:off x="10591800" y="16002"/>
            <a:ext cx="0" cy="6841998"/>
          </a:xfrm>
          <a:prstGeom prst="line">
            <a:avLst/>
          </a:prstGeom>
          <a:ln>
            <a:solidFill>
              <a:schemeClr val="tx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30B67D4-C10D-CE61-3116-7B32D8622555}"/>
              </a:ext>
            </a:extLst>
          </p:cNvPr>
          <p:cNvCxnSpPr/>
          <p:nvPr/>
        </p:nvCxnSpPr>
        <p:spPr>
          <a:xfrm flipH="1">
            <a:off x="5522976" y="548640"/>
            <a:ext cx="2862072" cy="0"/>
          </a:xfrm>
          <a:prstGeom prst="line">
            <a:avLst/>
          </a:prstGeom>
          <a:ln>
            <a:solidFill>
              <a:schemeClr val="tx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6D441547-87B2-9F3A-5DE6-099C2568F51F}"/>
              </a:ext>
            </a:extLst>
          </p:cNvPr>
          <p:cNvCxnSpPr>
            <a:cxnSpLocks/>
          </p:cNvCxnSpPr>
          <p:nvPr/>
        </p:nvCxnSpPr>
        <p:spPr>
          <a:xfrm>
            <a:off x="5532119" y="548640"/>
            <a:ext cx="0" cy="43891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sp>
        <p:nvSpPr>
          <p:cNvPr id="17" name="Flowchart: Decision 16">
            <a:extLst>
              <a:ext uri="{FF2B5EF4-FFF2-40B4-BE49-F238E27FC236}">
                <a16:creationId xmlns:a16="http://schemas.microsoft.com/office/drawing/2014/main" id="{BC49EA38-8CED-C387-9F61-8521667BE53F}"/>
              </a:ext>
            </a:extLst>
          </p:cNvPr>
          <p:cNvSpPr/>
          <p:nvPr/>
        </p:nvSpPr>
        <p:spPr>
          <a:xfrm>
            <a:off x="4486658" y="987553"/>
            <a:ext cx="2060444" cy="667512"/>
          </a:xfrm>
          <a:prstGeom prst="flowChartDecision">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t>Count==0</a:t>
            </a:r>
            <a:endParaRPr lang="en-IN" sz="1400" dirty="0"/>
          </a:p>
        </p:txBody>
      </p:sp>
      <p:cxnSp>
        <p:nvCxnSpPr>
          <p:cNvPr id="19" name="Straight Connector 18">
            <a:extLst>
              <a:ext uri="{FF2B5EF4-FFF2-40B4-BE49-F238E27FC236}">
                <a16:creationId xmlns:a16="http://schemas.microsoft.com/office/drawing/2014/main" id="{866E808F-A826-462F-8033-44B317E72BA9}"/>
              </a:ext>
            </a:extLst>
          </p:cNvPr>
          <p:cNvCxnSpPr>
            <a:stCxn id="17" idx="3"/>
          </p:cNvCxnSpPr>
          <p:nvPr/>
        </p:nvCxnSpPr>
        <p:spPr>
          <a:xfrm flipV="1">
            <a:off x="6547102" y="1316736"/>
            <a:ext cx="795530" cy="4573"/>
          </a:xfrm>
          <a:prstGeom prst="line">
            <a:avLst/>
          </a:prstGeom>
          <a:ln>
            <a:solidFill>
              <a:schemeClr val="tx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7601AD3-9AB6-86E4-6D03-034AEB9D3019}"/>
              </a:ext>
            </a:extLst>
          </p:cNvPr>
          <p:cNvCxnSpPr/>
          <p:nvPr/>
        </p:nvCxnSpPr>
        <p:spPr>
          <a:xfrm flipV="1">
            <a:off x="3726174" y="1316736"/>
            <a:ext cx="795530" cy="4573"/>
          </a:xfrm>
          <a:prstGeom prst="line">
            <a:avLst/>
          </a:prstGeom>
          <a:ln>
            <a:solidFill>
              <a:schemeClr val="tx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D22C6024-AA18-606A-5775-EEE7189C995D}"/>
              </a:ext>
            </a:extLst>
          </p:cNvPr>
          <p:cNvCxnSpPr>
            <a:cxnSpLocks/>
          </p:cNvCxnSpPr>
          <p:nvPr/>
        </p:nvCxnSpPr>
        <p:spPr>
          <a:xfrm>
            <a:off x="3732269" y="1316736"/>
            <a:ext cx="0" cy="43891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24" name="Straight Arrow Connector 23">
            <a:extLst>
              <a:ext uri="{FF2B5EF4-FFF2-40B4-BE49-F238E27FC236}">
                <a16:creationId xmlns:a16="http://schemas.microsoft.com/office/drawing/2014/main" id="{2126323B-A6BC-CB35-8CAE-8D6285E9FD6A}"/>
              </a:ext>
            </a:extLst>
          </p:cNvPr>
          <p:cNvCxnSpPr>
            <a:cxnSpLocks/>
          </p:cNvCxnSpPr>
          <p:nvPr/>
        </p:nvCxnSpPr>
        <p:spPr>
          <a:xfrm>
            <a:off x="7342632" y="1316736"/>
            <a:ext cx="0" cy="43891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sp>
        <p:nvSpPr>
          <p:cNvPr id="25" name="Flowchart: Data 24">
            <a:extLst>
              <a:ext uri="{FF2B5EF4-FFF2-40B4-BE49-F238E27FC236}">
                <a16:creationId xmlns:a16="http://schemas.microsoft.com/office/drawing/2014/main" id="{6FB4480B-4163-9498-9F21-EC5A4DBB2478}"/>
              </a:ext>
            </a:extLst>
          </p:cNvPr>
          <p:cNvSpPr/>
          <p:nvPr/>
        </p:nvSpPr>
        <p:spPr>
          <a:xfrm>
            <a:off x="2449080" y="1755648"/>
            <a:ext cx="2400285" cy="982979"/>
          </a:xfrm>
          <a:prstGeom prst="flowChartInputOutpu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 </a:t>
            </a:r>
            <a:r>
              <a:rPr lang="en-US" sz="1400" dirty="0"/>
              <a:t>print all the inputs of student details from count=0  </a:t>
            </a:r>
            <a:endParaRPr lang="en-IN" sz="1400" dirty="0"/>
          </a:p>
        </p:txBody>
      </p:sp>
      <p:sp>
        <p:nvSpPr>
          <p:cNvPr id="26" name="Flowchart: Data 25">
            <a:extLst>
              <a:ext uri="{FF2B5EF4-FFF2-40B4-BE49-F238E27FC236}">
                <a16:creationId xmlns:a16="http://schemas.microsoft.com/office/drawing/2014/main" id="{92833FFB-3EB3-3608-2DED-A254DA795624}"/>
              </a:ext>
            </a:extLst>
          </p:cNvPr>
          <p:cNvSpPr/>
          <p:nvPr/>
        </p:nvSpPr>
        <p:spPr>
          <a:xfrm>
            <a:off x="6175244" y="1760220"/>
            <a:ext cx="2170165" cy="658368"/>
          </a:xfrm>
          <a:prstGeom prst="flowChartInputOutpu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t>Display “No students admitted</a:t>
            </a:r>
            <a:endParaRPr lang="en-IN" sz="1400" dirty="0"/>
          </a:p>
        </p:txBody>
      </p:sp>
      <p:cxnSp>
        <p:nvCxnSpPr>
          <p:cNvPr id="28" name="Straight Connector 27">
            <a:extLst>
              <a:ext uri="{FF2B5EF4-FFF2-40B4-BE49-F238E27FC236}">
                <a16:creationId xmlns:a16="http://schemas.microsoft.com/office/drawing/2014/main" id="{384BA9F0-D20C-4818-1ECB-84A27FDB31F5}"/>
              </a:ext>
            </a:extLst>
          </p:cNvPr>
          <p:cNvCxnSpPr>
            <a:cxnSpLocks/>
          </p:cNvCxnSpPr>
          <p:nvPr/>
        </p:nvCxnSpPr>
        <p:spPr>
          <a:xfrm flipH="1">
            <a:off x="3694163" y="2738627"/>
            <a:ext cx="1" cy="598933"/>
          </a:xfrm>
          <a:prstGeom prst="line">
            <a:avLst/>
          </a:prstGeom>
          <a:ln>
            <a:solidFill>
              <a:schemeClr val="tx2">
                <a:lumMod val="90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3A09C096-3CC4-AD43-FD43-FA54A07EE2A7}"/>
              </a:ext>
            </a:extLst>
          </p:cNvPr>
          <p:cNvCxnSpPr>
            <a:cxnSpLocks/>
          </p:cNvCxnSpPr>
          <p:nvPr/>
        </p:nvCxnSpPr>
        <p:spPr>
          <a:xfrm>
            <a:off x="7342633" y="2418588"/>
            <a:ext cx="0" cy="918972"/>
          </a:xfrm>
          <a:prstGeom prst="line">
            <a:avLst/>
          </a:prstGeom>
          <a:ln>
            <a:solidFill>
              <a:schemeClr val="tx2">
                <a:lumMod val="90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55BCF02-C72D-E556-FA1C-8ABC9F7B4217}"/>
              </a:ext>
            </a:extLst>
          </p:cNvPr>
          <p:cNvCxnSpPr>
            <a:cxnSpLocks/>
          </p:cNvCxnSpPr>
          <p:nvPr/>
        </p:nvCxnSpPr>
        <p:spPr>
          <a:xfrm>
            <a:off x="3694163" y="3337560"/>
            <a:ext cx="3648469" cy="0"/>
          </a:xfrm>
          <a:prstGeom prst="line">
            <a:avLst/>
          </a:prstGeom>
          <a:ln>
            <a:solidFill>
              <a:schemeClr val="tx2">
                <a:lumMod val="90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64FCD97A-F6DA-AF08-C9DD-345EE32F447D}"/>
              </a:ext>
            </a:extLst>
          </p:cNvPr>
          <p:cNvCxnSpPr/>
          <p:nvPr/>
        </p:nvCxnSpPr>
        <p:spPr>
          <a:xfrm>
            <a:off x="5532119" y="3337560"/>
            <a:ext cx="0" cy="539496"/>
          </a:xfrm>
          <a:prstGeom prst="straightConnector1">
            <a:avLst/>
          </a:prstGeom>
          <a:ln>
            <a:solidFill>
              <a:schemeClr val="tx2">
                <a:lumMod val="9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8" name="Oval 37">
            <a:extLst>
              <a:ext uri="{FF2B5EF4-FFF2-40B4-BE49-F238E27FC236}">
                <a16:creationId xmlns:a16="http://schemas.microsoft.com/office/drawing/2014/main" id="{C9D2F608-0A89-1EE4-D189-165DBC18BECB}"/>
              </a:ext>
            </a:extLst>
          </p:cNvPr>
          <p:cNvSpPr/>
          <p:nvPr/>
        </p:nvSpPr>
        <p:spPr>
          <a:xfrm>
            <a:off x="4718304" y="3918206"/>
            <a:ext cx="1636771" cy="502916"/>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 STOP</a:t>
            </a:r>
            <a:endParaRPr lang="en-IN" dirty="0"/>
          </a:p>
        </p:txBody>
      </p:sp>
    </p:spTree>
    <p:extLst>
      <p:ext uri="{BB962C8B-B14F-4D97-AF65-F5344CB8AC3E}">
        <p14:creationId xmlns:p14="http://schemas.microsoft.com/office/powerpoint/2010/main" val="29317034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27C56B2C-A8C8-3EA9-1DFA-5CB74211D074}"/>
              </a:ext>
            </a:extLst>
          </p:cNvPr>
          <p:cNvCxnSpPr/>
          <p:nvPr/>
        </p:nvCxnSpPr>
        <p:spPr>
          <a:xfrm>
            <a:off x="9793224" y="0"/>
            <a:ext cx="0" cy="758952"/>
          </a:xfrm>
          <a:prstGeom prst="line">
            <a:avLst/>
          </a:prstGeom>
          <a:ln>
            <a:solidFill>
              <a:schemeClr val="tx2">
                <a:lumMod val="9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A0C291DF-D3ED-DCD2-BFB9-775134309276}"/>
              </a:ext>
            </a:extLst>
          </p:cNvPr>
          <p:cNvCxnSpPr/>
          <p:nvPr/>
        </p:nvCxnSpPr>
        <p:spPr>
          <a:xfrm>
            <a:off x="10250424" y="0"/>
            <a:ext cx="0" cy="6858000"/>
          </a:xfrm>
          <a:prstGeom prst="line">
            <a:avLst/>
          </a:prstGeom>
          <a:ln>
            <a:solidFill>
              <a:schemeClr val="tx2">
                <a:lumMod val="90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7C598342-9D43-356D-E919-707CB982C3B7}"/>
              </a:ext>
            </a:extLst>
          </p:cNvPr>
          <p:cNvCxnSpPr/>
          <p:nvPr/>
        </p:nvCxnSpPr>
        <p:spPr>
          <a:xfrm>
            <a:off x="10622280" y="0"/>
            <a:ext cx="0" cy="6858000"/>
          </a:xfrm>
          <a:prstGeom prst="line">
            <a:avLst/>
          </a:prstGeom>
          <a:ln>
            <a:solidFill>
              <a:schemeClr val="tx2">
                <a:lumMod val="9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069505F-857F-B80B-51E8-893B59DB3BAE}"/>
              </a:ext>
            </a:extLst>
          </p:cNvPr>
          <p:cNvCxnSpPr>
            <a:cxnSpLocks/>
          </p:cNvCxnSpPr>
          <p:nvPr/>
        </p:nvCxnSpPr>
        <p:spPr>
          <a:xfrm flipH="1">
            <a:off x="5340096" y="758952"/>
            <a:ext cx="4453128" cy="36576"/>
          </a:xfrm>
          <a:prstGeom prst="line">
            <a:avLst/>
          </a:prstGeom>
          <a:ln>
            <a:solidFill>
              <a:schemeClr val="tx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EC4F43CB-D44F-66C3-BB7F-875364D3C64B}"/>
              </a:ext>
            </a:extLst>
          </p:cNvPr>
          <p:cNvCxnSpPr>
            <a:cxnSpLocks/>
          </p:cNvCxnSpPr>
          <p:nvPr/>
        </p:nvCxnSpPr>
        <p:spPr>
          <a:xfrm>
            <a:off x="5340096" y="795528"/>
            <a:ext cx="0" cy="457200"/>
          </a:xfrm>
          <a:prstGeom prst="straightConnector1">
            <a:avLst/>
          </a:prstGeom>
          <a:ln>
            <a:solidFill>
              <a:schemeClr val="tx2">
                <a:lumMod val="9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 name="Flowchart: Data 14">
            <a:extLst>
              <a:ext uri="{FF2B5EF4-FFF2-40B4-BE49-F238E27FC236}">
                <a16:creationId xmlns:a16="http://schemas.microsoft.com/office/drawing/2014/main" id="{2DA7277F-4478-E4E4-49B6-0AF85264E7E6}"/>
              </a:ext>
            </a:extLst>
          </p:cNvPr>
          <p:cNvSpPr/>
          <p:nvPr/>
        </p:nvSpPr>
        <p:spPr>
          <a:xfrm>
            <a:off x="3803904" y="1252728"/>
            <a:ext cx="3072384" cy="621792"/>
          </a:xfrm>
          <a:prstGeom prst="flowChartInputOutpu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t>Read application no</a:t>
            </a:r>
            <a:endParaRPr lang="en-IN" sz="1400" dirty="0"/>
          </a:p>
        </p:txBody>
      </p:sp>
      <p:cxnSp>
        <p:nvCxnSpPr>
          <p:cNvPr id="16" name="Straight Arrow Connector 15">
            <a:extLst>
              <a:ext uri="{FF2B5EF4-FFF2-40B4-BE49-F238E27FC236}">
                <a16:creationId xmlns:a16="http://schemas.microsoft.com/office/drawing/2014/main" id="{F5517B54-F1E7-90F8-0D4E-C122C8470B07}"/>
              </a:ext>
            </a:extLst>
          </p:cNvPr>
          <p:cNvCxnSpPr>
            <a:cxnSpLocks/>
          </p:cNvCxnSpPr>
          <p:nvPr/>
        </p:nvCxnSpPr>
        <p:spPr>
          <a:xfrm>
            <a:off x="3270504" y="2889504"/>
            <a:ext cx="0" cy="457200"/>
          </a:xfrm>
          <a:prstGeom prst="straightConnector1">
            <a:avLst/>
          </a:prstGeom>
          <a:ln>
            <a:solidFill>
              <a:schemeClr val="tx2">
                <a:lumMod val="9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E8DD36B-63FB-C0B7-C004-0C89552B0FD1}"/>
              </a:ext>
            </a:extLst>
          </p:cNvPr>
          <p:cNvCxnSpPr>
            <a:cxnSpLocks/>
          </p:cNvCxnSpPr>
          <p:nvPr/>
        </p:nvCxnSpPr>
        <p:spPr>
          <a:xfrm>
            <a:off x="7447783" y="4142232"/>
            <a:ext cx="0" cy="457200"/>
          </a:xfrm>
          <a:prstGeom prst="straightConnector1">
            <a:avLst/>
          </a:prstGeom>
          <a:ln>
            <a:solidFill>
              <a:schemeClr val="tx2">
                <a:lumMod val="9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456F1E9F-7628-E05B-1558-473278F34102}"/>
              </a:ext>
            </a:extLst>
          </p:cNvPr>
          <p:cNvCxnSpPr>
            <a:cxnSpLocks/>
          </p:cNvCxnSpPr>
          <p:nvPr/>
        </p:nvCxnSpPr>
        <p:spPr>
          <a:xfrm>
            <a:off x="5340096" y="1874520"/>
            <a:ext cx="0" cy="457200"/>
          </a:xfrm>
          <a:prstGeom prst="straightConnector1">
            <a:avLst/>
          </a:prstGeom>
          <a:ln>
            <a:solidFill>
              <a:schemeClr val="tx2">
                <a:lumMod val="9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6D9E8D4C-9D1C-F8EF-5699-36817E36E3E4}"/>
              </a:ext>
            </a:extLst>
          </p:cNvPr>
          <p:cNvCxnSpPr>
            <a:cxnSpLocks/>
          </p:cNvCxnSpPr>
          <p:nvPr/>
        </p:nvCxnSpPr>
        <p:spPr>
          <a:xfrm>
            <a:off x="7463023" y="2889504"/>
            <a:ext cx="0" cy="457200"/>
          </a:xfrm>
          <a:prstGeom prst="straightConnector1">
            <a:avLst/>
          </a:prstGeom>
          <a:ln>
            <a:solidFill>
              <a:schemeClr val="tx2">
                <a:lumMod val="9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 name="Flowchart: Decision 19">
            <a:extLst>
              <a:ext uri="{FF2B5EF4-FFF2-40B4-BE49-F238E27FC236}">
                <a16:creationId xmlns:a16="http://schemas.microsoft.com/office/drawing/2014/main" id="{911DAE04-1E16-7CAC-C044-E9D68A18E485}"/>
              </a:ext>
            </a:extLst>
          </p:cNvPr>
          <p:cNvSpPr/>
          <p:nvPr/>
        </p:nvSpPr>
        <p:spPr>
          <a:xfrm>
            <a:off x="4057650" y="2331720"/>
            <a:ext cx="2571745" cy="1097280"/>
          </a:xfrm>
          <a:prstGeom prst="flowChartDecision">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t>If s[</a:t>
            </a:r>
            <a:r>
              <a:rPr lang="en-US" sz="1400" dirty="0" err="1"/>
              <a:t>i</a:t>
            </a:r>
            <a:r>
              <a:rPr lang="en-US" sz="1400" dirty="0"/>
              <a:t>].app-no matches</a:t>
            </a:r>
            <a:endParaRPr lang="en-IN" sz="1400" dirty="0"/>
          </a:p>
        </p:txBody>
      </p:sp>
      <p:cxnSp>
        <p:nvCxnSpPr>
          <p:cNvPr id="22" name="Straight Connector 21">
            <a:extLst>
              <a:ext uri="{FF2B5EF4-FFF2-40B4-BE49-F238E27FC236}">
                <a16:creationId xmlns:a16="http://schemas.microsoft.com/office/drawing/2014/main" id="{56440918-03EC-9816-CBE6-EE54439A65DF}"/>
              </a:ext>
            </a:extLst>
          </p:cNvPr>
          <p:cNvCxnSpPr>
            <a:stCxn id="20" idx="1"/>
          </p:cNvCxnSpPr>
          <p:nvPr/>
        </p:nvCxnSpPr>
        <p:spPr>
          <a:xfrm flipH="1" flipV="1">
            <a:off x="3255264" y="2871216"/>
            <a:ext cx="802386" cy="9144"/>
          </a:xfrm>
          <a:prstGeom prst="line">
            <a:avLst/>
          </a:prstGeom>
          <a:ln>
            <a:solidFill>
              <a:schemeClr val="tx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1E32B6F-DE21-3C55-34D6-4EDCF7A69663}"/>
              </a:ext>
            </a:extLst>
          </p:cNvPr>
          <p:cNvCxnSpPr>
            <a:cxnSpLocks/>
          </p:cNvCxnSpPr>
          <p:nvPr/>
        </p:nvCxnSpPr>
        <p:spPr>
          <a:xfrm flipH="1">
            <a:off x="3270504" y="4142232"/>
            <a:ext cx="1" cy="1536192"/>
          </a:xfrm>
          <a:prstGeom prst="line">
            <a:avLst/>
          </a:prstGeom>
          <a:ln>
            <a:solidFill>
              <a:schemeClr val="tx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1B40EE2-9DD5-1110-0ADC-1D5E160BCC1A}"/>
              </a:ext>
            </a:extLst>
          </p:cNvPr>
          <p:cNvCxnSpPr/>
          <p:nvPr/>
        </p:nvCxnSpPr>
        <p:spPr>
          <a:xfrm flipH="1" flipV="1">
            <a:off x="6636253" y="2880360"/>
            <a:ext cx="802386" cy="9144"/>
          </a:xfrm>
          <a:prstGeom prst="line">
            <a:avLst/>
          </a:prstGeom>
          <a:ln>
            <a:solidFill>
              <a:schemeClr val="tx2">
                <a:lumMod val="90000"/>
              </a:schemeClr>
            </a:solidFill>
          </a:ln>
        </p:spPr>
        <p:style>
          <a:lnRef idx="1">
            <a:schemeClr val="accent1"/>
          </a:lnRef>
          <a:fillRef idx="0">
            <a:schemeClr val="accent1"/>
          </a:fillRef>
          <a:effectRef idx="0">
            <a:schemeClr val="accent1"/>
          </a:effectRef>
          <a:fontRef idx="minor">
            <a:schemeClr val="tx1"/>
          </a:fontRef>
        </p:style>
      </p:cxnSp>
      <p:sp>
        <p:nvSpPr>
          <p:cNvPr id="25" name="Flowchart: Data 24">
            <a:extLst>
              <a:ext uri="{FF2B5EF4-FFF2-40B4-BE49-F238E27FC236}">
                <a16:creationId xmlns:a16="http://schemas.microsoft.com/office/drawing/2014/main" id="{40DF2721-8EBA-69C7-20E5-992260C56CAC}"/>
              </a:ext>
            </a:extLst>
          </p:cNvPr>
          <p:cNvSpPr/>
          <p:nvPr/>
        </p:nvSpPr>
        <p:spPr>
          <a:xfrm>
            <a:off x="2103874" y="3346704"/>
            <a:ext cx="2205975" cy="795528"/>
          </a:xfrm>
          <a:prstGeom prst="flowChartInputOutpu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t>Display ”No matches found” </a:t>
            </a:r>
            <a:endParaRPr lang="en-IN" sz="1400" dirty="0"/>
          </a:p>
        </p:txBody>
      </p:sp>
      <p:sp>
        <p:nvSpPr>
          <p:cNvPr id="26" name="Flowchart: Data 25">
            <a:extLst>
              <a:ext uri="{FF2B5EF4-FFF2-40B4-BE49-F238E27FC236}">
                <a16:creationId xmlns:a16="http://schemas.microsoft.com/office/drawing/2014/main" id="{00A602E8-1A67-18BD-79FD-E17BE1063E6E}"/>
              </a:ext>
            </a:extLst>
          </p:cNvPr>
          <p:cNvSpPr/>
          <p:nvPr/>
        </p:nvSpPr>
        <p:spPr>
          <a:xfrm>
            <a:off x="6377198" y="3346704"/>
            <a:ext cx="2205974" cy="786384"/>
          </a:xfrm>
          <a:prstGeom prst="flowChartInputOutpu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t>Display student details</a:t>
            </a:r>
            <a:endParaRPr lang="en-IN" sz="1400" dirty="0"/>
          </a:p>
        </p:txBody>
      </p:sp>
      <p:sp>
        <p:nvSpPr>
          <p:cNvPr id="27" name="Rectangle 26">
            <a:extLst>
              <a:ext uri="{FF2B5EF4-FFF2-40B4-BE49-F238E27FC236}">
                <a16:creationId xmlns:a16="http://schemas.microsoft.com/office/drawing/2014/main" id="{CE8FC56D-422C-4F36-3B64-AFF7BD793CA2}"/>
              </a:ext>
            </a:extLst>
          </p:cNvPr>
          <p:cNvSpPr/>
          <p:nvPr/>
        </p:nvSpPr>
        <p:spPr>
          <a:xfrm>
            <a:off x="6656827" y="4608576"/>
            <a:ext cx="1563623" cy="420624"/>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t>Found=1</a:t>
            </a:r>
            <a:endParaRPr lang="en-IN" sz="1400" dirty="0"/>
          </a:p>
        </p:txBody>
      </p:sp>
      <p:cxnSp>
        <p:nvCxnSpPr>
          <p:cNvPr id="31" name="Straight Connector 30">
            <a:extLst>
              <a:ext uri="{FF2B5EF4-FFF2-40B4-BE49-F238E27FC236}">
                <a16:creationId xmlns:a16="http://schemas.microsoft.com/office/drawing/2014/main" id="{09789BC4-45C4-0E33-3F69-93A3CAEADCC6}"/>
              </a:ext>
            </a:extLst>
          </p:cNvPr>
          <p:cNvCxnSpPr>
            <a:cxnSpLocks/>
          </p:cNvCxnSpPr>
          <p:nvPr/>
        </p:nvCxnSpPr>
        <p:spPr>
          <a:xfrm flipH="1">
            <a:off x="7447782" y="5029200"/>
            <a:ext cx="1" cy="649224"/>
          </a:xfrm>
          <a:prstGeom prst="line">
            <a:avLst/>
          </a:prstGeom>
          <a:ln>
            <a:solidFill>
              <a:schemeClr val="tx2">
                <a:lumMod val="90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E173028D-27BA-1541-6A76-8B5ADCE0EB07}"/>
              </a:ext>
            </a:extLst>
          </p:cNvPr>
          <p:cNvCxnSpPr/>
          <p:nvPr/>
        </p:nvCxnSpPr>
        <p:spPr>
          <a:xfrm>
            <a:off x="3270504" y="5678424"/>
            <a:ext cx="4177279" cy="0"/>
          </a:xfrm>
          <a:prstGeom prst="line">
            <a:avLst/>
          </a:prstGeom>
          <a:ln>
            <a:solidFill>
              <a:schemeClr val="tx2">
                <a:lumMod val="9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BC83CF0E-6FE9-A01F-677F-54D8F9325659}"/>
              </a:ext>
            </a:extLst>
          </p:cNvPr>
          <p:cNvCxnSpPr/>
          <p:nvPr/>
        </p:nvCxnSpPr>
        <p:spPr>
          <a:xfrm>
            <a:off x="5340096" y="5678424"/>
            <a:ext cx="0" cy="356616"/>
          </a:xfrm>
          <a:prstGeom prst="straightConnector1">
            <a:avLst/>
          </a:prstGeom>
          <a:ln>
            <a:solidFill>
              <a:schemeClr val="tx2">
                <a:lumMod val="9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7" name="Oval 36">
            <a:extLst>
              <a:ext uri="{FF2B5EF4-FFF2-40B4-BE49-F238E27FC236}">
                <a16:creationId xmlns:a16="http://schemas.microsoft.com/office/drawing/2014/main" id="{E8F698F0-0411-5330-C243-0277981D8D18}"/>
              </a:ext>
            </a:extLst>
          </p:cNvPr>
          <p:cNvSpPr/>
          <p:nvPr/>
        </p:nvSpPr>
        <p:spPr>
          <a:xfrm>
            <a:off x="4640961" y="6062472"/>
            <a:ext cx="1398269" cy="566925"/>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 STOP</a:t>
            </a:r>
            <a:endParaRPr lang="en-IN" dirty="0"/>
          </a:p>
        </p:txBody>
      </p:sp>
    </p:spTree>
    <p:extLst>
      <p:ext uri="{BB962C8B-B14F-4D97-AF65-F5344CB8AC3E}">
        <p14:creationId xmlns:p14="http://schemas.microsoft.com/office/powerpoint/2010/main" val="18128935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D4E652F3-00B8-8608-B5A8-2F0149B700AE}"/>
              </a:ext>
            </a:extLst>
          </p:cNvPr>
          <p:cNvCxnSpPr>
            <a:cxnSpLocks/>
          </p:cNvCxnSpPr>
          <p:nvPr/>
        </p:nvCxnSpPr>
        <p:spPr>
          <a:xfrm>
            <a:off x="10131552" y="0"/>
            <a:ext cx="0" cy="694944"/>
          </a:xfrm>
          <a:prstGeom prst="line">
            <a:avLst/>
          </a:prstGeom>
          <a:ln>
            <a:solidFill>
              <a:schemeClr val="tx2">
                <a:lumMod val="9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20F067D1-17A2-429C-8BD1-5D9B97E9B533}"/>
              </a:ext>
            </a:extLst>
          </p:cNvPr>
          <p:cNvCxnSpPr/>
          <p:nvPr/>
        </p:nvCxnSpPr>
        <p:spPr>
          <a:xfrm flipH="1">
            <a:off x="5550408" y="694944"/>
            <a:ext cx="4572000" cy="0"/>
          </a:xfrm>
          <a:prstGeom prst="line">
            <a:avLst/>
          </a:prstGeom>
          <a:ln>
            <a:solidFill>
              <a:schemeClr val="tx2">
                <a:lumMod val="9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B1BE19F-7B7E-2008-6F27-EB71BAD983AD}"/>
              </a:ext>
            </a:extLst>
          </p:cNvPr>
          <p:cNvCxnSpPr>
            <a:cxnSpLocks/>
          </p:cNvCxnSpPr>
          <p:nvPr/>
        </p:nvCxnSpPr>
        <p:spPr>
          <a:xfrm>
            <a:off x="10680192" y="0"/>
            <a:ext cx="0" cy="3429000"/>
          </a:xfrm>
          <a:prstGeom prst="line">
            <a:avLst/>
          </a:prstGeom>
          <a:ln>
            <a:solidFill>
              <a:schemeClr val="tx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577272D3-EAD1-5B95-1F73-85127E6DCFB2}"/>
              </a:ext>
            </a:extLst>
          </p:cNvPr>
          <p:cNvCxnSpPr/>
          <p:nvPr/>
        </p:nvCxnSpPr>
        <p:spPr>
          <a:xfrm>
            <a:off x="5550408" y="694944"/>
            <a:ext cx="0" cy="530352"/>
          </a:xfrm>
          <a:prstGeom prst="straightConnector1">
            <a:avLst/>
          </a:prstGeom>
          <a:ln>
            <a:solidFill>
              <a:schemeClr val="tx2">
                <a:lumMod val="9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 name="Flowchart: Data 13">
            <a:extLst>
              <a:ext uri="{FF2B5EF4-FFF2-40B4-BE49-F238E27FC236}">
                <a16:creationId xmlns:a16="http://schemas.microsoft.com/office/drawing/2014/main" id="{F385BABA-8D35-BC98-CEF6-BC39AC4CF80E}"/>
              </a:ext>
            </a:extLst>
          </p:cNvPr>
          <p:cNvSpPr/>
          <p:nvPr/>
        </p:nvSpPr>
        <p:spPr>
          <a:xfrm>
            <a:off x="4261103" y="1225295"/>
            <a:ext cx="2734047" cy="859535"/>
          </a:xfrm>
          <a:prstGeom prst="flowChartInputOutpu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t> Print CSE,ECE,EEE,MECH,CIVIL VALUES</a:t>
            </a:r>
            <a:endParaRPr lang="en-IN" sz="1400" dirty="0"/>
          </a:p>
        </p:txBody>
      </p:sp>
      <p:cxnSp>
        <p:nvCxnSpPr>
          <p:cNvPr id="18" name="Straight Arrow Connector 17">
            <a:extLst>
              <a:ext uri="{FF2B5EF4-FFF2-40B4-BE49-F238E27FC236}">
                <a16:creationId xmlns:a16="http://schemas.microsoft.com/office/drawing/2014/main" id="{15C0057B-5939-5523-25B3-B224C1220663}"/>
              </a:ext>
            </a:extLst>
          </p:cNvPr>
          <p:cNvCxnSpPr>
            <a:cxnSpLocks/>
          </p:cNvCxnSpPr>
          <p:nvPr/>
        </p:nvCxnSpPr>
        <p:spPr>
          <a:xfrm>
            <a:off x="5550408" y="2084830"/>
            <a:ext cx="0" cy="448058"/>
          </a:xfrm>
          <a:prstGeom prst="straightConnector1">
            <a:avLst/>
          </a:prstGeom>
          <a:ln>
            <a:solidFill>
              <a:schemeClr val="tx2">
                <a:lumMod val="9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B00C2ABD-FE08-F1EF-DD5F-C30E2ACB7C88}"/>
              </a:ext>
            </a:extLst>
          </p:cNvPr>
          <p:cNvSpPr/>
          <p:nvPr/>
        </p:nvSpPr>
        <p:spPr>
          <a:xfrm>
            <a:off x="4709160" y="2532888"/>
            <a:ext cx="1645916" cy="557784"/>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 STOP</a:t>
            </a:r>
            <a:endParaRPr lang="en-IN" dirty="0"/>
          </a:p>
        </p:txBody>
      </p:sp>
      <p:cxnSp>
        <p:nvCxnSpPr>
          <p:cNvPr id="26" name="Straight Connector 25">
            <a:extLst>
              <a:ext uri="{FF2B5EF4-FFF2-40B4-BE49-F238E27FC236}">
                <a16:creationId xmlns:a16="http://schemas.microsoft.com/office/drawing/2014/main" id="{AC5D3EF3-C68A-5C18-D41C-D417B4A64FA0}"/>
              </a:ext>
            </a:extLst>
          </p:cNvPr>
          <p:cNvCxnSpPr/>
          <p:nvPr/>
        </p:nvCxnSpPr>
        <p:spPr>
          <a:xfrm flipH="1">
            <a:off x="5550408" y="3429000"/>
            <a:ext cx="5129784" cy="0"/>
          </a:xfrm>
          <a:prstGeom prst="line">
            <a:avLst/>
          </a:prstGeom>
          <a:ln>
            <a:solidFill>
              <a:schemeClr val="tx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D52D15EA-1ECB-33CC-4D78-0AA988711964}"/>
              </a:ext>
            </a:extLst>
          </p:cNvPr>
          <p:cNvCxnSpPr/>
          <p:nvPr/>
        </p:nvCxnSpPr>
        <p:spPr>
          <a:xfrm>
            <a:off x="5550408" y="3429000"/>
            <a:ext cx="0" cy="502920"/>
          </a:xfrm>
          <a:prstGeom prst="straightConnector1">
            <a:avLst/>
          </a:prstGeom>
          <a:ln>
            <a:solidFill>
              <a:schemeClr val="tx2">
                <a:lumMod val="9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0" name="Flowchart: Data 29">
            <a:extLst>
              <a:ext uri="{FF2B5EF4-FFF2-40B4-BE49-F238E27FC236}">
                <a16:creationId xmlns:a16="http://schemas.microsoft.com/office/drawing/2014/main" id="{7FCC8A40-7928-DB86-6E21-DECB6AC93868}"/>
              </a:ext>
            </a:extLst>
          </p:cNvPr>
          <p:cNvSpPr/>
          <p:nvPr/>
        </p:nvSpPr>
        <p:spPr>
          <a:xfrm>
            <a:off x="3963921" y="3959350"/>
            <a:ext cx="3172974" cy="694935"/>
          </a:xfrm>
          <a:prstGeom prst="flowChartInputOutpu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Print ”Exiting”</a:t>
            </a:r>
            <a:endParaRPr lang="en-IN" dirty="0"/>
          </a:p>
        </p:txBody>
      </p:sp>
      <p:cxnSp>
        <p:nvCxnSpPr>
          <p:cNvPr id="31" name="Straight Arrow Connector 30">
            <a:extLst>
              <a:ext uri="{FF2B5EF4-FFF2-40B4-BE49-F238E27FC236}">
                <a16:creationId xmlns:a16="http://schemas.microsoft.com/office/drawing/2014/main" id="{8FC9D385-2D79-4315-F91D-5F10AF5981C6}"/>
              </a:ext>
            </a:extLst>
          </p:cNvPr>
          <p:cNvCxnSpPr/>
          <p:nvPr/>
        </p:nvCxnSpPr>
        <p:spPr>
          <a:xfrm>
            <a:off x="5550408" y="4654285"/>
            <a:ext cx="0" cy="502920"/>
          </a:xfrm>
          <a:prstGeom prst="straightConnector1">
            <a:avLst/>
          </a:prstGeom>
          <a:ln>
            <a:solidFill>
              <a:schemeClr val="tx2">
                <a:lumMod val="9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3" name="Oval 32">
            <a:extLst>
              <a:ext uri="{FF2B5EF4-FFF2-40B4-BE49-F238E27FC236}">
                <a16:creationId xmlns:a16="http://schemas.microsoft.com/office/drawing/2014/main" id="{392B52A6-2F52-FCA5-0FC5-795645173B4B}"/>
              </a:ext>
            </a:extLst>
          </p:cNvPr>
          <p:cNvSpPr/>
          <p:nvPr/>
        </p:nvSpPr>
        <p:spPr>
          <a:xfrm>
            <a:off x="4727450" y="5129785"/>
            <a:ext cx="1645916" cy="557784"/>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 STOP</a:t>
            </a:r>
            <a:endParaRPr lang="en-IN" dirty="0"/>
          </a:p>
        </p:txBody>
      </p:sp>
    </p:spTree>
    <p:extLst>
      <p:ext uri="{BB962C8B-B14F-4D97-AF65-F5344CB8AC3E}">
        <p14:creationId xmlns:p14="http://schemas.microsoft.com/office/powerpoint/2010/main" val="8849493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C9F0683-FB48-26B4-2EE3-E534A5F0FCFB}"/>
              </a:ext>
            </a:extLst>
          </p:cNvPr>
          <p:cNvSpPr txBox="1"/>
          <p:nvPr/>
        </p:nvSpPr>
        <p:spPr>
          <a:xfrm>
            <a:off x="1186543" y="511629"/>
            <a:ext cx="9916886" cy="1200329"/>
          </a:xfrm>
          <a:prstGeom prst="rect">
            <a:avLst/>
          </a:prstGeom>
          <a:noFill/>
        </p:spPr>
        <p:txBody>
          <a:bodyPr wrap="square" rtlCol="0">
            <a:spAutoFit/>
          </a:bodyPr>
          <a:lstStyle/>
          <a:p>
            <a:r>
              <a:rPr lang="en-IN" sz="3600" dirty="0">
                <a:latin typeface="Algerian" panose="04020705040A02060702" pitchFamily="82" charset="0"/>
              </a:rPr>
              <a:t>Modules :       </a:t>
            </a:r>
          </a:p>
          <a:p>
            <a:r>
              <a:rPr lang="en-IN" sz="3600" dirty="0">
                <a:latin typeface="Algerian" panose="04020705040A02060702" pitchFamily="82" charset="0"/>
              </a:rPr>
              <a:t>            </a:t>
            </a:r>
            <a:endParaRPr lang="en-IN" sz="3600" dirty="0"/>
          </a:p>
        </p:txBody>
      </p:sp>
      <p:sp>
        <p:nvSpPr>
          <p:cNvPr id="9" name="TextBox 8">
            <a:extLst>
              <a:ext uri="{FF2B5EF4-FFF2-40B4-BE49-F238E27FC236}">
                <a16:creationId xmlns:a16="http://schemas.microsoft.com/office/drawing/2014/main" id="{0E9E5023-191E-7BCD-BF7F-E8D546D7FF89}"/>
              </a:ext>
            </a:extLst>
          </p:cNvPr>
          <p:cNvSpPr txBox="1"/>
          <p:nvPr/>
        </p:nvSpPr>
        <p:spPr>
          <a:xfrm>
            <a:off x="1612900" y="1568968"/>
            <a:ext cx="9490529" cy="4801314"/>
          </a:xfrm>
          <a:prstGeom prst="rect">
            <a:avLst/>
          </a:prstGeom>
          <a:noFill/>
        </p:spPr>
        <p:txBody>
          <a:bodyPr wrap="square">
            <a:spAutoFit/>
          </a:bodyPr>
          <a:lstStyle/>
          <a:p>
            <a:r>
              <a:rPr lang="en-IN" dirty="0">
                <a:latin typeface="Arial Black" panose="020B0A04020102020204" pitchFamily="34" charset="0"/>
              </a:rPr>
              <a:t>1. INITIALIZATION MODULE</a:t>
            </a:r>
          </a:p>
          <a:p>
            <a:endParaRPr lang="en-IN" dirty="0">
              <a:latin typeface="Colonna MT" panose="04020805060202030203" pitchFamily="82" charset="0"/>
            </a:endParaRPr>
          </a:p>
          <a:p>
            <a:r>
              <a:rPr lang="en-IN" dirty="0">
                <a:latin typeface="Century" panose="02040604050505020304" pitchFamily="18" charset="0"/>
              </a:rPr>
              <a:t> </a:t>
            </a:r>
            <a:r>
              <a:rPr lang="en-IN" b="1" dirty="0">
                <a:latin typeface="Century" panose="02040604050505020304" pitchFamily="18" charset="0"/>
              </a:rPr>
              <a:t>Input:</a:t>
            </a:r>
          </a:p>
          <a:p>
            <a:r>
              <a:rPr lang="en-IN" dirty="0">
                <a:latin typeface="Century" panose="02040604050505020304" pitchFamily="18" charset="0"/>
              </a:rPr>
              <a:t> None</a:t>
            </a:r>
          </a:p>
          <a:p>
            <a:r>
              <a:rPr lang="en-IN" dirty="0">
                <a:latin typeface="Century" panose="02040604050505020304" pitchFamily="18" charset="0"/>
              </a:rPr>
              <a:t> </a:t>
            </a:r>
            <a:r>
              <a:rPr lang="en-IN" b="1" dirty="0">
                <a:latin typeface="Century" panose="02040604050505020304" pitchFamily="18" charset="0"/>
              </a:rPr>
              <a:t>Process:</a:t>
            </a:r>
          </a:p>
          <a:p>
            <a:r>
              <a:rPr lang="en-IN" dirty="0">
                <a:latin typeface="Century" panose="02040604050505020304" pitchFamily="18" charset="0"/>
              </a:rPr>
              <a:t> a. Initialize student array (MAX = 150)</a:t>
            </a:r>
          </a:p>
          <a:p>
            <a:r>
              <a:rPr lang="en-IN" dirty="0">
                <a:latin typeface="Century" panose="02040604050505020304" pitchFamily="18" charset="0"/>
              </a:rPr>
              <a:t> b. Set seat limits for each department:</a:t>
            </a:r>
          </a:p>
          <a:p>
            <a:r>
              <a:rPr lang="en-IN" dirty="0">
                <a:latin typeface="Century" panose="02040604050505020304" pitchFamily="18" charset="0"/>
              </a:rPr>
              <a:t>     CSE = 150</a:t>
            </a:r>
          </a:p>
          <a:p>
            <a:r>
              <a:rPr lang="en-IN" dirty="0">
                <a:latin typeface="Century" panose="02040604050505020304" pitchFamily="18" charset="0"/>
              </a:rPr>
              <a:t>     ECE = 100</a:t>
            </a:r>
          </a:p>
          <a:p>
            <a:r>
              <a:rPr lang="en-IN" dirty="0">
                <a:latin typeface="Century" panose="02040604050505020304" pitchFamily="18" charset="0"/>
              </a:rPr>
              <a:t>     MECH = 80</a:t>
            </a:r>
          </a:p>
          <a:p>
            <a:r>
              <a:rPr lang="en-IN" dirty="0">
                <a:latin typeface="Century" panose="02040604050505020304" pitchFamily="18" charset="0"/>
              </a:rPr>
              <a:t>     CIVIL = 80</a:t>
            </a:r>
          </a:p>
          <a:p>
            <a:r>
              <a:rPr lang="en-US" dirty="0">
                <a:latin typeface="Century" panose="02040604050505020304" pitchFamily="18" charset="0"/>
              </a:rPr>
              <a:t> c. Initialize student count = 0</a:t>
            </a:r>
          </a:p>
          <a:p>
            <a:r>
              <a:rPr lang="en-US" dirty="0">
                <a:latin typeface="Century" panose="02040604050505020304" pitchFamily="18" charset="0"/>
              </a:rPr>
              <a:t> d. Load required functions for admission, search, seat checking, and display</a:t>
            </a:r>
          </a:p>
          <a:p>
            <a:r>
              <a:rPr lang="en-IN" b="1" dirty="0">
                <a:latin typeface="Century" panose="02040604050505020304" pitchFamily="18" charset="0"/>
              </a:rPr>
              <a:t> Output</a:t>
            </a:r>
            <a:r>
              <a:rPr lang="en-IN" dirty="0">
                <a:latin typeface="Century" panose="02040604050505020304" pitchFamily="18" charset="0"/>
              </a:rPr>
              <a:t>:</a:t>
            </a:r>
          </a:p>
          <a:p>
            <a:r>
              <a:rPr lang="en-IN" dirty="0">
                <a:latin typeface="Century" panose="02040604050505020304" pitchFamily="18" charset="0"/>
              </a:rPr>
              <a:t> System initialized successfully</a:t>
            </a:r>
          </a:p>
          <a:p>
            <a:endParaRPr lang="en-IN" dirty="0">
              <a:latin typeface="Century" panose="02040604050505020304" pitchFamily="18" charset="0"/>
            </a:endParaRPr>
          </a:p>
          <a:p>
            <a:endParaRPr lang="en-IN" dirty="0">
              <a:latin typeface="Century" panose="02040604050505020304" pitchFamily="18" charset="0"/>
            </a:endParaRPr>
          </a:p>
        </p:txBody>
      </p:sp>
    </p:spTree>
    <p:extLst>
      <p:ext uri="{BB962C8B-B14F-4D97-AF65-F5344CB8AC3E}">
        <p14:creationId xmlns:p14="http://schemas.microsoft.com/office/powerpoint/2010/main" val="37249329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C1F740-C259-385A-763A-088A249D5330}"/>
              </a:ext>
            </a:extLst>
          </p:cNvPr>
          <p:cNvSpPr txBox="1"/>
          <p:nvPr/>
        </p:nvSpPr>
        <p:spPr>
          <a:xfrm>
            <a:off x="1529443" y="0"/>
            <a:ext cx="9525000" cy="6740307"/>
          </a:xfrm>
          <a:prstGeom prst="rect">
            <a:avLst/>
          </a:prstGeom>
          <a:noFill/>
        </p:spPr>
        <p:txBody>
          <a:bodyPr wrap="square" rtlCol="0">
            <a:spAutoFit/>
          </a:bodyPr>
          <a:lstStyle/>
          <a:p>
            <a:r>
              <a:rPr lang="en-IN" dirty="0">
                <a:latin typeface="Arial Black" panose="020B0A04020102020204" pitchFamily="34" charset="0"/>
              </a:rPr>
              <a:t>2. STUDENT ADMISSION MODULE</a:t>
            </a:r>
          </a:p>
          <a:p>
            <a:endParaRPr lang="en-IN" dirty="0">
              <a:latin typeface="Arial Black" panose="020B0A04020102020204" pitchFamily="34" charset="0"/>
            </a:endParaRPr>
          </a:p>
          <a:p>
            <a:r>
              <a:rPr lang="en-IN" dirty="0"/>
              <a:t>Input:       </a:t>
            </a:r>
            <a:r>
              <a:rPr lang="en-IN" dirty="0">
                <a:latin typeface="Century" panose="02040604050505020304" pitchFamily="18" charset="0"/>
              </a:rPr>
              <a:t>Student details (Application Number, Name, </a:t>
            </a:r>
            <a:r>
              <a:rPr lang="en-IN" dirty="0" err="1">
                <a:latin typeface="Century" panose="02040604050505020304" pitchFamily="18" charset="0"/>
              </a:rPr>
              <a:t>Deoartment</a:t>
            </a:r>
            <a:r>
              <a:rPr lang="en-IN" dirty="0">
                <a:latin typeface="Century" panose="02040604050505020304" pitchFamily="18" charset="0"/>
              </a:rPr>
              <a:t>, Marks)</a:t>
            </a:r>
          </a:p>
          <a:p>
            <a:r>
              <a:rPr lang="en-IN" dirty="0">
                <a:latin typeface="Century" panose="02040604050505020304" pitchFamily="18" charset="0"/>
              </a:rPr>
              <a:t>Process:</a:t>
            </a:r>
          </a:p>
          <a:p>
            <a:r>
              <a:rPr lang="en-IN" dirty="0">
                <a:latin typeface="Century" panose="02040604050505020304" pitchFamily="18" charset="0"/>
              </a:rPr>
              <a:t>a. Validate student inputs</a:t>
            </a:r>
          </a:p>
          <a:p>
            <a:r>
              <a:rPr lang="en-IN" dirty="0">
                <a:latin typeface="Century" panose="02040604050505020304" pitchFamily="18" charset="0"/>
              </a:rPr>
              <a:t>Check application number format</a:t>
            </a:r>
          </a:p>
          <a:p>
            <a:r>
              <a:rPr lang="en-US" dirty="0">
                <a:latin typeface="Century" panose="02040604050505020304" pitchFamily="18" charset="0"/>
              </a:rPr>
              <a:t>Ensure department value is valid (CSE/ECE/MECH/CE)</a:t>
            </a:r>
          </a:p>
          <a:p>
            <a:r>
              <a:rPr lang="en-US" dirty="0">
                <a:latin typeface="Century" panose="02040604050505020304" pitchFamily="18" charset="0"/>
              </a:rPr>
              <a:t>b. Check seat availability in selected department</a:t>
            </a:r>
          </a:p>
          <a:p>
            <a:r>
              <a:rPr lang="en-US" dirty="0">
                <a:latin typeface="Century" panose="02040604050505020304" pitchFamily="18" charset="0"/>
              </a:rPr>
              <a:t>If seats full → reject admission</a:t>
            </a:r>
          </a:p>
          <a:p>
            <a:r>
              <a:rPr lang="en-US" dirty="0">
                <a:latin typeface="Century" panose="02040604050505020304" pitchFamily="18" charset="0"/>
              </a:rPr>
              <a:t>c. If  NOT FULL:</a:t>
            </a:r>
          </a:p>
          <a:p>
            <a:r>
              <a:rPr lang="en-US" dirty="0">
                <a:latin typeface="Century" panose="02040604050505020304" pitchFamily="18" charset="0"/>
              </a:rPr>
              <a:t>Store student data in student database</a:t>
            </a:r>
          </a:p>
          <a:p>
            <a:r>
              <a:rPr lang="en-US" dirty="0">
                <a:latin typeface="Century" panose="02040604050505020304" pitchFamily="18" charset="0"/>
              </a:rPr>
              <a:t>Reduce seat count for selected department</a:t>
            </a:r>
          </a:p>
          <a:p>
            <a:r>
              <a:rPr lang="en-US" dirty="0">
                <a:latin typeface="Century" panose="02040604050505020304" pitchFamily="18" charset="0"/>
              </a:rPr>
              <a:t>Output:      Student admitted successfully OR ❌ Rejection message</a:t>
            </a:r>
          </a:p>
          <a:p>
            <a:endParaRPr lang="en-US" dirty="0">
              <a:latin typeface="Century" panose="02040604050505020304" pitchFamily="18" charset="0"/>
            </a:endParaRPr>
          </a:p>
          <a:p>
            <a:r>
              <a:rPr lang="en-US" dirty="0">
                <a:latin typeface="Arial Black" panose="020B0A04020102020204" pitchFamily="34" charset="0"/>
              </a:rPr>
              <a:t>3. STUDENT DISPLAY MODULE</a:t>
            </a:r>
          </a:p>
          <a:p>
            <a:endParaRPr lang="en-US" dirty="0">
              <a:latin typeface="Arial Black" panose="020B0A04020102020204" pitchFamily="34" charset="0"/>
            </a:endParaRPr>
          </a:p>
          <a:p>
            <a:r>
              <a:rPr lang="en-US" dirty="0">
                <a:latin typeface="Century" panose="02040604050505020304" pitchFamily="18" charset="0"/>
              </a:rPr>
              <a:t>Input:      </a:t>
            </a:r>
          </a:p>
          <a:p>
            <a:r>
              <a:rPr lang="en-US" dirty="0">
                <a:latin typeface="Century" panose="02040604050505020304" pitchFamily="18" charset="0"/>
              </a:rPr>
              <a:t>None      </a:t>
            </a:r>
          </a:p>
          <a:p>
            <a:r>
              <a:rPr lang="en-US" dirty="0">
                <a:latin typeface="Century" panose="02040604050505020304" pitchFamily="18" charset="0"/>
              </a:rPr>
              <a:t>Process:</a:t>
            </a:r>
          </a:p>
          <a:p>
            <a:pPr marL="342900" indent="-342900">
              <a:buAutoNum type="alphaLcPeriod"/>
            </a:pPr>
            <a:r>
              <a:rPr lang="en-US" dirty="0">
                <a:latin typeface="Century" panose="02040604050505020304" pitchFamily="18" charset="0"/>
              </a:rPr>
              <a:t>Check if any students exist</a:t>
            </a:r>
          </a:p>
          <a:p>
            <a:r>
              <a:rPr lang="en-US" dirty="0">
                <a:latin typeface="Century" panose="02040604050505020304" pitchFamily="18" charset="0"/>
              </a:rPr>
              <a:t>b. For each student : Print Application </a:t>
            </a:r>
          </a:p>
          <a:p>
            <a:r>
              <a:rPr lang="en-US" dirty="0">
                <a:latin typeface="Century" panose="02040604050505020304" pitchFamily="18" charset="0"/>
              </a:rPr>
              <a:t>Number Print Name Print Department</a:t>
            </a:r>
          </a:p>
          <a:p>
            <a:r>
              <a:rPr lang="en-US" dirty="0">
                <a:latin typeface="Century" panose="02040604050505020304" pitchFamily="18" charset="0"/>
              </a:rPr>
              <a:t>Output:       List of all admitted students</a:t>
            </a:r>
          </a:p>
          <a:p>
            <a:endParaRPr lang="en-IN" dirty="0">
              <a:latin typeface="Century" panose="02040604050505020304" pitchFamily="18" charset="0"/>
            </a:endParaRPr>
          </a:p>
        </p:txBody>
      </p:sp>
    </p:spTree>
    <p:extLst>
      <p:ext uri="{BB962C8B-B14F-4D97-AF65-F5344CB8AC3E}">
        <p14:creationId xmlns:p14="http://schemas.microsoft.com/office/powerpoint/2010/main" val="17372911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FC834F9-6EE3-FBCD-2AE6-350952E3F9B1}"/>
              </a:ext>
            </a:extLst>
          </p:cNvPr>
          <p:cNvSpPr txBox="1"/>
          <p:nvPr/>
        </p:nvSpPr>
        <p:spPr>
          <a:xfrm>
            <a:off x="1872343" y="117693"/>
            <a:ext cx="9067800" cy="6740307"/>
          </a:xfrm>
          <a:prstGeom prst="rect">
            <a:avLst/>
          </a:prstGeom>
          <a:noFill/>
        </p:spPr>
        <p:txBody>
          <a:bodyPr wrap="square" rtlCol="0">
            <a:spAutoFit/>
          </a:bodyPr>
          <a:lstStyle/>
          <a:p>
            <a:r>
              <a:rPr lang="en-US" dirty="0">
                <a:latin typeface="Arial Black" panose="020B0A04020102020204" pitchFamily="34" charset="0"/>
              </a:rPr>
              <a:t>4. STUDENT SEARCH MODULE</a:t>
            </a:r>
          </a:p>
          <a:p>
            <a:endParaRPr lang="en-US" dirty="0"/>
          </a:p>
          <a:p>
            <a:r>
              <a:rPr lang="en-US" dirty="0">
                <a:latin typeface="Century" panose="02040604050505020304" pitchFamily="18" charset="0"/>
              </a:rPr>
              <a:t>Input:</a:t>
            </a:r>
          </a:p>
          <a:p>
            <a:r>
              <a:rPr lang="en-US" dirty="0">
                <a:latin typeface="Century" panose="02040604050505020304" pitchFamily="18" charset="0"/>
              </a:rPr>
              <a:t>Application Number</a:t>
            </a:r>
          </a:p>
          <a:p>
            <a:r>
              <a:rPr lang="en-US" dirty="0">
                <a:latin typeface="Century" panose="02040604050505020304" pitchFamily="18" charset="0"/>
              </a:rPr>
              <a:t>Process:</a:t>
            </a:r>
          </a:p>
          <a:p>
            <a:r>
              <a:rPr lang="en-US" dirty="0">
                <a:latin typeface="Century" panose="02040604050505020304" pitchFamily="18" charset="0"/>
              </a:rPr>
              <a:t>a. Traverse student database</a:t>
            </a:r>
          </a:p>
          <a:p>
            <a:r>
              <a:rPr lang="en-US" dirty="0">
                <a:latin typeface="Century" panose="02040604050505020304" pitchFamily="18" charset="0"/>
              </a:rPr>
              <a:t>b. Compare input application number with stored records</a:t>
            </a:r>
          </a:p>
          <a:p>
            <a:r>
              <a:rPr lang="en-US" dirty="0">
                <a:latin typeface="Century" panose="02040604050505020304" pitchFamily="18" charset="0"/>
              </a:rPr>
              <a:t>c. If match found → display student details</a:t>
            </a:r>
          </a:p>
          <a:p>
            <a:r>
              <a:rPr lang="en-US" dirty="0">
                <a:latin typeface="Century" panose="02040604050505020304" pitchFamily="18" charset="0"/>
              </a:rPr>
              <a:t>d. If not found → show “Student Not Found”</a:t>
            </a:r>
          </a:p>
          <a:p>
            <a:r>
              <a:rPr lang="en-US" dirty="0">
                <a:latin typeface="Century" panose="02040604050505020304" pitchFamily="18" charset="0"/>
              </a:rPr>
              <a:t>Output:</a:t>
            </a:r>
          </a:p>
          <a:p>
            <a:r>
              <a:rPr lang="en-US" dirty="0">
                <a:latin typeface="Century" panose="02040604050505020304" pitchFamily="18" charset="0"/>
              </a:rPr>
              <a:t>Student details OR Not found message</a:t>
            </a:r>
          </a:p>
          <a:p>
            <a:endParaRPr lang="en-IN" dirty="0">
              <a:latin typeface="Century" panose="02040604050505020304" pitchFamily="18" charset="0"/>
            </a:endParaRPr>
          </a:p>
          <a:p>
            <a:r>
              <a:rPr lang="en-US" dirty="0">
                <a:latin typeface="Arial Black" panose="020B0A04020102020204" pitchFamily="34" charset="0"/>
              </a:rPr>
              <a:t>5. SEAT MANAGEMENT MODULE</a:t>
            </a:r>
          </a:p>
          <a:p>
            <a:endParaRPr lang="en-US" dirty="0">
              <a:latin typeface="Century" panose="02040604050505020304" pitchFamily="18" charset="0"/>
            </a:endParaRPr>
          </a:p>
          <a:p>
            <a:r>
              <a:rPr lang="en-US" dirty="0">
                <a:latin typeface="Century" panose="02040604050505020304" pitchFamily="18" charset="0"/>
              </a:rPr>
              <a:t>Input:</a:t>
            </a:r>
          </a:p>
          <a:p>
            <a:r>
              <a:rPr lang="en-US" dirty="0">
                <a:latin typeface="Century" panose="02040604050505020304" pitchFamily="18" charset="0"/>
              </a:rPr>
              <a:t>Department (optional for seat check)</a:t>
            </a:r>
          </a:p>
          <a:p>
            <a:r>
              <a:rPr lang="en-US" dirty="0">
                <a:latin typeface="Century" panose="02040604050505020304" pitchFamily="18" charset="0"/>
              </a:rPr>
              <a:t>Process:</a:t>
            </a:r>
          </a:p>
          <a:p>
            <a:pPr marL="342900" indent="-342900">
              <a:buAutoNum type="alphaLcPeriod"/>
            </a:pPr>
            <a:r>
              <a:rPr lang="en-US" dirty="0">
                <a:latin typeface="Century" panose="02040604050505020304" pitchFamily="18" charset="0"/>
              </a:rPr>
              <a:t>Maintain seat counters for each department</a:t>
            </a:r>
          </a:p>
          <a:p>
            <a:r>
              <a:rPr lang="en-US" dirty="0">
                <a:latin typeface="Century" panose="02040604050505020304" pitchFamily="18" charset="0"/>
              </a:rPr>
              <a:t>b. Check seat availability before admission</a:t>
            </a:r>
          </a:p>
          <a:p>
            <a:r>
              <a:rPr lang="en-US" dirty="0">
                <a:latin typeface="Century" panose="02040604050505020304" pitchFamily="18" charset="0"/>
              </a:rPr>
              <a:t>c. Reduce seat count after successful admission</a:t>
            </a:r>
          </a:p>
          <a:p>
            <a:r>
              <a:rPr lang="en-US" dirty="0">
                <a:latin typeface="Century" panose="02040604050505020304" pitchFamily="18" charset="0"/>
              </a:rPr>
              <a:t>d. Provide real-time seat availability report</a:t>
            </a:r>
          </a:p>
          <a:p>
            <a:r>
              <a:rPr lang="en-US" dirty="0">
                <a:latin typeface="Century" panose="02040604050505020304" pitchFamily="18" charset="0"/>
              </a:rPr>
              <a:t>Output:</a:t>
            </a:r>
          </a:p>
          <a:p>
            <a:r>
              <a:rPr lang="en-US" dirty="0">
                <a:latin typeface="Century" panose="02040604050505020304" pitchFamily="18" charset="0"/>
              </a:rPr>
              <a:t>Seat availability confirmation</a:t>
            </a:r>
          </a:p>
          <a:p>
            <a:r>
              <a:rPr lang="en-US" dirty="0">
                <a:latin typeface="Century" panose="02040604050505020304" pitchFamily="18" charset="0"/>
              </a:rPr>
              <a:t>Updated seat status</a:t>
            </a:r>
            <a:endParaRPr lang="en-IN" dirty="0">
              <a:latin typeface="Century" panose="02040604050505020304" pitchFamily="18" charset="0"/>
            </a:endParaRPr>
          </a:p>
        </p:txBody>
      </p:sp>
    </p:spTree>
    <p:extLst>
      <p:ext uri="{BB962C8B-B14F-4D97-AF65-F5344CB8AC3E}">
        <p14:creationId xmlns:p14="http://schemas.microsoft.com/office/powerpoint/2010/main" val="24951372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46F77DC-9E9C-BD9A-1A89-AE95A5F4C2F9}"/>
              </a:ext>
            </a:extLst>
          </p:cNvPr>
          <p:cNvSpPr txBox="1"/>
          <p:nvPr/>
        </p:nvSpPr>
        <p:spPr>
          <a:xfrm>
            <a:off x="1756228" y="0"/>
            <a:ext cx="8349343" cy="7017306"/>
          </a:xfrm>
          <a:prstGeom prst="rect">
            <a:avLst/>
          </a:prstGeom>
          <a:noFill/>
        </p:spPr>
        <p:txBody>
          <a:bodyPr wrap="square" rtlCol="0">
            <a:spAutoFit/>
          </a:bodyPr>
          <a:lstStyle/>
          <a:p>
            <a:r>
              <a:rPr lang="en-IN" dirty="0">
                <a:latin typeface="Arial Black" panose="020B0A04020102020204" pitchFamily="34" charset="0"/>
              </a:rPr>
              <a:t>6. MENU CONTROL MODULE</a:t>
            </a:r>
          </a:p>
          <a:p>
            <a:endParaRPr lang="en-IN" dirty="0"/>
          </a:p>
          <a:p>
            <a:r>
              <a:rPr lang="en-IN" dirty="0"/>
              <a:t>Input:</a:t>
            </a:r>
          </a:p>
          <a:p>
            <a:r>
              <a:rPr lang="en-IN" dirty="0"/>
              <a:t>User choice (1 → 5)</a:t>
            </a:r>
          </a:p>
          <a:p>
            <a:r>
              <a:rPr lang="en-IN" dirty="0"/>
              <a:t>Process:</a:t>
            </a:r>
          </a:p>
          <a:p>
            <a:pPr marL="342900" indent="-342900">
              <a:buAutoNum type="alphaLcPeriod"/>
            </a:pPr>
            <a:r>
              <a:rPr lang="en-IN" dirty="0"/>
              <a:t>Display main menu:</a:t>
            </a:r>
          </a:p>
          <a:p>
            <a:r>
              <a:rPr lang="en-IN" dirty="0"/>
              <a:t>Add Student</a:t>
            </a:r>
          </a:p>
          <a:p>
            <a:r>
              <a:rPr lang="en-IN" dirty="0"/>
              <a:t>Display Students</a:t>
            </a:r>
          </a:p>
          <a:p>
            <a:r>
              <a:rPr lang="en-IN" dirty="0"/>
              <a:t>Search Student</a:t>
            </a:r>
          </a:p>
          <a:p>
            <a:r>
              <a:rPr lang="en-IN" dirty="0"/>
              <a:t>Show Remaining Seats Exit</a:t>
            </a:r>
          </a:p>
          <a:p>
            <a:r>
              <a:rPr lang="en-IN" dirty="0"/>
              <a:t>b. Execute corresponding module based on choice</a:t>
            </a:r>
          </a:p>
          <a:p>
            <a:r>
              <a:rPr lang="en-IN" dirty="0"/>
              <a:t>c. Repeat until user selects Exit</a:t>
            </a:r>
          </a:p>
          <a:p>
            <a:r>
              <a:rPr lang="en-IN" dirty="0"/>
              <a:t>Output:</a:t>
            </a:r>
          </a:p>
          <a:p>
            <a:r>
              <a:rPr lang="en-IN" dirty="0"/>
              <a:t>Menu-driven user interaction</a:t>
            </a:r>
          </a:p>
          <a:p>
            <a:endParaRPr lang="en-IN" dirty="0"/>
          </a:p>
          <a:p>
            <a:r>
              <a:rPr lang="en-IN" dirty="0">
                <a:latin typeface="Arial Black" panose="020B0A04020102020204" pitchFamily="34" charset="0"/>
              </a:rPr>
              <a:t>7. EXIT MODULE</a:t>
            </a:r>
          </a:p>
          <a:p>
            <a:endParaRPr lang="en-IN" dirty="0"/>
          </a:p>
          <a:p>
            <a:r>
              <a:rPr lang="en-US" dirty="0"/>
              <a:t>Input:</a:t>
            </a:r>
          </a:p>
          <a:p>
            <a:r>
              <a:rPr lang="en-US" dirty="0"/>
              <a:t>User selects Exit option</a:t>
            </a:r>
          </a:p>
          <a:p>
            <a:r>
              <a:rPr lang="en-US" dirty="0"/>
              <a:t>Process:</a:t>
            </a:r>
          </a:p>
          <a:p>
            <a:pPr marL="342900" indent="-342900">
              <a:buAutoNum type="alphaLcPeriod"/>
            </a:pPr>
            <a:r>
              <a:rPr lang="en-US" dirty="0"/>
              <a:t>Close program</a:t>
            </a:r>
          </a:p>
          <a:p>
            <a:r>
              <a:rPr lang="en-US" dirty="0"/>
              <a:t>b. Free temporary input</a:t>
            </a:r>
          </a:p>
          <a:p>
            <a:r>
              <a:rPr lang="en-US" dirty="0"/>
              <a:t>c. Display exit message</a:t>
            </a:r>
          </a:p>
          <a:p>
            <a:r>
              <a:rPr lang="en-US" dirty="0"/>
              <a:t>Output:</a:t>
            </a:r>
          </a:p>
          <a:p>
            <a:r>
              <a:rPr lang="en-US" dirty="0"/>
              <a:t>System terminated safely</a:t>
            </a:r>
            <a:endParaRPr lang="en-IN" dirty="0"/>
          </a:p>
        </p:txBody>
      </p:sp>
    </p:spTree>
    <p:extLst>
      <p:ext uri="{BB962C8B-B14F-4D97-AF65-F5344CB8AC3E}">
        <p14:creationId xmlns:p14="http://schemas.microsoft.com/office/powerpoint/2010/main" val="11331294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C3B62C9-AF52-A532-1B07-28EF99BA9BCA}"/>
              </a:ext>
            </a:extLst>
          </p:cNvPr>
          <p:cNvSpPr txBox="1"/>
          <p:nvPr/>
        </p:nvSpPr>
        <p:spPr>
          <a:xfrm>
            <a:off x="1143000" y="203200"/>
            <a:ext cx="8864600" cy="1200329"/>
          </a:xfrm>
          <a:prstGeom prst="rect">
            <a:avLst/>
          </a:prstGeom>
          <a:noFill/>
        </p:spPr>
        <p:txBody>
          <a:bodyPr wrap="square" rtlCol="0">
            <a:spAutoFit/>
          </a:bodyPr>
          <a:lstStyle/>
          <a:p>
            <a:r>
              <a:rPr lang="en-IN" sz="3600" dirty="0">
                <a:latin typeface="Algerian" panose="04020705040A02060702" pitchFamily="82" charset="0"/>
              </a:rPr>
              <a:t>LOGIC MODULE WISE :</a:t>
            </a:r>
          </a:p>
          <a:p>
            <a:endParaRPr lang="en-IN" sz="3600" dirty="0">
              <a:latin typeface="Algerian" panose="04020705040A02060702" pitchFamily="82" charset="0"/>
            </a:endParaRPr>
          </a:p>
        </p:txBody>
      </p:sp>
      <p:sp>
        <p:nvSpPr>
          <p:cNvPr id="3" name="TextBox 2">
            <a:extLst>
              <a:ext uri="{FF2B5EF4-FFF2-40B4-BE49-F238E27FC236}">
                <a16:creationId xmlns:a16="http://schemas.microsoft.com/office/drawing/2014/main" id="{8B4A3D8F-20A2-0EBD-4B73-98873BD2B651}"/>
              </a:ext>
            </a:extLst>
          </p:cNvPr>
          <p:cNvSpPr txBox="1"/>
          <p:nvPr/>
        </p:nvSpPr>
        <p:spPr>
          <a:xfrm>
            <a:off x="1689100" y="1413063"/>
            <a:ext cx="9385300" cy="4031873"/>
          </a:xfrm>
          <a:prstGeom prst="rect">
            <a:avLst/>
          </a:prstGeom>
          <a:noFill/>
        </p:spPr>
        <p:txBody>
          <a:bodyPr wrap="square" rtlCol="0">
            <a:spAutoFit/>
          </a:bodyPr>
          <a:lstStyle/>
          <a:p>
            <a:pPr marL="457200" indent="-457200">
              <a:buAutoNum type="arabicPeriod"/>
            </a:pPr>
            <a:r>
              <a:rPr lang="en-US" b="1" dirty="0">
                <a:latin typeface="Arial Black" panose="020B0A04020102020204" pitchFamily="34" charset="0"/>
              </a:rPr>
              <a:t>Structure Definition &amp; Global Variables</a:t>
            </a:r>
          </a:p>
          <a:p>
            <a:endParaRPr lang="en-US" sz="2000" b="1" dirty="0">
              <a:latin typeface="Arial Black" panose="020B0A04020102020204" pitchFamily="34" charset="0"/>
            </a:endParaRPr>
          </a:p>
          <a:p>
            <a:r>
              <a:rPr lang="en-US" sz="2000" u="sng" dirty="0">
                <a:latin typeface="Century" panose="02040604050505020304" pitchFamily="18" charset="0"/>
                <a:ea typeface="Cambria" pitchFamily="18" charset="0"/>
              </a:rPr>
              <a:t>Logic:</a:t>
            </a:r>
          </a:p>
          <a:p>
            <a:r>
              <a:rPr lang="en-US" dirty="0">
                <a:latin typeface="Century" panose="02040604050505020304" pitchFamily="18" charset="0"/>
                <a:ea typeface="Cambria" pitchFamily="18" charset="0"/>
              </a:rPr>
              <a:t>Define a structure Student to store:</a:t>
            </a:r>
          </a:p>
          <a:p>
            <a:r>
              <a:rPr lang="en-US" dirty="0">
                <a:latin typeface="Century" panose="02040604050505020304" pitchFamily="18" charset="0"/>
                <a:ea typeface="Cambria" pitchFamily="18" charset="0"/>
              </a:rPr>
              <a:t>Application Number</a:t>
            </a:r>
          </a:p>
          <a:p>
            <a:r>
              <a:rPr lang="en-US" dirty="0">
                <a:latin typeface="Century" panose="02040604050505020304" pitchFamily="18" charset="0"/>
                <a:ea typeface="Cambria" pitchFamily="18" charset="0"/>
              </a:rPr>
              <a:t>Name</a:t>
            </a:r>
          </a:p>
          <a:p>
            <a:r>
              <a:rPr lang="en-US" dirty="0">
                <a:latin typeface="Century" panose="02040604050505020304" pitchFamily="18" charset="0"/>
                <a:ea typeface="Cambria" pitchFamily="18" charset="0"/>
              </a:rPr>
              <a:t>Department</a:t>
            </a:r>
          </a:p>
          <a:p>
            <a:r>
              <a:rPr lang="en-US" dirty="0">
                <a:latin typeface="Century" panose="02040604050505020304" pitchFamily="18" charset="0"/>
                <a:ea typeface="Cambria" pitchFamily="18" charset="0"/>
              </a:rPr>
              <a:t>Initialize seat limits for each department:</a:t>
            </a:r>
          </a:p>
          <a:p>
            <a:r>
              <a:rPr lang="en-US" dirty="0">
                <a:latin typeface="Century" panose="02040604050505020304" pitchFamily="18" charset="0"/>
                <a:ea typeface="Cambria" pitchFamily="18" charset="0"/>
              </a:rPr>
              <a:t>CSE = 150</a:t>
            </a:r>
          </a:p>
          <a:p>
            <a:r>
              <a:rPr lang="en-US" dirty="0">
                <a:latin typeface="Century" panose="02040604050505020304" pitchFamily="18" charset="0"/>
                <a:ea typeface="Cambria" pitchFamily="18" charset="0"/>
              </a:rPr>
              <a:t>ECE = 100</a:t>
            </a:r>
          </a:p>
          <a:p>
            <a:r>
              <a:rPr lang="en-US" dirty="0">
                <a:latin typeface="Century" panose="02040604050505020304" pitchFamily="18" charset="0"/>
                <a:ea typeface="Cambria" pitchFamily="18" charset="0"/>
              </a:rPr>
              <a:t>MECH = 80</a:t>
            </a:r>
          </a:p>
          <a:p>
            <a:r>
              <a:rPr lang="en-US" dirty="0">
                <a:latin typeface="Century" panose="02040604050505020304" pitchFamily="18" charset="0"/>
                <a:ea typeface="Cambria" pitchFamily="18" charset="0"/>
              </a:rPr>
              <a:t>CE = 80</a:t>
            </a:r>
          </a:p>
          <a:p>
            <a:r>
              <a:rPr lang="en-US" dirty="0">
                <a:latin typeface="Century" panose="02040604050505020304" pitchFamily="18" charset="0"/>
                <a:ea typeface="Cambria" pitchFamily="18" charset="0"/>
              </a:rPr>
              <a:t>These seat variables are global so all modules can access and modify them.</a:t>
            </a:r>
            <a:endParaRPr lang="en-IN" dirty="0">
              <a:latin typeface="Century" panose="02040604050505020304" pitchFamily="18" charset="0"/>
              <a:ea typeface="Cambria" pitchFamily="18" charset="0"/>
            </a:endParaRPr>
          </a:p>
          <a:p>
            <a:endParaRPr lang="en-IN" dirty="0">
              <a:latin typeface="Century" panose="02040604050505020304" pitchFamily="18" charset="0"/>
            </a:endParaRPr>
          </a:p>
        </p:txBody>
      </p:sp>
    </p:spTree>
    <p:extLst>
      <p:ext uri="{BB962C8B-B14F-4D97-AF65-F5344CB8AC3E}">
        <p14:creationId xmlns:p14="http://schemas.microsoft.com/office/powerpoint/2010/main" val="21024506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770F816-9E71-3808-49A1-C4C78B0BDE55}"/>
              </a:ext>
            </a:extLst>
          </p:cNvPr>
          <p:cNvSpPr txBox="1"/>
          <p:nvPr/>
        </p:nvSpPr>
        <p:spPr>
          <a:xfrm>
            <a:off x="1803400" y="752544"/>
            <a:ext cx="9474200" cy="5632311"/>
          </a:xfrm>
          <a:prstGeom prst="rect">
            <a:avLst/>
          </a:prstGeom>
          <a:noFill/>
        </p:spPr>
        <p:txBody>
          <a:bodyPr wrap="square" rtlCol="0">
            <a:spAutoFit/>
          </a:bodyPr>
          <a:lstStyle/>
          <a:p>
            <a:r>
              <a:rPr lang="en-US" dirty="0">
                <a:latin typeface="Arial Black" panose="020B0A04020102020204" pitchFamily="34" charset="0"/>
              </a:rPr>
              <a:t>2. Module: show Remaining Seats()</a:t>
            </a:r>
          </a:p>
          <a:p>
            <a:endParaRPr lang="en-US" dirty="0">
              <a:latin typeface="Century" panose="02040604050505020304" pitchFamily="18" charset="0"/>
            </a:endParaRPr>
          </a:p>
          <a:p>
            <a:r>
              <a:rPr lang="en-US" u="sng" dirty="0">
                <a:latin typeface="Century" panose="02040604050505020304" pitchFamily="18" charset="0"/>
              </a:rPr>
              <a:t>Logic:</a:t>
            </a:r>
          </a:p>
          <a:p>
            <a:r>
              <a:rPr lang="en-US" dirty="0">
                <a:latin typeface="Century" panose="02040604050505020304" pitchFamily="18" charset="0"/>
                <a:ea typeface="Cambria" pitchFamily="18" charset="0"/>
              </a:rPr>
              <a:t>Display a heading "Seat Availability".</a:t>
            </a:r>
          </a:p>
          <a:p>
            <a:r>
              <a:rPr lang="en-US" dirty="0">
                <a:latin typeface="Century" panose="02040604050505020304" pitchFamily="18" charset="0"/>
                <a:ea typeface="Cambria" pitchFamily="18" charset="0"/>
              </a:rPr>
              <a:t>Print the number of remaining seats in:</a:t>
            </a:r>
          </a:p>
          <a:p>
            <a:r>
              <a:rPr lang="en-US" dirty="0">
                <a:latin typeface="Century" panose="02040604050505020304" pitchFamily="18" charset="0"/>
                <a:ea typeface="Cambria" pitchFamily="18" charset="0"/>
              </a:rPr>
              <a:t>CSE</a:t>
            </a:r>
          </a:p>
          <a:p>
            <a:r>
              <a:rPr lang="en-US" dirty="0">
                <a:latin typeface="Century" panose="02040604050505020304" pitchFamily="18" charset="0"/>
                <a:ea typeface="Cambria" pitchFamily="18" charset="0"/>
              </a:rPr>
              <a:t>ECE</a:t>
            </a:r>
          </a:p>
          <a:p>
            <a:r>
              <a:rPr lang="en-US" dirty="0">
                <a:latin typeface="Century" panose="02040604050505020304" pitchFamily="18" charset="0"/>
                <a:ea typeface="Cambria" pitchFamily="18" charset="0"/>
              </a:rPr>
              <a:t>MECH</a:t>
            </a:r>
          </a:p>
          <a:p>
            <a:r>
              <a:rPr lang="en-US" dirty="0">
                <a:latin typeface="Century" panose="02040604050505020304" pitchFamily="18" charset="0"/>
                <a:ea typeface="Cambria" pitchFamily="18" charset="0"/>
              </a:rPr>
              <a:t>CE</a:t>
            </a:r>
          </a:p>
          <a:p>
            <a:r>
              <a:rPr lang="en-US" dirty="0">
                <a:latin typeface="Century" panose="02040604050505020304" pitchFamily="18" charset="0"/>
                <a:ea typeface="Cambria" pitchFamily="18" charset="0"/>
              </a:rPr>
              <a:t>This function only displays values; it does not modify any data</a:t>
            </a:r>
            <a:r>
              <a:rPr lang="en-US" dirty="0">
                <a:latin typeface="Century" panose="02040604050505020304" pitchFamily="18" charset="0"/>
              </a:rPr>
              <a:t>.</a:t>
            </a:r>
          </a:p>
          <a:p>
            <a:endParaRPr lang="en-US" dirty="0">
              <a:latin typeface="Century" panose="02040604050505020304" pitchFamily="18" charset="0"/>
            </a:endParaRPr>
          </a:p>
          <a:p>
            <a:r>
              <a:rPr lang="en-US" dirty="0">
                <a:latin typeface="Arial Black" panose="020B0A04020102020204" pitchFamily="34" charset="0"/>
              </a:rPr>
              <a:t>3. Module: check Seat(dept)</a:t>
            </a:r>
          </a:p>
          <a:p>
            <a:endParaRPr lang="en-US" dirty="0">
              <a:latin typeface="Century" panose="02040604050505020304" pitchFamily="18" charset="0"/>
            </a:endParaRPr>
          </a:p>
          <a:p>
            <a:r>
              <a:rPr lang="en-US" u="sng" dirty="0">
                <a:latin typeface="Century" panose="02040604050505020304" pitchFamily="18" charset="0"/>
              </a:rPr>
              <a:t>Logic:</a:t>
            </a:r>
          </a:p>
          <a:p>
            <a:r>
              <a:rPr lang="en-US" dirty="0">
                <a:latin typeface="Century" panose="02040604050505020304" pitchFamily="18" charset="0"/>
                <a:ea typeface="Cambria" pitchFamily="18" charset="0"/>
              </a:rPr>
              <a:t>Compare the entered department with the valid departments.</a:t>
            </a:r>
          </a:p>
          <a:p>
            <a:r>
              <a:rPr lang="en-US" dirty="0">
                <a:latin typeface="Century" panose="02040604050505020304" pitchFamily="18" charset="0"/>
                <a:ea typeface="Cambria" pitchFamily="18" charset="0"/>
              </a:rPr>
              <a:t>If the department matches and the corresponding seat count is greater than 0:</a:t>
            </a:r>
          </a:p>
          <a:p>
            <a:r>
              <a:rPr lang="en-US" dirty="0">
                <a:latin typeface="Century" panose="02040604050505020304" pitchFamily="18" charset="0"/>
                <a:ea typeface="Cambria" pitchFamily="18" charset="0"/>
              </a:rPr>
              <a:t>Return 1 (seat available).</a:t>
            </a:r>
          </a:p>
          <a:p>
            <a:r>
              <a:rPr lang="en-US" dirty="0">
                <a:latin typeface="Century" panose="02040604050505020304" pitchFamily="18" charset="0"/>
                <a:ea typeface="Cambria" pitchFamily="18" charset="0"/>
              </a:rPr>
              <a:t>If the seat count is zero or department is invalid:</a:t>
            </a:r>
          </a:p>
          <a:p>
            <a:r>
              <a:rPr lang="en-US" dirty="0">
                <a:latin typeface="Century" panose="02040604050505020304" pitchFamily="18" charset="0"/>
                <a:ea typeface="Cambria" pitchFamily="18" charset="0"/>
              </a:rPr>
              <a:t>Return 0 (seat not available).</a:t>
            </a:r>
            <a:endParaRPr lang="en-IN" dirty="0">
              <a:latin typeface="Century" panose="02040604050505020304" pitchFamily="18" charset="0"/>
            </a:endParaRPr>
          </a:p>
          <a:p>
            <a:endParaRPr lang="en-IN" dirty="0">
              <a:latin typeface="Century" panose="02040604050505020304" pitchFamily="18" charset="0"/>
            </a:endParaRPr>
          </a:p>
        </p:txBody>
      </p:sp>
    </p:spTree>
    <p:extLst>
      <p:ext uri="{BB962C8B-B14F-4D97-AF65-F5344CB8AC3E}">
        <p14:creationId xmlns:p14="http://schemas.microsoft.com/office/powerpoint/2010/main" val="33275875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691BEB8-9CD2-C16C-A551-063E86DE42A4}"/>
              </a:ext>
            </a:extLst>
          </p:cNvPr>
          <p:cNvSpPr txBox="1"/>
          <p:nvPr/>
        </p:nvSpPr>
        <p:spPr>
          <a:xfrm>
            <a:off x="1563007" y="2163825"/>
            <a:ext cx="8420100" cy="4278094"/>
          </a:xfrm>
          <a:prstGeom prst="rect">
            <a:avLst/>
          </a:prstGeom>
          <a:noFill/>
        </p:spPr>
        <p:txBody>
          <a:bodyPr wrap="square" rtlCol="0">
            <a:spAutoFit/>
          </a:bodyPr>
          <a:lstStyle/>
          <a:p>
            <a:r>
              <a:rPr lang="en-US" dirty="0">
                <a:latin typeface="Arial Black" panose="020B0A04020102020204" pitchFamily="34" charset="0"/>
              </a:rPr>
              <a:t>5. Module: add Student(s, &amp;count)</a:t>
            </a:r>
          </a:p>
          <a:p>
            <a:endParaRPr lang="en-US" dirty="0">
              <a:latin typeface="Arial Black" panose="020B0A04020102020204" pitchFamily="34" charset="0"/>
            </a:endParaRPr>
          </a:p>
          <a:p>
            <a:r>
              <a:rPr lang="en-US" sz="2000" dirty="0">
                <a:latin typeface="Century" panose="02040604050505020304" pitchFamily="18" charset="0"/>
              </a:rPr>
              <a:t>Logic:</a:t>
            </a:r>
          </a:p>
          <a:p>
            <a:r>
              <a:rPr lang="en-US" dirty="0">
                <a:latin typeface="Century" panose="02040604050505020304" pitchFamily="18" charset="0"/>
                <a:ea typeface="Cambria" pitchFamily="18" charset="0"/>
              </a:rPr>
              <a:t>Check if the array is full (count &gt;= MAX):</a:t>
            </a:r>
          </a:p>
          <a:p>
            <a:r>
              <a:rPr lang="en-US" dirty="0">
                <a:latin typeface="Century" panose="02040604050505020304" pitchFamily="18" charset="0"/>
                <a:ea typeface="Cambria" pitchFamily="18" charset="0"/>
              </a:rPr>
              <a:t>If full → show message and stop.</a:t>
            </a:r>
          </a:p>
          <a:p>
            <a:r>
              <a:rPr lang="en-US" dirty="0">
                <a:latin typeface="Century" panose="02040604050505020304" pitchFamily="18" charset="0"/>
                <a:ea typeface="Cambria" pitchFamily="18" charset="0"/>
              </a:rPr>
              <a:t>Read student details:</a:t>
            </a:r>
          </a:p>
          <a:p>
            <a:r>
              <a:rPr lang="en-US" dirty="0">
                <a:latin typeface="Century" panose="02040604050505020304" pitchFamily="18" charset="0"/>
                <a:ea typeface="Cambria" pitchFamily="18" charset="0"/>
              </a:rPr>
              <a:t>Application number</a:t>
            </a:r>
          </a:p>
          <a:p>
            <a:r>
              <a:rPr lang="en-US" dirty="0">
                <a:latin typeface="Century" panose="02040604050505020304" pitchFamily="18" charset="0"/>
                <a:ea typeface="Cambria" pitchFamily="18" charset="0"/>
              </a:rPr>
              <a:t>Name</a:t>
            </a:r>
          </a:p>
          <a:p>
            <a:r>
              <a:rPr lang="en-US" dirty="0">
                <a:latin typeface="Century" panose="02040604050505020304" pitchFamily="18" charset="0"/>
                <a:ea typeface="Cambria" pitchFamily="18" charset="0"/>
              </a:rPr>
              <a:t>Department</a:t>
            </a:r>
          </a:p>
          <a:p>
            <a:r>
              <a:rPr lang="en-US" dirty="0">
                <a:latin typeface="Century" panose="02040604050505020304" pitchFamily="18" charset="0"/>
                <a:ea typeface="Cambria" pitchFamily="18" charset="0"/>
              </a:rPr>
              <a:t>Call check Seat():</a:t>
            </a:r>
          </a:p>
          <a:p>
            <a:r>
              <a:rPr lang="en-US" dirty="0">
                <a:latin typeface="Century" panose="02040604050505020304" pitchFamily="18" charset="0"/>
                <a:ea typeface="Cambria" pitchFamily="18" charset="0"/>
              </a:rPr>
              <a:t>If seat is not available → show error and stop.</a:t>
            </a:r>
          </a:p>
          <a:p>
            <a:r>
              <a:rPr lang="en-US" dirty="0">
                <a:latin typeface="Century" panose="02040604050505020304" pitchFamily="18" charset="0"/>
                <a:ea typeface="Cambria" pitchFamily="18" charset="0"/>
              </a:rPr>
              <a:t>Store the student in the array.</a:t>
            </a:r>
          </a:p>
          <a:p>
            <a:r>
              <a:rPr lang="en-US" dirty="0">
                <a:latin typeface="Century" panose="02040604050505020304" pitchFamily="18" charset="0"/>
                <a:ea typeface="Cambria" pitchFamily="18" charset="0"/>
              </a:rPr>
              <a:t>Increase count by 1.</a:t>
            </a:r>
          </a:p>
          <a:p>
            <a:r>
              <a:rPr lang="en-US" dirty="0">
                <a:latin typeface="Century" panose="02040604050505020304" pitchFamily="18" charset="0"/>
                <a:ea typeface="Cambria" pitchFamily="18" charset="0"/>
              </a:rPr>
              <a:t>Call reduce Seat() to decrease seat availability.</a:t>
            </a:r>
          </a:p>
          <a:p>
            <a:r>
              <a:rPr lang="en-US" dirty="0">
                <a:latin typeface="Century" panose="02040604050505020304" pitchFamily="18" charset="0"/>
                <a:ea typeface="Cambria" pitchFamily="18" charset="0"/>
              </a:rPr>
              <a:t>Display "Student admitted successfully".</a:t>
            </a:r>
            <a:endParaRPr lang="en-IN" dirty="0">
              <a:latin typeface="Century" panose="02040604050505020304" pitchFamily="18" charset="0"/>
            </a:endParaRPr>
          </a:p>
        </p:txBody>
      </p:sp>
      <p:sp>
        <p:nvSpPr>
          <p:cNvPr id="4" name="TextBox 3">
            <a:extLst>
              <a:ext uri="{FF2B5EF4-FFF2-40B4-BE49-F238E27FC236}">
                <a16:creationId xmlns:a16="http://schemas.microsoft.com/office/drawing/2014/main" id="{F520FFD4-0B9F-6F62-E575-971C26502CD3}"/>
              </a:ext>
            </a:extLst>
          </p:cNvPr>
          <p:cNvSpPr txBox="1"/>
          <p:nvPr/>
        </p:nvSpPr>
        <p:spPr>
          <a:xfrm>
            <a:off x="1563007" y="378721"/>
            <a:ext cx="6096000" cy="1785104"/>
          </a:xfrm>
          <a:prstGeom prst="rect">
            <a:avLst/>
          </a:prstGeom>
          <a:noFill/>
        </p:spPr>
        <p:txBody>
          <a:bodyPr wrap="square">
            <a:spAutoFit/>
          </a:bodyPr>
          <a:lstStyle/>
          <a:p>
            <a:r>
              <a:rPr lang="en-US" dirty="0">
                <a:latin typeface="Arial Black" panose="020B0A04020102020204" pitchFamily="34" charset="0"/>
              </a:rPr>
              <a:t>4. Module: reduce Seat(dept)</a:t>
            </a:r>
          </a:p>
          <a:p>
            <a:endParaRPr lang="en-US" dirty="0">
              <a:latin typeface="Arial Black" panose="020B0A04020102020204" pitchFamily="34" charset="0"/>
            </a:endParaRPr>
          </a:p>
          <a:p>
            <a:r>
              <a:rPr lang="en-US" sz="2000" dirty="0">
                <a:latin typeface="Century" panose="02040604050505020304" pitchFamily="18" charset="0"/>
              </a:rPr>
              <a:t>Logic:</a:t>
            </a:r>
          </a:p>
          <a:p>
            <a:r>
              <a:rPr lang="en-US" dirty="0">
                <a:latin typeface="Century" panose="02040604050505020304" pitchFamily="18" charset="0"/>
                <a:ea typeface="Cambria" pitchFamily="18" charset="0"/>
              </a:rPr>
              <a:t>Check which department the student selected.</a:t>
            </a:r>
          </a:p>
          <a:p>
            <a:r>
              <a:rPr lang="en-US" dirty="0">
                <a:latin typeface="Century" panose="02040604050505020304" pitchFamily="18" charset="0"/>
                <a:ea typeface="Cambria" pitchFamily="18" charset="0"/>
              </a:rPr>
              <a:t>Reduce the corresponding seat count by 1.</a:t>
            </a:r>
          </a:p>
          <a:p>
            <a:r>
              <a:rPr lang="en-US" dirty="0">
                <a:latin typeface="Century" panose="02040604050505020304" pitchFamily="18" charset="0"/>
                <a:ea typeface="Cambria" pitchFamily="18" charset="0"/>
              </a:rPr>
              <a:t>Used after successfully admitting a student</a:t>
            </a:r>
            <a:endParaRPr lang="en-IN" dirty="0"/>
          </a:p>
        </p:txBody>
      </p:sp>
    </p:spTree>
    <p:extLst>
      <p:ext uri="{BB962C8B-B14F-4D97-AF65-F5344CB8AC3E}">
        <p14:creationId xmlns:p14="http://schemas.microsoft.com/office/powerpoint/2010/main" val="4876513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75E46C1-4516-4729-B23F-87D955B84723}"/>
              </a:ext>
            </a:extLst>
          </p:cNvPr>
          <p:cNvSpPr txBox="1"/>
          <p:nvPr/>
        </p:nvSpPr>
        <p:spPr>
          <a:xfrm>
            <a:off x="1689100" y="535900"/>
            <a:ext cx="9385300" cy="5693866"/>
          </a:xfrm>
          <a:prstGeom prst="rect">
            <a:avLst/>
          </a:prstGeom>
          <a:noFill/>
        </p:spPr>
        <p:txBody>
          <a:bodyPr wrap="square" rtlCol="0">
            <a:spAutoFit/>
          </a:bodyPr>
          <a:lstStyle/>
          <a:p>
            <a:r>
              <a:rPr lang="en-US" dirty="0">
                <a:latin typeface="Arial Black" panose="020B0A04020102020204" pitchFamily="34" charset="0"/>
                <a:ea typeface="Cambria" pitchFamily="18" charset="0"/>
              </a:rPr>
              <a:t>6. Module: display Students(s, count)</a:t>
            </a:r>
          </a:p>
          <a:p>
            <a:endParaRPr lang="en-US" dirty="0">
              <a:latin typeface="Arial Black" panose="020B0A04020102020204" pitchFamily="34" charset="0"/>
              <a:ea typeface="Cambria" pitchFamily="18" charset="0"/>
            </a:endParaRPr>
          </a:p>
          <a:p>
            <a:r>
              <a:rPr lang="en-US" sz="2000" u="sng" dirty="0">
                <a:latin typeface="Century" panose="02040604050505020304" pitchFamily="18" charset="0"/>
              </a:rPr>
              <a:t>Logic:</a:t>
            </a:r>
          </a:p>
          <a:p>
            <a:r>
              <a:rPr lang="en-US" dirty="0">
                <a:latin typeface="Century" panose="02040604050505020304" pitchFamily="18" charset="0"/>
                <a:ea typeface="Cambria" pitchFamily="18" charset="0"/>
              </a:rPr>
              <a:t>If no students are admitted (count == 0):</a:t>
            </a:r>
          </a:p>
          <a:p>
            <a:r>
              <a:rPr lang="en-US" dirty="0">
                <a:latin typeface="Century" panose="02040604050505020304" pitchFamily="18" charset="0"/>
                <a:ea typeface="Cambria" pitchFamily="18" charset="0"/>
              </a:rPr>
              <a:t>Display message and stop.</a:t>
            </a:r>
          </a:p>
          <a:p>
            <a:r>
              <a:rPr lang="en-US" dirty="0">
                <a:latin typeface="Century" panose="02040604050505020304" pitchFamily="18" charset="0"/>
                <a:ea typeface="Cambria" pitchFamily="18" charset="0"/>
              </a:rPr>
              <a:t>Otherwise, loop through the array and display:</a:t>
            </a:r>
          </a:p>
          <a:p>
            <a:r>
              <a:rPr lang="en-US" dirty="0">
                <a:latin typeface="Century" panose="02040604050505020304" pitchFamily="18" charset="0"/>
                <a:ea typeface="Cambria" pitchFamily="18" charset="0"/>
              </a:rPr>
              <a:t>Application Number</a:t>
            </a:r>
          </a:p>
          <a:p>
            <a:r>
              <a:rPr lang="en-US" dirty="0">
                <a:latin typeface="Century" panose="02040604050505020304" pitchFamily="18" charset="0"/>
                <a:ea typeface="Cambria" pitchFamily="18" charset="0"/>
              </a:rPr>
              <a:t>Name</a:t>
            </a:r>
          </a:p>
          <a:p>
            <a:r>
              <a:rPr lang="en-US" dirty="0">
                <a:latin typeface="Century" panose="02040604050505020304" pitchFamily="18" charset="0"/>
                <a:ea typeface="Cambria" pitchFamily="18" charset="0"/>
              </a:rPr>
              <a:t>Department</a:t>
            </a:r>
          </a:p>
          <a:p>
            <a:endParaRPr lang="en-US" dirty="0">
              <a:latin typeface="Cambria" pitchFamily="18" charset="0"/>
              <a:ea typeface="Cambria" pitchFamily="18" charset="0"/>
            </a:endParaRPr>
          </a:p>
          <a:p>
            <a:r>
              <a:rPr lang="en-US" dirty="0">
                <a:latin typeface="Arial Black" panose="020B0A04020102020204" pitchFamily="34" charset="0"/>
              </a:rPr>
              <a:t>7. Module: search Student(s, count)</a:t>
            </a:r>
          </a:p>
          <a:p>
            <a:endParaRPr lang="en-US" dirty="0">
              <a:latin typeface="Arial Black" panose="020B0A04020102020204" pitchFamily="34" charset="0"/>
            </a:endParaRPr>
          </a:p>
          <a:p>
            <a:r>
              <a:rPr lang="en-US" sz="2000" u="sng" dirty="0">
                <a:latin typeface="Century" panose="02040604050505020304" pitchFamily="18" charset="0"/>
              </a:rPr>
              <a:t>Logic:</a:t>
            </a:r>
          </a:p>
          <a:p>
            <a:r>
              <a:rPr lang="en-US" dirty="0">
                <a:latin typeface="Century" panose="02040604050505020304" pitchFamily="18" charset="0"/>
                <a:ea typeface="Cambria" pitchFamily="18" charset="0"/>
              </a:rPr>
              <a:t>Read the application number to search.</a:t>
            </a:r>
          </a:p>
          <a:p>
            <a:r>
              <a:rPr lang="en-US" dirty="0">
                <a:latin typeface="Century" panose="02040604050505020304" pitchFamily="18" charset="0"/>
                <a:ea typeface="Cambria" pitchFamily="18" charset="0"/>
              </a:rPr>
              <a:t>Loop through all admitted students:</a:t>
            </a:r>
          </a:p>
          <a:p>
            <a:r>
              <a:rPr lang="en-US" dirty="0">
                <a:latin typeface="Century" panose="02040604050505020304" pitchFamily="18" charset="0"/>
                <a:ea typeface="Cambria" pitchFamily="18" charset="0"/>
              </a:rPr>
              <a:t>If the application number matches:</a:t>
            </a:r>
          </a:p>
          <a:p>
            <a:r>
              <a:rPr lang="en-US" dirty="0">
                <a:latin typeface="Century" panose="02040604050505020304" pitchFamily="18" charset="0"/>
                <a:ea typeface="Cambria" pitchFamily="18" charset="0"/>
              </a:rPr>
              <a:t>Display the student's details.</a:t>
            </a:r>
          </a:p>
          <a:p>
            <a:r>
              <a:rPr lang="en-US" dirty="0">
                <a:latin typeface="Century" panose="02040604050505020304" pitchFamily="18" charset="0"/>
                <a:ea typeface="Cambria" pitchFamily="18" charset="0"/>
              </a:rPr>
              <a:t>Set a flag found = 1 and break.</a:t>
            </a:r>
          </a:p>
          <a:p>
            <a:r>
              <a:rPr lang="en-US" dirty="0">
                <a:latin typeface="Century" panose="02040604050505020304" pitchFamily="18" charset="0"/>
                <a:ea typeface="Cambria" pitchFamily="18" charset="0"/>
              </a:rPr>
              <a:t>After loop:</a:t>
            </a:r>
          </a:p>
          <a:p>
            <a:r>
              <a:rPr lang="en-US" dirty="0">
                <a:latin typeface="Century" panose="02040604050505020304" pitchFamily="18" charset="0"/>
                <a:ea typeface="Cambria" pitchFamily="18" charset="0"/>
              </a:rPr>
              <a:t>If not found → display "No student found".</a:t>
            </a:r>
            <a:endParaRPr lang="en-IN" dirty="0">
              <a:latin typeface="Century" panose="02040604050505020304" pitchFamily="18" charset="0"/>
            </a:endParaRPr>
          </a:p>
        </p:txBody>
      </p:sp>
    </p:spTree>
    <p:extLst>
      <p:ext uri="{BB962C8B-B14F-4D97-AF65-F5344CB8AC3E}">
        <p14:creationId xmlns:p14="http://schemas.microsoft.com/office/powerpoint/2010/main" val="13079395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93D5392-741F-2087-AC45-B4947BDF8F37}"/>
              </a:ext>
            </a:extLst>
          </p:cNvPr>
          <p:cNvSpPr txBox="1"/>
          <p:nvPr/>
        </p:nvSpPr>
        <p:spPr>
          <a:xfrm>
            <a:off x="1600200" y="735955"/>
            <a:ext cx="9550400" cy="5386090"/>
          </a:xfrm>
          <a:prstGeom prst="rect">
            <a:avLst/>
          </a:prstGeom>
          <a:noFill/>
        </p:spPr>
        <p:txBody>
          <a:bodyPr wrap="square" rtlCol="0">
            <a:spAutoFit/>
          </a:bodyPr>
          <a:lstStyle/>
          <a:p>
            <a:r>
              <a:rPr lang="en-US" dirty="0">
                <a:latin typeface="Arial Black" panose="020B0A04020102020204" pitchFamily="34" charset="0"/>
              </a:rPr>
              <a:t>8. Module: main()</a:t>
            </a:r>
          </a:p>
          <a:p>
            <a:endParaRPr lang="en-US" dirty="0">
              <a:latin typeface="Arial Black" panose="020B0A04020102020204" pitchFamily="34" charset="0"/>
            </a:endParaRPr>
          </a:p>
          <a:p>
            <a:r>
              <a:rPr lang="en-US" sz="2000" u="sng" dirty="0">
                <a:latin typeface="Century" panose="02040604050505020304" pitchFamily="18" charset="0"/>
              </a:rPr>
              <a:t>Logic:</a:t>
            </a:r>
          </a:p>
          <a:p>
            <a:r>
              <a:rPr lang="en-US" dirty="0">
                <a:latin typeface="Century" panose="02040604050505020304" pitchFamily="18" charset="0"/>
                <a:ea typeface="Cambria" pitchFamily="18" charset="0"/>
              </a:rPr>
              <a:t>Create an array s to store student records.</a:t>
            </a:r>
          </a:p>
          <a:p>
            <a:r>
              <a:rPr lang="en-US" dirty="0">
                <a:latin typeface="Century" panose="02040604050505020304" pitchFamily="18" charset="0"/>
                <a:ea typeface="Cambria" pitchFamily="18" charset="0"/>
              </a:rPr>
              <a:t>Initialize student count to 0.</a:t>
            </a:r>
          </a:p>
          <a:p>
            <a:r>
              <a:rPr lang="en-US" dirty="0">
                <a:latin typeface="Century" panose="02040604050505020304" pitchFamily="18" charset="0"/>
                <a:ea typeface="Cambria" pitchFamily="18" charset="0"/>
              </a:rPr>
              <a:t>Use a loop to repeatedly display a menu:</a:t>
            </a:r>
          </a:p>
          <a:p>
            <a:r>
              <a:rPr lang="en-US" dirty="0">
                <a:latin typeface="Century" panose="02040604050505020304" pitchFamily="18" charset="0"/>
                <a:ea typeface="Cambria" pitchFamily="18" charset="0"/>
              </a:rPr>
              <a:t>Add Student</a:t>
            </a:r>
          </a:p>
          <a:p>
            <a:r>
              <a:rPr lang="en-US" dirty="0">
                <a:latin typeface="Century" panose="02040604050505020304" pitchFamily="18" charset="0"/>
                <a:ea typeface="Cambria" pitchFamily="18" charset="0"/>
              </a:rPr>
              <a:t>Display All Students</a:t>
            </a:r>
          </a:p>
          <a:p>
            <a:r>
              <a:rPr lang="en-US" dirty="0">
                <a:latin typeface="Century" panose="02040604050505020304" pitchFamily="18" charset="0"/>
                <a:ea typeface="Cambria" pitchFamily="18" charset="0"/>
              </a:rPr>
              <a:t>Search Student</a:t>
            </a:r>
          </a:p>
          <a:p>
            <a:r>
              <a:rPr lang="en-US" dirty="0">
                <a:latin typeface="Century" panose="02040604050505020304" pitchFamily="18" charset="0"/>
                <a:ea typeface="Cambria" pitchFamily="18" charset="0"/>
              </a:rPr>
              <a:t>Show Remaining Seats</a:t>
            </a:r>
          </a:p>
          <a:p>
            <a:r>
              <a:rPr lang="en-US" dirty="0">
                <a:latin typeface="Century" panose="02040604050505020304" pitchFamily="18" charset="0"/>
                <a:ea typeface="Cambria" pitchFamily="18" charset="0"/>
              </a:rPr>
              <a:t>Exit</a:t>
            </a:r>
          </a:p>
          <a:p>
            <a:r>
              <a:rPr lang="en-US" dirty="0">
                <a:latin typeface="Century" panose="02040604050505020304" pitchFamily="18" charset="0"/>
                <a:ea typeface="Cambria" pitchFamily="18" charset="0"/>
              </a:rPr>
              <a:t>Read user choice and use a switch-case:</a:t>
            </a:r>
          </a:p>
          <a:p>
            <a:r>
              <a:rPr lang="en-US" dirty="0">
                <a:latin typeface="Century" panose="02040604050505020304" pitchFamily="18" charset="0"/>
                <a:ea typeface="Cambria" pitchFamily="18" charset="0"/>
              </a:rPr>
              <a:t>Case 1 → Call add Student()</a:t>
            </a:r>
          </a:p>
          <a:p>
            <a:r>
              <a:rPr lang="en-US" dirty="0">
                <a:latin typeface="Century" panose="02040604050505020304" pitchFamily="18" charset="0"/>
                <a:ea typeface="Cambria" pitchFamily="18" charset="0"/>
              </a:rPr>
              <a:t>Case 2 → Call display Students()</a:t>
            </a:r>
          </a:p>
          <a:p>
            <a:r>
              <a:rPr lang="en-US" dirty="0">
                <a:latin typeface="Century" panose="02040604050505020304" pitchFamily="18" charset="0"/>
                <a:ea typeface="Cambria" pitchFamily="18" charset="0"/>
              </a:rPr>
              <a:t>Case 3 → Call search Student()</a:t>
            </a:r>
          </a:p>
          <a:p>
            <a:r>
              <a:rPr lang="en-US" dirty="0">
                <a:latin typeface="Century" panose="02040604050505020304" pitchFamily="18" charset="0"/>
                <a:ea typeface="Cambria" pitchFamily="18" charset="0"/>
              </a:rPr>
              <a:t>Case 4 → Call show Remaining Seats()</a:t>
            </a:r>
          </a:p>
          <a:p>
            <a:r>
              <a:rPr lang="en-US" dirty="0">
                <a:latin typeface="Century" panose="02040604050505020304" pitchFamily="18" charset="0"/>
                <a:ea typeface="Cambria" pitchFamily="18" charset="0"/>
              </a:rPr>
              <a:t>Case 5 → Print exit message</a:t>
            </a:r>
          </a:p>
          <a:p>
            <a:r>
              <a:rPr lang="en-US" dirty="0">
                <a:latin typeface="Century" panose="02040604050505020304" pitchFamily="18" charset="0"/>
                <a:ea typeface="Cambria" pitchFamily="18" charset="0"/>
              </a:rPr>
              <a:t>Default → Invalid choice message</a:t>
            </a:r>
          </a:p>
          <a:p>
            <a:r>
              <a:rPr lang="en-US" dirty="0">
                <a:latin typeface="Century" panose="02040604050505020304" pitchFamily="18" charset="0"/>
                <a:ea typeface="Cambria" pitchFamily="18" charset="0"/>
              </a:rPr>
              <a:t>Continue until the user selects Exit.</a:t>
            </a:r>
            <a:endParaRPr lang="en-IN" dirty="0">
              <a:latin typeface="Century" panose="02040604050505020304" pitchFamily="18" charset="0"/>
            </a:endParaRPr>
          </a:p>
        </p:txBody>
      </p:sp>
    </p:spTree>
    <p:extLst>
      <p:ext uri="{BB962C8B-B14F-4D97-AF65-F5344CB8AC3E}">
        <p14:creationId xmlns:p14="http://schemas.microsoft.com/office/powerpoint/2010/main" val="2530556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67C2D4-2BC3-E3A4-0127-7636E234F55F}"/>
              </a:ext>
            </a:extLst>
          </p:cNvPr>
          <p:cNvSpPr txBox="1"/>
          <p:nvPr/>
        </p:nvSpPr>
        <p:spPr>
          <a:xfrm>
            <a:off x="1041400" y="177800"/>
            <a:ext cx="9664700" cy="646331"/>
          </a:xfrm>
          <a:prstGeom prst="rect">
            <a:avLst/>
          </a:prstGeom>
          <a:noFill/>
        </p:spPr>
        <p:txBody>
          <a:bodyPr wrap="square" rtlCol="0">
            <a:spAutoFit/>
          </a:bodyPr>
          <a:lstStyle/>
          <a:p>
            <a:r>
              <a:rPr lang="en-IN" sz="3600" dirty="0">
                <a:latin typeface="Algerian" panose="04020705040A02060702" pitchFamily="82" charset="0"/>
              </a:rPr>
              <a:t>MODULE WISE PROGRAM :</a:t>
            </a:r>
          </a:p>
        </p:txBody>
      </p:sp>
      <p:sp>
        <p:nvSpPr>
          <p:cNvPr id="3" name="TextBox 2">
            <a:extLst>
              <a:ext uri="{FF2B5EF4-FFF2-40B4-BE49-F238E27FC236}">
                <a16:creationId xmlns:a16="http://schemas.microsoft.com/office/drawing/2014/main" id="{3FF04D3F-0908-DF99-707C-000B1DF0D4B4}"/>
              </a:ext>
            </a:extLst>
          </p:cNvPr>
          <p:cNvSpPr txBox="1"/>
          <p:nvPr/>
        </p:nvSpPr>
        <p:spPr>
          <a:xfrm>
            <a:off x="1625600" y="1573431"/>
            <a:ext cx="9334500" cy="3970318"/>
          </a:xfrm>
          <a:prstGeom prst="rect">
            <a:avLst/>
          </a:prstGeom>
          <a:noFill/>
        </p:spPr>
        <p:txBody>
          <a:bodyPr wrap="square" rtlCol="0">
            <a:spAutoFit/>
          </a:bodyPr>
          <a:lstStyle/>
          <a:p>
            <a:r>
              <a:rPr lang="en-IN" dirty="0">
                <a:latin typeface="Arial Black" panose="020B0A04020102020204" pitchFamily="34" charset="0"/>
              </a:rPr>
              <a:t>/* -------------------- MODULE 1: HEADER FILES &amp;</a:t>
            </a:r>
          </a:p>
          <a:p>
            <a:r>
              <a:rPr lang="en-IN" dirty="0">
                <a:latin typeface="Arial Black" panose="020B0A04020102020204" pitchFamily="34" charset="0"/>
              </a:rPr>
              <a:t> STRUCTURE -------------------- */</a:t>
            </a:r>
          </a:p>
          <a:p>
            <a:endParaRPr lang="en-IN" dirty="0">
              <a:latin typeface="Arial Black" panose="020B0A04020102020204" pitchFamily="34" charset="0"/>
            </a:endParaRPr>
          </a:p>
          <a:p>
            <a:r>
              <a:rPr lang="en-IN" dirty="0">
                <a:latin typeface="Century" panose="02040604050505020304" pitchFamily="18" charset="0"/>
              </a:rPr>
              <a:t>#include &lt;</a:t>
            </a:r>
            <a:r>
              <a:rPr lang="en-IN" dirty="0" err="1">
                <a:latin typeface="Century" panose="02040604050505020304" pitchFamily="18" charset="0"/>
              </a:rPr>
              <a:t>stdio.h</a:t>
            </a:r>
            <a:r>
              <a:rPr lang="en-IN" dirty="0">
                <a:latin typeface="Century" panose="02040604050505020304" pitchFamily="18" charset="0"/>
              </a:rPr>
              <a:t>&gt;</a:t>
            </a:r>
          </a:p>
          <a:p>
            <a:r>
              <a:rPr lang="en-IN" dirty="0">
                <a:latin typeface="Century" panose="02040604050505020304" pitchFamily="18" charset="0"/>
              </a:rPr>
              <a:t>#include &lt;</a:t>
            </a:r>
            <a:r>
              <a:rPr lang="en-IN" dirty="0" err="1">
                <a:latin typeface="Century" panose="02040604050505020304" pitchFamily="18" charset="0"/>
              </a:rPr>
              <a:t>string.h</a:t>
            </a:r>
            <a:r>
              <a:rPr lang="en-IN" dirty="0">
                <a:latin typeface="Century" panose="02040604050505020304" pitchFamily="18" charset="0"/>
              </a:rPr>
              <a:t>&gt;</a:t>
            </a:r>
          </a:p>
          <a:p>
            <a:endParaRPr lang="en-IN" dirty="0">
              <a:latin typeface="Century" panose="02040604050505020304" pitchFamily="18" charset="0"/>
            </a:endParaRPr>
          </a:p>
          <a:p>
            <a:r>
              <a:rPr lang="en-IN" dirty="0">
                <a:latin typeface="Century" panose="02040604050505020304" pitchFamily="18" charset="0"/>
              </a:rPr>
              <a:t>#define MAX 150</a:t>
            </a:r>
          </a:p>
          <a:p>
            <a:endParaRPr lang="en-IN" dirty="0">
              <a:latin typeface="Century" panose="02040604050505020304" pitchFamily="18" charset="0"/>
            </a:endParaRPr>
          </a:p>
          <a:p>
            <a:r>
              <a:rPr lang="en-IN" dirty="0">
                <a:latin typeface="Century" panose="02040604050505020304" pitchFamily="18" charset="0"/>
              </a:rPr>
              <a:t>struct Student</a:t>
            </a:r>
          </a:p>
          <a:p>
            <a:r>
              <a:rPr lang="en-IN" dirty="0">
                <a:latin typeface="Century" panose="02040604050505020304" pitchFamily="18" charset="0"/>
              </a:rPr>
              <a:t> {   </a:t>
            </a:r>
          </a:p>
          <a:p>
            <a:r>
              <a:rPr lang="en-IN" dirty="0">
                <a:latin typeface="Century" panose="02040604050505020304" pitchFamily="18" charset="0"/>
              </a:rPr>
              <a:t> int </a:t>
            </a:r>
            <a:r>
              <a:rPr lang="en-IN" dirty="0" err="1">
                <a:latin typeface="Century" panose="02040604050505020304" pitchFamily="18" charset="0"/>
              </a:rPr>
              <a:t>app_no</a:t>
            </a:r>
            <a:r>
              <a:rPr lang="en-IN" dirty="0">
                <a:latin typeface="Century" panose="02040604050505020304" pitchFamily="18" charset="0"/>
              </a:rPr>
              <a:t>;  </a:t>
            </a:r>
          </a:p>
          <a:p>
            <a:r>
              <a:rPr lang="en-IN" dirty="0">
                <a:latin typeface="Century" panose="02040604050505020304" pitchFamily="18" charset="0"/>
              </a:rPr>
              <a:t> char name[50];   </a:t>
            </a:r>
          </a:p>
          <a:p>
            <a:r>
              <a:rPr lang="en-IN" dirty="0">
                <a:latin typeface="Century" panose="02040604050505020304" pitchFamily="18" charset="0"/>
              </a:rPr>
              <a:t> char department[30];   </a:t>
            </a:r>
          </a:p>
          <a:p>
            <a:r>
              <a:rPr lang="en-IN" dirty="0">
                <a:latin typeface="Century" panose="02040604050505020304" pitchFamily="18" charset="0"/>
              </a:rPr>
              <a:t>};</a:t>
            </a:r>
          </a:p>
        </p:txBody>
      </p:sp>
    </p:spTree>
    <p:extLst>
      <p:ext uri="{BB962C8B-B14F-4D97-AF65-F5344CB8AC3E}">
        <p14:creationId xmlns:p14="http://schemas.microsoft.com/office/powerpoint/2010/main" val="33274673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00C7C13-F4A7-ACD9-A6E0-B2346C9AB8D5}"/>
              </a:ext>
            </a:extLst>
          </p:cNvPr>
          <p:cNvSpPr txBox="1"/>
          <p:nvPr/>
        </p:nvSpPr>
        <p:spPr>
          <a:xfrm>
            <a:off x="1536700" y="889843"/>
            <a:ext cx="9118600" cy="5078313"/>
          </a:xfrm>
          <a:prstGeom prst="rect">
            <a:avLst/>
          </a:prstGeom>
          <a:noFill/>
        </p:spPr>
        <p:txBody>
          <a:bodyPr wrap="square" rtlCol="0">
            <a:spAutoFit/>
          </a:bodyPr>
          <a:lstStyle/>
          <a:p>
            <a:r>
              <a:rPr lang="en-US" dirty="0">
                <a:latin typeface="Arial Black" panose="020B0A04020102020204" pitchFamily="34" charset="0"/>
              </a:rPr>
              <a:t>/* -------------------- MODULE 2: GLOBAL SEAT</a:t>
            </a:r>
          </a:p>
          <a:p>
            <a:r>
              <a:rPr lang="en-US" dirty="0">
                <a:latin typeface="Arial Black" panose="020B0A04020102020204" pitchFamily="34" charset="0"/>
              </a:rPr>
              <a:t> VARIABLES -------------------- */</a:t>
            </a:r>
          </a:p>
          <a:p>
            <a:endParaRPr lang="en-US" dirty="0"/>
          </a:p>
          <a:p>
            <a:r>
              <a:rPr lang="en-US" dirty="0">
                <a:latin typeface="Century" panose="02040604050505020304" pitchFamily="18" charset="0"/>
              </a:rPr>
              <a:t>int </a:t>
            </a:r>
            <a:r>
              <a:rPr lang="en-US" dirty="0" err="1">
                <a:latin typeface="Century" panose="02040604050505020304" pitchFamily="18" charset="0"/>
              </a:rPr>
              <a:t>seatCSE</a:t>
            </a:r>
            <a:r>
              <a:rPr lang="en-US" dirty="0">
                <a:latin typeface="Century" panose="02040604050505020304" pitchFamily="18" charset="0"/>
              </a:rPr>
              <a:t>  = 150;</a:t>
            </a:r>
          </a:p>
          <a:p>
            <a:r>
              <a:rPr lang="en-US" dirty="0">
                <a:latin typeface="Century" panose="02040604050505020304" pitchFamily="18" charset="0"/>
              </a:rPr>
              <a:t>int </a:t>
            </a:r>
            <a:r>
              <a:rPr lang="en-US" dirty="0" err="1">
                <a:latin typeface="Century" panose="02040604050505020304" pitchFamily="18" charset="0"/>
              </a:rPr>
              <a:t>seatECE</a:t>
            </a:r>
            <a:r>
              <a:rPr lang="en-US" dirty="0">
                <a:latin typeface="Century" panose="02040604050505020304" pitchFamily="18" charset="0"/>
              </a:rPr>
              <a:t>  = 100;</a:t>
            </a:r>
          </a:p>
          <a:p>
            <a:r>
              <a:rPr lang="en-US" dirty="0">
                <a:latin typeface="Century" panose="02040604050505020304" pitchFamily="18" charset="0"/>
              </a:rPr>
              <a:t>int </a:t>
            </a:r>
            <a:r>
              <a:rPr lang="en-US" dirty="0" err="1">
                <a:latin typeface="Century" panose="02040604050505020304" pitchFamily="18" charset="0"/>
              </a:rPr>
              <a:t>seatMECH</a:t>
            </a:r>
            <a:r>
              <a:rPr lang="en-US" dirty="0">
                <a:latin typeface="Century" panose="02040604050505020304" pitchFamily="18" charset="0"/>
              </a:rPr>
              <a:t> = 80;</a:t>
            </a:r>
          </a:p>
          <a:p>
            <a:r>
              <a:rPr lang="en-US" dirty="0">
                <a:latin typeface="Century" panose="02040604050505020304" pitchFamily="18" charset="0"/>
              </a:rPr>
              <a:t>int </a:t>
            </a:r>
            <a:r>
              <a:rPr lang="en-US" dirty="0" err="1">
                <a:latin typeface="Century" panose="02040604050505020304" pitchFamily="18" charset="0"/>
              </a:rPr>
              <a:t>seatCE</a:t>
            </a:r>
            <a:r>
              <a:rPr lang="en-US" dirty="0">
                <a:latin typeface="Century" panose="02040604050505020304" pitchFamily="18" charset="0"/>
              </a:rPr>
              <a:t>   = 80;</a:t>
            </a:r>
          </a:p>
          <a:p>
            <a:endParaRPr lang="en-US" dirty="0">
              <a:latin typeface="Century" panose="02040604050505020304" pitchFamily="18" charset="0"/>
            </a:endParaRPr>
          </a:p>
          <a:p>
            <a:r>
              <a:rPr lang="en-US" dirty="0">
                <a:latin typeface="Arial Black" panose="020B0A04020102020204" pitchFamily="34" charset="0"/>
              </a:rPr>
              <a:t>/* -------------------- MODULE 3: SHOW REMAINING </a:t>
            </a:r>
          </a:p>
          <a:p>
            <a:r>
              <a:rPr lang="en-US" dirty="0">
                <a:latin typeface="Arial Black" panose="020B0A04020102020204" pitchFamily="34" charset="0"/>
              </a:rPr>
              <a:t>SEATS -------------------- */</a:t>
            </a:r>
          </a:p>
          <a:p>
            <a:endParaRPr lang="en-US" dirty="0">
              <a:latin typeface="Arial Black" panose="020B0A04020102020204" pitchFamily="34" charset="0"/>
            </a:endParaRPr>
          </a:p>
          <a:p>
            <a:r>
              <a:rPr lang="en-IN" dirty="0">
                <a:latin typeface="Century" panose="02040604050505020304" pitchFamily="18" charset="0"/>
              </a:rPr>
              <a:t>void </a:t>
            </a:r>
            <a:r>
              <a:rPr lang="en-IN" dirty="0" err="1">
                <a:latin typeface="Century" panose="02040604050505020304" pitchFamily="18" charset="0"/>
              </a:rPr>
              <a:t>showRemainingSeats</a:t>
            </a:r>
            <a:r>
              <a:rPr lang="en-IN" dirty="0">
                <a:latin typeface="Century" panose="02040604050505020304" pitchFamily="18" charset="0"/>
              </a:rPr>
              <a:t>(){</a:t>
            </a:r>
          </a:p>
          <a:p>
            <a:r>
              <a:rPr lang="en-IN" dirty="0">
                <a:latin typeface="Century" panose="02040604050505020304" pitchFamily="18" charset="0"/>
              </a:rPr>
              <a:t> </a:t>
            </a:r>
            <a:r>
              <a:rPr lang="en-IN" dirty="0" err="1">
                <a:latin typeface="Century" panose="02040604050505020304" pitchFamily="18" charset="0"/>
              </a:rPr>
              <a:t>printf</a:t>
            </a:r>
            <a:r>
              <a:rPr lang="en-IN" dirty="0">
                <a:latin typeface="Century" panose="02040604050505020304" pitchFamily="18" charset="0"/>
              </a:rPr>
              <a:t>("\n--- Seat Availability ---\n");   </a:t>
            </a:r>
          </a:p>
          <a:p>
            <a:r>
              <a:rPr lang="en-IN" dirty="0">
                <a:latin typeface="Century" panose="02040604050505020304" pitchFamily="18" charset="0"/>
              </a:rPr>
              <a:t> </a:t>
            </a:r>
            <a:r>
              <a:rPr lang="en-IN" dirty="0" err="1">
                <a:latin typeface="Century" panose="02040604050505020304" pitchFamily="18" charset="0"/>
              </a:rPr>
              <a:t>printf</a:t>
            </a:r>
            <a:r>
              <a:rPr lang="en-IN" dirty="0">
                <a:latin typeface="Century" panose="02040604050505020304" pitchFamily="18" charset="0"/>
              </a:rPr>
              <a:t>("CSE Seats Left   : %d\n", </a:t>
            </a:r>
            <a:r>
              <a:rPr lang="en-IN" dirty="0" err="1">
                <a:latin typeface="Century" panose="02040604050505020304" pitchFamily="18" charset="0"/>
              </a:rPr>
              <a:t>seatCSE</a:t>
            </a:r>
            <a:r>
              <a:rPr lang="en-IN" dirty="0">
                <a:latin typeface="Century" panose="02040604050505020304" pitchFamily="18" charset="0"/>
              </a:rPr>
              <a:t>);    </a:t>
            </a:r>
          </a:p>
          <a:p>
            <a:r>
              <a:rPr lang="en-IN" dirty="0" err="1">
                <a:latin typeface="Century" panose="02040604050505020304" pitchFamily="18" charset="0"/>
              </a:rPr>
              <a:t>printf</a:t>
            </a:r>
            <a:r>
              <a:rPr lang="en-IN" dirty="0">
                <a:latin typeface="Century" panose="02040604050505020304" pitchFamily="18" charset="0"/>
              </a:rPr>
              <a:t>("ECE Seats Left   : %d\n", </a:t>
            </a:r>
            <a:r>
              <a:rPr lang="en-IN" dirty="0" err="1">
                <a:latin typeface="Century" panose="02040604050505020304" pitchFamily="18" charset="0"/>
              </a:rPr>
              <a:t>seatECE</a:t>
            </a:r>
            <a:r>
              <a:rPr lang="en-IN" dirty="0">
                <a:latin typeface="Century" panose="02040604050505020304" pitchFamily="18" charset="0"/>
              </a:rPr>
              <a:t>);  </a:t>
            </a:r>
          </a:p>
          <a:p>
            <a:r>
              <a:rPr lang="en-IN" dirty="0" err="1">
                <a:latin typeface="Century" panose="02040604050505020304" pitchFamily="18" charset="0"/>
              </a:rPr>
              <a:t>printf</a:t>
            </a:r>
            <a:r>
              <a:rPr lang="en-IN" dirty="0">
                <a:latin typeface="Century" panose="02040604050505020304" pitchFamily="18" charset="0"/>
              </a:rPr>
              <a:t>("MECH Seats Left  : %d\n", </a:t>
            </a:r>
            <a:r>
              <a:rPr lang="en-IN" dirty="0" err="1">
                <a:latin typeface="Century" panose="02040604050505020304" pitchFamily="18" charset="0"/>
              </a:rPr>
              <a:t>seatMECH</a:t>
            </a:r>
            <a:r>
              <a:rPr lang="en-IN" dirty="0">
                <a:latin typeface="Century" panose="02040604050505020304" pitchFamily="18" charset="0"/>
              </a:rPr>
              <a:t>);    </a:t>
            </a:r>
          </a:p>
          <a:p>
            <a:r>
              <a:rPr lang="en-IN" dirty="0" err="1">
                <a:latin typeface="Century" panose="02040604050505020304" pitchFamily="18" charset="0"/>
              </a:rPr>
              <a:t>printf</a:t>
            </a:r>
            <a:r>
              <a:rPr lang="en-IN" dirty="0">
                <a:latin typeface="Century" panose="02040604050505020304" pitchFamily="18" charset="0"/>
              </a:rPr>
              <a:t>("CE Seats Left    : %d\n", </a:t>
            </a:r>
            <a:r>
              <a:rPr lang="en-IN" dirty="0" err="1">
                <a:latin typeface="Century" panose="02040604050505020304" pitchFamily="18" charset="0"/>
              </a:rPr>
              <a:t>seatCE</a:t>
            </a:r>
            <a:r>
              <a:rPr lang="en-IN" dirty="0">
                <a:latin typeface="Century" panose="02040604050505020304" pitchFamily="18" charset="0"/>
              </a:rPr>
              <a:t>);</a:t>
            </a:r>
          </a:p>
          <a:p>
            <a:r>
              <a:rPr lang="en-IN" dirty="0">
                <a:latin typeface="Century" panose="02040604050505020304" pitchFamily="18" charset="0"/>
              </a:rPr>
              <a:t>}</a:t>
            </a:r>
          </a:p>
        </p:txBody>
      </p:sp>
    </p:spTree>
    <p:extLst>
      <p:ext uri="{BB962C8B-B14F-4D97-AF65-F5344CB8AC3E}">
        <p14:creationId xmlns:p14="http://schemas.microsoft.com/office/powerpoint/2010/main" val="15373166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ECCDA2E-4879-35D7-C73E-27470E89D02C}"/>
              </a:ext>
            </a:extLst>
          </p:cNvPr>
          <p:cNvSpPr txBox="1"/>
          <p:nvPr/>
        </p:nvSpPr>
        <p:spPr>
          <a:xfrm>
            <a:off x="1727200" y="0"/>
            <a:ext cx="8737600" cy="7017306"/>
          </a:xfrm>
          <a:prstGeom prst="rect">
            <a:avLst/>
          </a:prstGeom>
          <a:noFill/>
        </p:spPr>
        <p:txBody>
          <a:bodyPr wrap="square" rtlCol="0">
            <a:spAutoFit/>
          </a:bodyPr>
          <a:lstStyle/>
          <a:p>
            <a:r>
              <a:rPr lang="en-IN" dirty="0">
                <a:latin typeface="Arial Black" panose="020B0A04020102020204" pitchFamily="34" charset="0"/>
              </a:rPr>
              <a:t>/* -------------------- MODULE 4: CHECK SEAT</a:t>
            </a:r>
          </a:p>
          <a:p>
            <a:r>
              <a:rPr lang="en-IN" dirty="0">
                <a:latin typeface="Arial Black" panose="020B0A04020102020204" pitchFamily="34" charset="0"/>
              </a:rPr>
              <a:t> AVAILABILITY -------------------- */</a:t>
            </a:r>
          </a:p>
          <a:p>
            <a:endParaRPr lang="en-IN" dirty="0"/>
          </a:p>
          <a:p>
            <a:r>
              <a:rPr lang="en-IN" dirty="0">
                <a:latin typeface="Century" panose="02040604050505020304" pitchFamily="18" charset="0"/>
              </a:rPr>
              <a:t>int </a:t>
            </a:r>
            <a:r>
              <a:rPr lang="en-IN" dirty="0" err="1">
                <a:latin typeface="Century" panose="02040604050505020304" pitchFamily="18" charset="0"/>
              </a:rPr>
              <a:t>checkSeat</a:t>
            </a:r>
            <a:r>
              <a:rPr lang="en-IN" dirty="0">
                <a:latin typeface="Century" panose="02040604050505020304" pitchFamily="18" charset="0"/>
              </a:rPr>
              <a:t>(char dept[]){</a:t>
            </a:r>
          </a:p>
          <a:p>
            <a:r>
              <a:rPr lang="en-IN" dirty="0">
                <a:latin typeface="Century" panose="02040604050505020304" pitchFamily="18" charset="0"/>
              </a:rPr>
              <a:t> if (</a:t>
            </a:r>
            <a:r>
              <a:rPr lang="en-IN" dirty="0" err="1">
                <a:latin typeface="Century" panose="02040604050505020304" pitchFamily="18" charset="0"/>
              </a:rPr>
              <a:t>strcmp</a:t>
            </a:r>
            <a:r>
              <a:rPr lang="en-IN" dirty="0">
                <a:latin typeface="Century" panose="02040604050505020304" pitchFamily="18" charset="0"/>
              </a:rPr>
              <a:t>(dept, "CSE") == 0 &amp;&amp; </a:t>
            </a:r>
            <a:r>
              <a:rPr lang="en-IN" dirty="0" err="1">
                <a:latin typeface="Century" panose="02040604050505020304" pitchFamily="18" charset="0"/>
              </a:rPr>
              <a:t>seatCSE</a:t>
            </a:r>
            <a:r>
              <a:rPr lang="en-IN" dirty="0">
                <a:latin typeface="Century" panose="02040604050505020304" pitchFamily="18" charset="0"/>
              </a:rPr>
              <a:t> &gt; 0)        </a:t>
            </a:r>
          </a:p>
          <a:p>
            <a:r>
              <a:rPr lang="en-IN" dirty="0">
                <a:latin typeface="Century" panose="02040604050505020304" pitchFamily="18" charset="0"/>
              </a:rPr>
              <a:t>return 1;    </a:t>
            </a:r>
          </a:p>
          <a:p>
            <a:r>
              <a:rPr lang="en-IN" dirty="0">
                <a:latin typeface="Century" panose="02040604050505020304" pitchFamily="18" charset="0"/>
              </a:rPr>
              <a:t>else if (</a:t>
            </a:r>
            <a:r>
              <a:rPr lang="en-IN" dirty="0" err="1">
                <a:latin typeface="Century" panose="02040604050505020304" pitchFamily="18" charset="0"/>
              </a:rPr>
              <a:t>strcmp</a:t>
            </a:r>
            <a:r>
              <a:rPr lang="en-IN" dirty="0">
                <a:latin typeface="Century" panose="02040604050505020304" pitchFamily="18" charset="0"/>
              </a:rPr>
              <a:t>(dept, "ECE") == 0 &amp;&amp; </a:t>
            </a:r>
            <a:r>
              <a:rPr lang="en-IN" dirty="0" err="1">
                <a:latin typeface="Century" panose="02040604050505020304" pitchFamily="18" charset="0"/>
              </a:rPr>
              <a:t>seatECE</a:t>
            </a:r>
            <a:r>
              <a:rPr lang="en-IN" dirty="0">
                <a:latin typeface="Century" panose="02040604050505020304" pitchFamily="18" charset="0"/>
              </a:rPr>
              <a:t> &gt; 0)        </a:t>
            </a:r>
          </a:p>
          <a:p>
            <a:r>
              <a:rPr lang="en-IN" dirty="0">
                <a:latin typeface="Century" panose="02040604050505020304" pitchFamily="18" charset="0"/>
              </a:rPr>
              <a:t>return 1;    </a:t>
            </a:r>
          </a:p>
          <a:p>
            <a:r>
              <a:rPr lang="en-IN" dirty="0">
                <a:latin typeface="Century" panose="02040604050505020304" pitchFamily="18" charset="0"/>
              </a:rPr>
              <a:t>else if (</a:t>
            </a:r>
            <a:r>
              <a:rPr lang="en-IN" dirty="0" err="1">
                <a:latin typeface="Century" panose="02040604050505020304" pitchFamily="18" charset="0"/>
              </a:rPr>
              <a:t>strcmp</a:t>
            </a:r>
            <a:r>
              <a:rPr lang="en-IN" dirty="0">
                <a:latin typeface="Century" panose="02040604050505020304" pitchFamily="18" charset="0"/>
              </a:rPr>
              <a:t>(dept, "MECH") == 0 &amp;&amp; </a:t>
            </a:r>
            <a:r>
              <a:rPr lang="en-IN" dirty="0" err="1">
                <a:latin typeface="Century" panose="02040604050505020304" pitchFamily="18" charset="0"/>
              </a:rPr>
              <a:t>seatMECH</a:t>
            </a:r>
            <a:r>
              <a:rPr lang="en-IN" dirty="0">
                <a:latin typeface="Century" panose="02040604050505020304" pitchFamily="18" charset="0"/>
              </a:rPr>
              <a:t> &gt; 0)        </a:t>
            </a:r>
          </a:p>
          <a:p>
            <a:r>
              <a:rPr lang="en-IN" dirty="0">
                <a:latin typeface="Century" panose="02040604050505020304" pitchFamily="18" charset="0"/>
              </a:rPr>
              <a:t>return 1;    </a:t>
            </a:r>
          </a:p>
          <a:p>
            <a:r>
              <a:rPr lang="en-IN" dirty="0">
                <a:latin typeface="Century" panose="02040604050505020304" pitchFamily="18" charset="0"/>
              </a:rPr>
              <a:t>else if (</a:t>
            </a:r>
            <a:r>
              <a:rPr lang="en-IN" dirty="0" err="1">
                <a:latin typeface="Century" panose="02040604050505020304" pitchFamily="18" charset="0"/>
              </a:rPr>
              <a:t>strcmp</a:t>
            </a:r>
            <a:r>
              <a:rPr lang="en-IN" dirty="0">
                <a:latin typeface="Century" panose="02040604050505020304" pitchFamily="18" charset="0"/>
              </a:rPr>
              <a:t>(dept, "CE") == 0 &amp;&amp; </a:t>
            </a:r>
            <a:r>
              <a:rPr lang="en-IN" dirty="0" err="1">
                <a:latin typeface="Century" panose="02040604050505020304" pitchFamily="18" charset="0"/>
              </a:rPr>
              <a:t>seatCE</a:t>
            </a:r>
            <a:r>
              <a:rPr lang="en-IN" dirty="0">
                <a:latin typeface="Century" panose="02040604050505020304" pitchFamily="18" charset="0"/>
              </a:rPr>
              <a:t> &gt; 0)        </a:t>
            </a:r>
          </a:p>
          <a:p>
            <a:r>
              <a:rPr lang="en-IN" dirty="0">
                <a:latin typeface="Century" panose="02040604050505020304" pitchFamily="18" charset="0"/>
              </a:rPr>
              <a:t>return 1;    </a:t>
            </a:r>
          </a:p>
          <a:p>
            <a:r>
              <a:rPr lang="en-IN" dirty="0">
                <a:latin typeface="Century" panose="02040604050505020304" pitchFamily="18" charset="0"/>
              </a:rPr>
              <a:t>else        </a:t>
            </a:r>
          </a:p>
          <a:p>
            <a:r>
              <a:rPr lang="en-IN" dirty="0">
                <a:latin typeface="Century" panose="02040604050505020304" pitchFamily="18" charset="0"/>
              </a:rPr>
              <a:t>return 0;}</a:t>
            </a:r>
          </a:p>
          <a:p>
            <a:endParaRPr lang="en-IN" dirty="0">
              <a:latin typeface="Century" panose="02040604050505020304" pitchFamily="18" charset="0"/>
            </a:endParaRPr>
          </a:p>
          <a:p>
            <a:r>
              <a:rPr lang="en-IN" dirty="0">
                <a:latin typeface="Arial Black" panose="020B0A04020102020204" pitchFamily="34" charset="0"/>
              </a:rPr>
              <a:t>/* -------------------- MODULE 5: REDUCE SEAT</a:t>
            </a:r>
          </a:p>
          <a:p>
            <a:r>
              <a:rPr lang="en-IN" dirty="0">
                <a:latin typeface="Arial Black" panose="020B0A04020102020204" pitchFamily="34" charset="0"/>
              </a:rPr>
              <a:t> COUNT -------------------- */</a:t>
            </a:r>
          </a:p>
          <a:p>
            <a:endParaRPr lang="en-IN" dirty="0">
              <a:latin typeface="Century" panose="02040604050505020304" pitchFamily="18" charset="0"/>
            </a:endParaRPr>
          </a:p>
          <a:p>
            <a:r>
              <a:rPr lang="en-IN" dirty="0">
                <a:latin typeface="Century" panose="02040604050505020304" pitchFamily="18" charset="0"/>
              </a:rPr>
              <a:t>void </a:t>
            </a:r>
            <a:r>
              <a:rPr lang="en-IN" dirty="0" err="1">
                <a:latin typeface="Century" panose="02040604050505020304" pitchFamily="18" charset="0"/>
              </a:rPr>
              <a:t>reduceSeat</a:t>
            </a:r>
            <a:r>
              <a:rPr lang="en-IN" dirty="0">
                <a:latin typeface="Century" panose="02040604050505020304" pitchFamily="18" charset="0"/>
              </a:rPr>
              <a:t>(char dept[]) </a:t>
            </a:r>
          </a:p>
          <a:p>
            <a:r>
              <a:rPr lang="en-IN" dirty="0">
                <a:latin typeface="Century" panose="02040604050505020304" pitchFamily="18" charset="0"/>
              </a:rPr>
              <a:t>{ </a:t>
            </a:r>
          </a:p>
          <a:p>
            <a:r>
              <a:rPr lang="en-IN" dirty="0">
                <a:latin typeface="Century" panose="02040604050505020304" pitchFamily="18" charset="0"/>
              </a:rPr>
              <a:t>if (</a:t>
            </a:r>
            <a:r>
              <a:rPr lang="en-IN" dirty="0" err="1">
                <a:latin typeface="Century" panose="02040604050505020304" pitchFamily="18" charset="0"/>
              </a:rPr>
              <a:t>strcmp</a:t>
            </a:r>
            <a:r>
              <a:rPr lang="en-IN" dirty="0">
                <a:latin typeface="Century" panose="02040604050505020304" pitchFamily="18" charset="0"/>
              </a:rPr>
              <a:t>(dept, "CSE") == 0)        </a:t>
            </a:r>
            <a:r>
              <a:rPr lang="en-IN" dirty="0" err="1">
                <a:latin typeface="Century" panose="02040604050505020304" pitchFamily="18" charset="0"/>
              </a:rPr>
              <a:t>seatCSE</a:t>
            </a:r>
            <a:r>
              <a:rPr lang="en-IN" dirty="0">
                <a:latin typeface="Century" panose="02040604050505020304" pitchFamily="18" charset="0"/>
              </a:rPr>
              <a:t>--;    </a:t>
            </a:r>
          </a:p>
          <a:p>
            <a:r>
              <a:rPr lang="en-IN" dirty="0">
                <a:latin typeface="Century" panose="02040604050505020304" pitchFamily="18" charset="0"/>
              </a:rPr>
              <a:t>else if (</a:t>
            </a:r>
            <a:r>
              <a:rPr lang="en-IN" dirty="0" err="1">
                <a:latin typeface="Century" panose="02040604050505020304" pitchFamily="18" charset="0"/>
              </a:rPr>
              <a:t>strcmp</a:t>
            </a:r>
            <a:r>
              <a:rPr lang="en-IN" dirty="0">
                <a:latin typeface="Century" panose="02040604050505020304" pitchFamily="18" charset="0"/>
              </a:rPr>
              <a:t>(dept, "ECE") == 0)        </a:t>
            </a:r>
            <a:r>
              <a:rPr lang="en-IN" dirty="0" err="1">
                <a:latin typeface="Century" panose="02040604050505020304" pitchFamily="18" charset="0"/>
              </a:rPr>
              <a:t>seatECE</a:t>
            </a:r>
            <a:r>
              <a:rPr lang="en-IN" dirty="0">
                <a:latin typeface="Century" panose="02040604050505020304" pitchFamily="18" charset="0"/>
              </a:rPr>
              <a:t>--;    </a:t>
            </a:r>
          </a:p>
          <a:p>
            <a:r>
              <a:rPr lang="en-IN" dirty="0">
                <a:latin typeface="Century" panose="02040604050505020304" pitchFamily="18" charset="0"/>
              </a:rPr>
              <a:t>else if (</a:t>
            </a:r>
            <a:r>
              <a:rPr lang="en-IN" dirty="0" err="1">
                <a:latin typeface="Century" panose="02040604050505020304" pitchFamily="18" charset="0"/>
              </a:rPr>
              <a:t>strcmp</a:t>
            </a:r>
            <a:r>
              <a:rPr lang="en-IN" dirty="0">
                <a:latin typeface="Century" panose="02040604050505020304" pitchFamily="18" charset="0"/>
              </a:rPr>
              <a:t>(dept, "MECH") == 0)        </a:t>
            </a:r>
            <a:r>
              <a:rPr lang="en-IN" dirty="0" err="1">
                <a:latin typeface="Century" panose="02040604050505020304" pitchFamily="18" charset="0"/>
              </a:rPr>
              <a:t>seatMECH</a:t>
            </a:r>
            <a:r>
              <a:rPr lang="en-IN" dirty="0">
                <a:latin typeface="Century" panose="02040604050505020304" pitchFamily="18" charset="0"/>
              </a:rPr>
              <a:t>--;    </a:t>
            </a:r>
          </a:p>
          <a:p>
            <a:r>
              <a:rPr lang="en-IN" dirty="0">
                <a:latin typeface="Century" panose="02040604050505020304" pitchFamily="18" charset="0"/>
              </a:rPr>
              <a:t>else if (</a:t>
            </a:r>
            <a:r>
              <a:rPr lang="en-IN" dirty="0" err="1">
                <a:latin typeface="Century" panose="02040604050505020304" pitchFamily="18" charset="0"/>
              </a:rPr>
              <a:t>strcmp</a:t>
            </a:r>
            <a:r>
              <a:rPr lang="en-IN" dirty="0">
                <a:latin typeface="Century" panose="02040604050505020304" pitchFamily="18" charset="0"/>
              </a:rPr>
              <a:t>(dept, "CE") == 0)        </a:t>
            </a:r>
            <a:r>
              <a:rPr lang="en-IN" dirty="0" err="1">
                <a:latin typeface="Century" panose="02040604050505020304" pitchFamily="18" charset="0"/>
              </a:rPr>
              <a:t>seatCE</a:t>
            </a:r>
            <a:r>
              <a:rPr lang="en-IN" dirty="0">
                <a:latin typeface="Century" panose="02040604050505020304" pitchFamily="18" charset="0"/>
              </a:rPr>
              <a:t>--;</a:t>
            </a:r>
          </a:p>
          <a:p>
            <a:r>
              <a:rPr lang="en-IN" dirty="0">
                <a:latin typeface="Century" panose="02040604050505020304" pitchFamily="18" charset="0"/>
              </a:rPr>
              <a:t>}</a:t>
            </a:r>
          </a:p>
        </p:txBody>
      </p:sp>
    </p:spTree>
    <p:extLst>
      <p:ext uri="{BB962C8B-B14F-4D97-AF65-F5344CB8AC3E}">
        <p14:creationId xmlns:p14="http://schemas.microsoft.com/office/powerpoint/2010/main" val="4545026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5CDCB88-76DA-C11E-81E0-4A4B60003D6D}"/>
              </a:ext>
            </a:extLst>
          </p:cNvPr>
          <p:cNvSpPr txBox="1"/>
          <p:nvPr/>
        </p:nvSpPr>
        <p:spPr>
          <a:xfrm>
            <a:off x="1435100" y="381000"/>
            <a:ext cx="9372600" cy="6186309"/>
          </a:xfrm>
          <a:prstGeom prst="rect">
            <a:avLst/>
          </a:prstGeom>
          <a:noFill/>
        </p:spPr>
        <p:txBody>
          <a:bodyPr wrap="square" rtlCol="0">
            <a:spAutoFit/>
          </a:bodyPr>
          <a:lstStyle/>
          <a:p>
            <a:r>
              <a:rPr lang="en-IN" dirty="0">
                <a:latin typeface="Arial Black" panose="020B0A04020102020204" pitchFamily="34" charset="0"/>
              </a:rPr>
              <a:t>/* -------------------- MODULE 6: ADD STUDENT -------------------- */</a:t>
            </a:r>
          </a:p>
          <a:p>
            <a:endParaRPr lang="en-IN" dirty="0">
              <a:latin typeface="Arial Black" panose="020B0A04020102020204" pitchFamily="34" charset="0"/>
            </a:endParaRPr>
          </a:p>
          <a:p>
            <a:r>
              <a:rPr lang="en-IN" dirty="0">
                <a:latin typeface="Century" panose="02040604050505020304" pitchFamily="18" charset="0"/>
              </a:rPr>
              <a:t>void </a:t>
            </a:r>
            <a:r>
              <a:rPr lang="en-IN" dirty="0" err="1">
                <a:latin typeface="Century" panose="02040604050505020304" pitchFamily="18" charset="0"/>
              </a:rPr>
              <a:t>addStudent</a:t>
            </a:r>
            <a:r>
              <a:rPr lang="en-IN" dirty="0">
                <a:latin typeface="Century" panose="02040604050505020304" pitchFamily="18" charset="0"/>
              </a:rPr>
              <a:t>(struct Student s[], int *count) {    </a:t>
            </a:r>
          </a:p>
          <a:p>
            <a:r>
              <a:rPr lang="en-IN" dirty="0">
                <a:latin typeface="Century" panose="02040604050505020304" pitchFamily="18" charset="0"/>
              </a:rPr>
              <a:t>if (*count &gt;= MAX) {        </a:t>
            </a:r>
          </a:p>
          <a:p>
            <a:r>
              <a:rPr lang="en-IN" dirty="0" err="1">
                <a:latin typeface="Century" panose="02040604050505020304" pitchFamily="18" charset="0"/>
              </a:rPr>
              <a:t>printf</a:t>
            </a:r>
            <a:r>
              <a:rPr lang="en-IN" dirty="0">
                <a:latin typeface="Century" panose="02040604050505020304" pitchFamily="18" charset="0"/>
              </a:rPr>
              <a:t>("Cannot add more students!\n");        </a:t>
            </a:r>
          </a:p>
          <a:p>
            <a:r>
              <a:rPr lang="en-IN" dirty="0">
                <a:latin typeface="Century" panose="02040604050505020304" pitchFamily="18" charset="0"/>
              </a:rPr>
              <a:t>return;    }    </a:t>
            </a:r>
          </a:p>
          <a:p>
            <a:r>
              <a:rPr lang="en-IN" dirty="0">
                <a:latin typeface="Century" panose="02040604050505020304" pitchFamily="18" charset="0"/>
              </a:rPr>
              <a:t>struct Student temp;    </a:t>
            </a:r>
          </a:p>
          <a:p>
            <a:r>
              <a:rPr lang="en-IN" dirty="0" err="1">
                <a:latin typeface="Century" panose="02040604050505020304" pitchFamily="18" charset="0"/>
              </a:rPr>
              <a:t>printf</a:t>
            </a:r>
            <a:r>
              <a:rPr lang="en-IN" dirty="0">
                <a:latin typeface="Century" panose="02040604050505020304" pitchFamily="18" charset="0"/>
              </a:rPr>
              <a:t>("\</a:t>
            </a:r>
            <a:r>
              <a:rPr lang="en-IN" dirty="0" err="1">
                <a:latin typeface="Century" panose="02040604050505020304" pitchFamily="18" charset="0"/>
              </a:rPr>
              <a:t>nEnter</a:t>
            </a:r>
            <a:r>
              <a:rPr lang="en-IN" dirty="0">
                <a:latin typeface="Century" panose="02040604050505020304" pitchFamily="18" charset="0"/>
              </a:rPr>
              <a:t> Application Number: ");    </a:t>
            </a:r>
          </a:p>
          <a:p>
            <a:r>
              <a:rPr lang="en-IN" dirty="0" err="1">
                <a:latin typeface="Century" panose="02040604050505020304" pitchFamily="18" charset="0"/>
              </a:rPr>
              <a:t>scanf</a:t>
            </a:r>
            <a:r>
              <a:rPr lang="en-IN" dirty="0">
                <a:latin typeface="Century" panose="02040604050505020304" pitchFamily="18" charset="0"/>
              </a:rPr>
              <a:t>("%d", &amp;</a:t>
            </a:r>
            <a:r>
              <a:rPr lang="en-IN" dirty="0" err="1">
                <a:latin typeface="Century" panose="02040604050505020304" pitchFamily="18" charset="0"/>
              </a:rPr>
              <a:t>temp.app_no</a:t>
            </a:r>
            <a:r>
              <a:rPr lang="en-IN" dirty="0">
                <a:latin typeface="Century" panose="02040604050505020304" pitchFamily="18" charset="0"/>
              </a:rPr>
              <a:t>);    </a:t>
            </a:r>
          </a:p>
          <a:p>
            <a:r>
              <a:rPr lang="en-IN" dirty="0" err="1">
                <a:latin typeface="Century" panose="02040604050505020304" pitchFamily="18" charset="0"/>
              </a:rPr>
              <a:t>printf</a:t>
            </a:r>
            <a:r>
              <a:rPr lang="en-IN" dirty="0">
                <a:latin typeface="Century" panose="02040604050505020304" pitchFamily="18" charset="0"/>
              </a:rPr>
              <a:t>("Enter Name: ");    </a:t>
            </a:r>
          </a:p>
          <a:p>
            <a:r>
              <a:rPr lang="en-IN" dirty="0" err="1">
                <a:latin typeface="Century" panose="02040604050505020304" pitchFamily="18" charset="0"/>
              </a:rPr>
              <a:t>scanf</a:t>
            </a:r>
            <a:r>
              <a:rPr lang="en-IN" dirty="0">
                <a:latin typeface="Century" panose="02040604050505020304" pitchFamily="18" charset="0"/>
              </a:rPr>
              <a:t>(" %[^\n]", temp.name);    </a:t>
            </a:r>
          </a:p>
          <a:p>
            <a:r>
              <a:rPr lang="en-IN" dirty="0" err="1">
                <a:latin typeface="Century" panose="02040604050505020304" pitchFamily="18" charset="0"/>
              </a:rPr>
              <a:t>printf</a:t>
            </a:r>
            <a:r>
              <a:rPr lang="en-IN" dirty="0">
                <a:latin typeface="Century" panose="02040604050505020304" pitchFamily="18" charset="0"/>
              </a:rPr>
              <a:t>("Enter Department (CSE/ECE/MECH/CE): ");    </a:t>
            </a:r>
          </a:p>
          <a:p>
            <a:r>
              <a:rPr lang="en-IN" dirty="0" err="1">
                <a:latin typeface="Century" panose="02040604050505020304" pitchFamily="18" charset="0"/>
              </a:rPr>
              <a:t>scanf</a:t>
            </a:r>
            <a:r>
              <a:rPr lang="en-IN" dirty="0">
                <a:latin typeface="Century" panose="02040604050505020304" pitchFamily="18" charset="0"/>
              </a:rPr>
              <a:t>("%s", </a:t>
            </a:r>
            <a:r>
              <a:rPr lang="en-IN" dirty="0" err="1">
                <a:latin typeface="Century" panose="02040604050505020304" pitchFamily="18" charset="0"/>
              </a:rPr>
              <a:t>temp.department</a:t>
            </a:r>
            <a:r>
              <a:rPr lang="en-IN" dirty="0">
                <a:latin typeface="Century" panose="02040604050505020304" pitchFamily="18" charset="0"/>
              </a:rPr>
              <a:t>);    </a:t>
            </a:r>
          </a:p>
          <a:p>
            <a:r>
              <a:rPr lang="en-IN" dirty="0">
                <a:latin typeface="Century" panose="02040604050505020304" pitchFamily="18" charset="0"/>
              </a:rPr>
              <a:t>if (!</a:t>
            </a:r>
            <a:r>
              <a:rPr lang="en-IN" dirty="0" err="1">
                <a:latin typeface="Century" panose="02040604050505020304" pitchFamily="18" charset="0"/>
              </a:rPr>
              <a:t>checkSeat</a:t>
            </a:r>
            <a:r>
              <a:rPr lang="en-IN" dirty="0">
                <a:latin typeface="Century" panose="02040604050505020304" pitchFamily="18" charset="0"/>
              </a:rPr>
              <a:t>(</a:t>
            </a:r>
            <a:r>
              <a:rPr lang="en-IN" dirty="0" err="1">
                <a:latin typeface="Century" panose="02040604050505020304" pitchFamily="18" charset="0"/>
              </a:rPr>
              <a:t>temp.department</a:t>
            </a:r>
            <a:r>
              <a:rPr lang="en-IN" dirty="0">
                <a:latin typeface="Century" panose="02040604050505020304" pitchFamily="18" charset="0"/>
              </a:rPr>
              <a:t>)) {        </a:t>
            </a:r>
          </a:p>
          <a:p>
            <a:r>
              <a:rPr lang="en-IN" dirty="0" err="1">
                <a:latin typeface="Century" panose="02040604050505020304" pitchFamily="18" charset="0"/>
              </a:rPr>
              <a:t>printf</a:t>
            </a:r>
            <a:r>
              <a:rPr lang="en-IN" dirty="0">
                <a:latin typeface="Century" panose="02040604050505020304" pitchFamily="18" charset="0"/>
              </a:rPr>
              <a:t>("\</a:t>
            </a:r>
            <a:r>
              <a:rPr lang="en-IN" dirty="0" err="1">
                <a:latin typeface="Century" panose="02040604050505020304" pitchFamily="18" charset="0"/>
              </a:rPr>
              <a:t>nSeats</a:t>
            </a:r>
            <a:r>
              <a:rPr lang="en-IN" dirty="0">
                <a:latin typeface="Century" panose="02040604050505020304" pitchFamily="18" charset="0"/>
              </a:rPr>
              <a:t> Full in %s Department OR Invalid Department!\n", </a:t>
            </a:r>
            <a:r>
              <a:rPr lang="en-IN" dirty="0" err="1">
                <a:latin typeface="Century" panose="02040604050505020304" pitchFamily="18" charset="0"/>
              </a:rPr>
              <a:t>temp.department</a:t>
            </a:r>
            <a:r>
              <a:rPr lang="en-IN" dirty="0">
                <a:latin typeface="Century" panose="02040604050505020304" pitchFamily="18" charset="0"/>
              </a:rPr>
              <a:t>);        return;</a:t>
            </a:r>
            <a:r>
              <a:rPr lang="en-US" dirty="0">
                <a:latin typeface="Century" panose="02040604050505020304" pitchFamily="18" charset="0"/>
              </a:rPr>
              <a:t> }    </a:t>
            </a:r>
          </a:p>
          <a:p>
            <a:r>
              <a:rPr lang="en-US" dirty="0">
                <a:latin typeface="Century" panose="02040604050505020304" pitchFamily="18" charset="0"/>
              </a:rPr>
              <a:t> </a:t>
            </a:r>
          </a:p>
          <a:p>
            <a:r>
              <a:rPr lang="en-US" dirty="0">
                <a:latin typeface="Century" panose="02040604050505020304" pitchFamily="18" charset="0"/>
              </a:rPr>
              <a:t>s[*count] = temp;    </a:t>
            </a:r>
          </a:p>
          <a:p>
            <a:r>
              <a:rPr lang="en-US" dirty="0">
                <a:latin typeface="Century" panose="02040604050505020304" pitchFamily="18" charset="0"/>
              </a:rPr>
              <a:t>(*count)++;    </a:t>
            </a:r>
          </a:p>
          <a:p>
            <a:r>
              <a:rPr lang="en-US" dirty="0" err="1">
                <a:latin typeface="Century" panose="02040604050505020304" pitchFamily="18" charset="0"/>
              </a:rPr>
              <a:t>reduceSeat</a:t>
            </a:r>
            <a:r>
              <a:rPr lang="en-US" dirty="0">
                <a:latin typeface="Century" panose="02040604050505020304" pitchFamily="18" charset="0"/>
              </a:rPr>
              <a:t>(</a:t>
            </a:r>
            <a:r>
              <a:rPr lang="en-US" dirty="0" err="1">
                <a:latin typeface="Century" panose="02040604050505020304" pitchFamily="18" charset="0"/>
              </a:rPr>
              <a:t>temp.department</a:t>
            </a:r>
            <a:r>
              <a:rPr lang="en-US" dirty="0">
                <a:latin typeface="Century" panose="02040604050505020304" pitchFamily="18" charset="0"/>
              </a:rPr>
              <a:t>);    </a:t>
            </a:r>
          </a:p>
          <a:p>
            <a:r>
              <a:rPr lang="en-US" dirty="0" err="1">
                <a:latin typeface="Century" panose="02040604050505020304" pitchFamily="18" charset="0"/>
              </a:rPr>
              <a:t>printf</a:t>
            </a:r>
            <a:r>
              <a:rPr lang="en-US" dirty="0">
                <a:latin typeface="Century" panose="02040604050505020304" pitchFamily="18" charset="0"/>
              </a:rPr>
              <a:t>("\</a:t>
            </a:r>
            <a:r>
              <a:rPr lang="en-US" dirty="0" err="1">
                <a:latin typeface="Century" panose="02040604050505020304" pitchFamily="18" charset="0"/>
              </a:rPr>
              <a:t>nStudent</a:t>
            </a:r>
            <a:r>
              <a:rPr lang="en-US" dirty="0">
                <a:latin typeface="Century" panose="02040604050505020304" pitchFamily="18" charset="0"/>
              </a:rPr>
              <a:t> admitted successfully!\n");</a:t>
            </a:r>
          </a:p>
          <a:p>
            <a:r>
              <a:rPr lang="en-US" dirty="0">
                <a:latin typeface="Century" panose="02040604050505020304" pitchFamily="18" charset="0"/>
              </a:rPr>
              <a:t>}</a:t>
            </a:r>
            <a:endParaRPr lang="en-IN" dirty="0">
              <a:latin typeface="Century" panose="02040604050505020304" pitchFamily="18" charset="0"/>
            </a:endParaRPr>
          </a:p>
        </p:txBody>
      </p:sp>
    </p:spTree>
    <p:extLst>
      <p:ext uri="{BB962C8B-B14F-4D97-AF65-F5344CB8AC3E}">
        <p14:creationId xmlns:p14="http://schemas.microsoft.com/office/powerpoint/2010/main" val="23430454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8FC9D5-D9B1-87CB-B557-509495966EF4}"/>
              </a:ext>
            </a:extLst>
          </p:cNvPr>
          <p:cNvSpPr txBox="1"/>
          <p:nvPr/>
        </p:nvSpPr>
        <p:spPr>
          <a:xfrm>
            <a:off x="1765300" y="1117600"/>
            <a:ext cx="9702800" cy="5078313"/>
          </a:xfrm>
          <a:prstGeom prst="rect">
            <a:avLst/>
          </a:prstGeom>
          <a:noFill/>
        </p:spPr>
        <p:txBody>
          <a:bodyPr wrap="square" rtlCol="0">
            <a:spAutoFit/>
          </a:bodyPr>
          <a:lstStyle/>
          <a:p>
            <a:r>
              <a:rPr lang="en-IN" dirty="0">
                <a:latin typeface="Arial Black" panose="020B0A04020102020204" pitchFamily="34" charset="0"/>
              </a:rPr>
              <a:t>/* -------------------- MODULE 7: DISPLAY ALL</a:t>
            </a:r>
          </a:p>
          <a:p>
            <a:r>
              <a:rPr lang="en-IN" dirty="0">
                <a:latin typeface="Arial Black" panose="020B0A04020102020204" pitchFamily="34" charset="0"/>
              </a:rPr>
              <a:t> STUDENTS -------------------- */</a:t>
            </a:r>
          </a:p>
          <a:p>
            <a:endParaRPr lang="en-IN" dirty="0"/>
          </a:p>
          <a:p>
            <a:r>
              <a:rPr lang="en-IN" dirty="0">
                <a:latin typeface="Century" panose="02040604050505020304" pitchFamily="18" charset="0"/>
              </a:rPr>
              <a:t>void </a:t>
            </a:r>
            <a:r>
              <a:rPr lang="en-IN" dirty="0" err="1">
                <a:latin typeface="Century" panose="02040604050505020304" pitchFamily="18" charset="0"/>
              </a:rPr>
              <a:t>displayStudents</a:t>
            </a:r>
            <a:r>
              <a:rPr lang="en-IN" dirty="0">
                <a:latin typeface="Century" panose="02040604050505020304" pitchFamily="18" charset="0"/>
              </a:rPr>
              <a:t>(struct Student s[], int count) </a:t>
            </a:r>
          </a:p>
          <a:p>
            <a:r>
              <a:rPr lang="en-IN" dirty="0">
                <a:latin typeface="Century" panose="02040604050505020304" pitchFamily="18" charset="0"/>
              </a:rPr>
              <a:t>{    </a:t>
            </a:r>
          </a:p>
          <a:p>
            <a:r>
              <a:rPr lang="en-IN" dirty="0">
                <a:latin typeface="Century" panose="02040604050505020304" pitchFamily="18" charset="0"/>
              </a:rPr>
              <a:t>if (count == 0) </a:t>
            </a:r>
          </a:p>
          <a:p>
            <a:r>
              <a:rPr lang="en-IN" dirty="0">
                <a:latin typeface="Century" panose="02040604050505020304" pitchFamily="18" charset="0"/>
              </a:rPr>
              <a:t>{        </a:t>
            </a:r>
          </a:p>
          <a:p>
            <a:r>
              <a:rPr lang="en-IN" dirty="0" err="1">
                <a:latin typeface="Century" panose="02040604050505020304" pitchFamily="18" charset="0"/>
              </a:rPr>
              <a:t>printf</a:t>
            </a:r>
            <a:r>
              <a:rPr lang="en-IN" dirty="0">
                <a:latin typeface="Century" panose="02040604050505020304" pitchFamily="18" charset="0"/>
              </a:rPr>
              <a:t>("\</a:t>
            </a:r>
            <a:r>
              <a:rPr lang="en-IN" dirty="0" err="1">
                <a:latin typeface="Century" panose="02040604050505020304" pitchFamily="18" charset="0"/>
              </a:rPr>
              <a:t>nNo</a:t>
            </a:r>
            <a:r>
              <a:rPr lang="en-IN" dirty="0">
                <a:latin typeface="Century" panose="02040604050505020304" pitchFamily="18" charset="0"/>
              </a:rPr>
              <a:t> students admitted yet!\n");        </a:t>
            </a:r>
          </a:p>
          <a:p>
            <a:r>
              <a:rPr lang="en-IN" dirty="0">
                <a:latin typeface="Century" panose="02040604050505020304" pitchFamily="18" charset="0"/>
              </a:rPr>
              <a:t>return;    </a:t>
            </a:r>
          </a:p>
          <a:p>
            <a:r>
              <a:rPr lang="en-IN" dirty="0">
                <a:latin typeface="Century" panose="02040604050505020304" pitchFamily="18" charset="0"/>
              </a:rPr>
              <a:t>}    </a:t>
            </a:r>
          </a:p>
          <a:p>
            <a:r>
              <a:rPr lang="en-IN" dirty="0" err="1">
                <a:latin typeface="Century" panose="02040604050505020304" pitchFamily="18" charset="0"/>
              </a:rPr>
              <a:t>printf</a:t>
            </a:r>
            <a:r>
              <a:rPr lang="en-IN" dirty="0">
                <a:latin typeface="Century" panose="02040604050505020304" pitchFamily="18" charset="0"/>
              </a:rPr>
              <a:t>("\n--- Admitted Students ---\n");    </a:t>
            </a:r>
          </a:p>
          <a:p>
            <a:r>
              <a:rPr lang="en-IN" dirty="0">
                <a:latin typeface="Century" panose="02040604050505020304" pitchFamily="18" charset="0"/>
              </a:rPr>
              <a:t>for (int </a:t>
            </a:r>
            <a:r>
              <a:rPr lang="en-IN" dirty="0" err="1">
                <a:latin typeface="Century" panose="02040604050505020304" pitchFamily="18" charset="0"/>
              </a:rPr>
              <a:t>i</a:t>
            </a:r>
            <a:r>
              <a:rPr lang="en-IN" dirty="0">
                <a:latin typeface="Century" panose="02040604050505020304" pitchFamily="18" charset="0"/>
              </a:rPr>
              <a:t> = 0; </a:t>
            </a:r>
            <a:r>
              <a:rPr lang="en-IN" dirty="0" err="1">
                <a:latin typeface="Century" panose="02040604050505020304" pitchFamily="18" charset="0"/>
              </a:rPr>
              <a:t>i</a:t>
            </a:r>
            <a:r>
              <a:rPr lang="en-IN" dirty="0">
                <a:latin typeface="Century" panose="02040604050505020304" pitchFamily="18" charset="0"/>
              </a:rPr>
              <a:t> &lt; count; </a:t>
            </a:r>
            <a:r>
              <a:rPr lang="en-IN" dirty="0" err="1">
                <a:latin typeface="Century" panose="02040604050505020304" pitchFamily="18" charset="0"/>
              </a:rPr>
              <a:t>i</a:t>
            </a:r>
            <a:r>
              <a:rPr lang="en-IN" dirty="0">
                <a:latin typeface="Century" panose="02040604050505020304" pitchFamily="18" charset="0"/>
              </a:rPr>
              <a:t>++) </a:t>
            </a:r>
          </a:p>
          <a:p>
            <a:r>
              <a:rPr lang="en-IN" dirty="0">
                <a:latin typeface="Century" panose="02040604050505020304" pitchFamily="18" charset="0"/>
              </a:rPr>
              <a:t>{        </a:t>
            </a:r>
          </a:p>
          <a:p>
            <a:r>
              <a:rPr lang="en-IN" dirty="0" err="1">
                <a:latin typeface="Century" panose="02040604050505020304" pitchFamily="18" charset="0"/>
              </a:rPr>
              <a:t>printf</a:t>
            </a:r>
            <a:r>
              <a:rPr lang="en-IN" dirty="0">
                <a:latin typeface="Century" panose="02040604050505020304" pitchFamily="18" charset="0"/>
              </a:rPr>
              <a:t>("\</a:t>
            </a:r>
            <a:r>
              <a:rPr lang="en-IN" dirty="0" err="1">
                <a:latin typeface="Century" panose="02040604050505020304" pitchFamily="18" charset="0"/>
              </a:rPr>
              <a:t>nApplication</a:t>
            </a:r>
            <a:r>
              <a:rPr lang="en-IN" dirty="0">
                <a:latin typeface="Century" panose="02040604050505020304" pitchFamily="18" charset="0"/>
              </a:rPr>
              <a:t> No: %d", s[</a:t>
            </a:r>
            <a:r>
              <a:rPr lang="en-IN" dirty="0" err="1">
                <a:latin typeface="Century" panose="02040604050505020304" pitchFamily="18" charset="0"/>
              </a:rPr>
              <a:t>i</a:t>
            </a:r>
            <a:r>
              <a:rPr lang="en-IN" dirty="0">
                <a:latin typeface="Century" panose="02040604050505020304" pitchFamily="18" charset="0"/>
              </a:rPr>
              <a:t>].</a:t>
            </a:r>
            <a:r>
              <a:rPr lang="en-IN" dirty="0" err="1">
                <a:latin typeface="Century" panose="02040604050505020304" pitchFamily="18" charset="0"/>
              </a:rPr>
              <a:t>app_no</a:t>
            </a:r>
            <a:r>
              <a:rPr lang="en-IN" dirty="0">
                <a:latin typeface="Century" panose="02040604050505020304" pitchFamily="18" charset="0"/>
              </a:rPr>
              <a:t>);        </a:t>
            </a:r>
          </a:p>
          <a:p>
            <a:r>
              <a:rPr lang="en-IN" dirty="0" err="1">
                <a:latin typeface="Century" panose="02040604050505020304" pitchFamily="18" charset="0"/>
              </a:rPr>
              <a:t>printf</a:t>
            </a:r>
            <a:r>
              <a:rPr lang="en-IN" dirty="0">
                <a:latin typeface="Century" panose="02040604050505020304" pitchFamily="18" charset="0"/>
              </a:rPr>
              <a:t>("\</a:t>
            </a:r>
            <a:r>
              <a:rPr lang="en-IN" dirty="0" err="1">
                <a:latin typeface="Century" panose="02040604050505020304" pitchFamily="18" charset="0"/>
              </a:rPr>
              <a:t>nName</a:t>
            </a:r>
            <a:r>
              <a:rPr lang="en-IN" dirty="0">
                <a:latin typeface="Century" panose="02040604050505020304" pitchFamily="18" charset="0"/>
              </a:rPr>
              <a:t>: %s", s[</a:t>
            </a:r>
            <a:r>
              <a:rPr lang="en-IN" dirty="0" err="1">
                <a:latin typeface="Century" panose="02040604050505020304" pitchFamily="18" charset="0"/>
              </a:rPr>
              <a:t>i</a:t>
            </a:r>
            <a:r>
              <a:rPr lang="en-IN" dirty="0">
                <a:latin typeface="Century" panose="02040604050505020304" pitchFamily="18" charset="0"/>
              </a:rPr>
              <a:t>].name);        </a:t>
            </a:r>
          </a:p>
          <a:p>
            <a:r>
              <a:rPr lang="en-IN" dirty="0" err="1">
                <a:latin typeface="Century" panose="02040604050505020304" pitchFamily="18" charset="0"/>
              </a:rPr>
              <a:t>printf</a:t>
            </a:r>
            <a:r>
              <a:rPr lang="en-IN" dirty="0">
                <a:latin typeface="Century" panose="02040604050505020304" pitchFamily="18" charset="0"/>
              </a:rPr>
              <a:t>("\</a:t>
            </a:r>
            <a:r>
              <a:rPr lang="en-IN" dirty="0" err="1">
                <a:latin typeface="Century" panose="02040604050505020304" pitchFamily="18" charset="0"/>
              </a:rPr>
              <a:t>nDepartment</a:t>
            </a:r>
            <a:r>
              <a:rPr lang="en-IN" dirty="0">
                <a:latin typeface="Century" panose="02040604050505020304" pitchFamily="18" charset="0"/>
              </a:rPr>
              <a:t>: %s", s[</a:t>
            </a:r>
            <a:r>
              <a:rPr lang="en-IN" dirty="0" err="1">
                <a:latin typeface="Century" panose="02040604050505020304" pitchFamily="18" charset="0"/>
              </a:rPr>
              <a:t>i</a:t>
            </a:r>
            <a:r>
              <a:rPr lang="en-IN" dirty="0">
                <a:latin typeface="Century" panose="02040604050505020304" pitchFamily="18" charset="0"/>
              </a:rPr>
              <a:t>].department);        </a:t>
            </a:r>
          </a:p>
          <a:p>
            <a:r>
              <a:rPr lang="en-IN" dirty="0">
                <a:latin typeface="Century" panose="02040604050505020304" pitchFamily="18" charset="0"/>
              </a:rPr>
              <a:t>}</a:t>
            </a:r>
          </a:p>
          <a:p>
            <a:r>
              <a:rPr lang="en-IN" dirty="0">
                <a:latin typeface="Century" panose="02040604050505020304" pitchFamily="18" charset="0"/>
              </a:rPr>
              <a:t>}</a:t>
            </a:r>
          </a:p>
        </p:txBody>
      </p:sp>
    </p:spTree>
    <p:extLst>
      <p:ext uri="{BB962C8B-B14F-4D97-AF65-F5344CB8AC3E}">
        <p14:creationId xmlns:p14="http://schemas.microsoft.com/office/powerpoint/2010/main" val="35000661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331902D-58FA-FFA4-D7D6-E3481BA9A116}"/>
              </a:ext>
            </a:extLst>
          </p:cNvPr>
          <p:cNvSpPr txBox="1"/>
          <p:nvPr/>
        </p:nvSpPr>
        <p:spPr>
          <a:xfrm>
            <a:off x="1765300" y="197346"/>
            <a:ext cx="9486900" cy="6186309"/>
          </a:xfrm>
          <a:prstGeom prst="rect">
            <a:avLst/>
          </a:prstGeom>
          <a:noFill/>
        </p:spPr>
        <p:txBody>
          <a:bodyPr wrap="square" rtlCol="0">
            <a:spAutoFit/>
          </a:bodyPr>
          <a:lstStyle/>
          <a:p>
            <a:r>
              <a:rPr lang="en-IN" dirty="0">
                <a:latin typeface="Arial Black" panose="020B0A04020102020204" pitchFamily="34" charset="0"/>
              </a:rPr>
              <a:t>/* -------------------- MODULE 8: SEARCH </a:t>
            </a:r>
          </a:p>
          <a:p>
            <a:r>
              <a:rPr lang="en-IN" dirty="0">
                <a:latin typeface="Arial Black" panose="020B0A04020102020204" pitchFamily="34" charset="0"/>
              </a:rPr>
              <a:t>STUDENT -------------------- */</a:t>
            </a:r>
          </a:p>
          <a:p>
            <a:endParaRPr lang="en-IN" dirty="0">
              <a:latin typeface="Arial Black" panose="020B0A04020102020204" pitchFamily="34" charset="0"/>
            </a:endParaRPr>
          </a:p>
          <a:p>
            <a:r>
              <a:rPr lang="en-IN" dirty="0">
                <a:latin typeface="Century" panose="02040604050505020304" pitchFamily="18" charset="0"/>
              </a:rPr>
              <a:t>void </a:t>
            </a:r>
            <a:r>
              <a:rPr lang="en-IN" dirty="0" err="1">
                <a:latin typeface="Century" panose="02040604050505020304" pitchFamily="18" charset="0"/>
              </a:rPr>
              <a:t>searchStudent</a:t>
            </a:r>
            <a:r>
              <a:rPr lang="en-IN" dirty="0">
                <a:latin typeface="Century" panose="02040604050505020304" pitchFamily="18" charset="0"/>
              </a:rPr>
              <a:t>(struct Student s[], int count) </a:t>
            </a:r>
          </a:p>
          <a:p>
            <a:r>
              <a:rPr lang="en-IN" dirty="0">
                <a:latin typeface="Century" panose="02040604050505020304" pitchFamily="18" charset="0"/>
              </a:rPr>
              <a:t>{    </a:t>
            </a:r>
          </a:p>
          <a:p>
            <a:r>
              <a:rPr lang="en-IN" dirty="0">
                <a:latin typeface="Century" panose="02040604050505020304" pitchFamily="18" charset="0"/>
              </a:rPr>
              <a:t>int no, found = 0;    </a:t>
            </a:r>
          </a:p>
          <a:p>
            <a:r>
              <a:rPr lang="en-IN" dirty="0" err="1">
                <a:latin typeface="Century" panose="02040604050505020304" pitchFamily="18" charset="0"/>
              </a:rPr>
              <a:t>printf</a:t>
            </a:r>
            <a:r>
              <a:rPr lang="en-IN" dirty="0">
                <a:latin typeface="Century" panose="02040604050505020304" pitchFamily="18" charset="0"/>
              </a:rPr>
              <a:t>("\</a:t>
            </a:r>
            <a:r>
              <a:rPr lang="en-IN" dirty="0" err="1">
                <a:latin typeface="Century" panose="02040604050505020304" pitchFamily="18" charset="0"/>
              </a:rPr>
              <a:t>nEnter</a:t>
            </a:r>
            <a:r>
              <a:rPr lang="en-IN" dirty="0">
                <a:latin typeface="Century" panose="02040604050505020304" pitchFamily="18" charset="0"/>
              </a:rPr>
              <a:t> Application Number to search: ");    </a:t>
            </a:r>
          </a:p>
          <a:p>
            <a:r>
              <a:rPr lang="en-IN" dirty="0" err="1">
                <a:latin typeface="Century" panose="02040604050505020304" pitchFamily="18" charset="0"/>
              </a:rPr>
              <a:t>scanf</a:t>
            </a:r>
            <a:r>
              <a:rPr lang="en-IN" dirty="0">
                <a:latin typeface="Century" panose="02040604050505020304" pitchFamily="18" charset="0"/>
              </a:rPr>
              <a:t>("%d", &amp;no);    </a:t>
            </a:r>
          </a:p>
          <a:p>
            <a:r>
              <a:rPr lang="en-IN" dirty="0">
                <a:latin typeface="Century" panose="02040604050505020304" pitchFamily="18" charset="0"/>
              </a:rPr>
              <a:t>for (int </a:t>
            </a:r>
            <a:r>
              <a:rPr lang="en-IN" dirty="0" err="1">
                <a:latin typeface="Century" panose="02040604050505020304" pitchFamily="18" charset="0"/>
              </a:rPr>
              <a:t>i</a:t>
            </a:r>
            <a:r>
              <a:rPr lang="en-IN" dirty="0">
                <a:latin typeface="Century" panose="02040604050505020304" pitchFamily="18" charset="0"/>
              </a:rPr>
              <a:t> = 0; </a:t>
            </a:r>
            <a:r>
              <a:rPr lang="en-IN" dirty="0" err="1">
                <a:latin typeface="Century" panose="02040604050505020304" pitchFamily="18" charset="0"/>
              </a:rPr>
              <a:t>i</a:t>
            </a:r>
            <a:r>
              <a:rPr lang="en-IN" dirty="0">
                <a:latin typeface="Century" panose="02040604050505020304" pitchFamily="18" charset="0"/>
              </a:rPr>
              <a:t> &lt; count; </a:t>
            </a:r>
            <a:r>
              <a:rPr lang="en-IN" dirty="0" err="1">
                <a:latin typeface="Century" panose="02040604050505020304" pitchFamily="18" charset="0"/>
              </a:rPr>
              <a:t>i</a:t>
            </a:r>
            <a:r>
              <a:rPr lang="en-IN" dirty="0">
                <a:latin typeface="Century" panose="02040604050505020304" pitchFamily="18" charset="0"/>
              </a:rPr>
              <a:t>++) </a:t>
            </a:r>
          </a:p>
          <a:p>
            <a:r>
              <a:rPr lang="en-IN" dirty="0">
                <a:latin typeface="Century" panose="02040604050505020304" pitchFamily="18" charset="0"/>
              </a:rPr>
              <a:t>{        </a:t>
            </a:r>
          </a:p>
          <a:p>
            <a:r>
              <a:rPr lang="en-IN" dirty="0">
                <a:latin typeface="Century" panose="02040604050505020304" pitchFamily="18" charset="0"/>
              </a:rPr>
              <a:t>if (s[</a:t>
            </a:r>
            <a:r>
              <a:rPr lang="en-IN" dirty="0" err="1">
                <a:latin typeface="Century" panose="02040604050505020304" pitchFamily="18" charset="0"/>
              </a:rPr>
              <a:t>i</a:t>
            </a:r>
            <a:r>
              <a:rPr lang="en-IN" dirty="0">
                <a:latin typeface="Century" panose="02040604050505020304" pitchFamily="18" charset="0"/>
              </a:rPr>
              <a:t>].</a:t>
            </a:r>
            <a:r>
              <a:rPr lang="en-IN" dirty="0" err="1">
                <a:latin typeface="Century" panose="02040604050505020304" pitchFamily="18" charset="0"/>
              </a:rPr>
              <a:t>app_no</a:t>
            </a:r>
            <a:r>
              <a:rPr lang="en-IN" dirty="0">
                <a:latin typeface="Century" panose="02040604050505020304" pitchFamily="18" charset="0"/>
              </a:rPr>
              <a:t> == no) </a:t>
            </a:r>
          </a:p>
          <a:p>
            <a:r>
              <a:rPr lang="en-IN" dirty="0">
                <a:latin typeface="Century" panose="02040604050505020304" pitchFamily="18" charset="0"/>
              </a:rPr>
              <a:t>{            </a:t>
            </a:r>
          </a:p>
          <a:p>
            <a:r>
              <a:rPr lang="en-IN" dirty="0" err="1">
                <a:latin typeface="Century" panose="02040604050505020304" pitchFamily="18" charset="0"/>
              </a:rPr>
              <a:t>printf</a:t>
            </a:r>
            <a:r>
              <a:rPr lang="en-IN" dirty="0">
                <a:latin typeface="Century" panose="02040604050505020304" pitchFamily="18" charset="0"/>
              </a:rPr>
              <a:t>("\n--- Student Found ---\n");            </a:t>
            </a:r>
          </a:p>
          <a:p>
            <a:r>
              <a:rPr lang="en-IN" dirty="0" err="1">
                <a:latin typeface="Century" panose="02040604050505020304" pitchFamily="18" charset="0"/>
              </a:rPr>
              <a:t>printf</a:t>
            </a:r>
            <a:r>
              <a:rPr lang="en-IN" dirty="0">
                <a:latin typeface="Century" panose="02040604050505020304" pitchFamily="18" charset="0"/>
              </a:rPr>
              <a:t>("Application No: %d\n", s[</a:t>
            </a:r>
            <a:r>
              <a:rPr lang="en-IN" dirty="0" err="1">
                <a:latin typeface="Century" panose="02040604050505020304" pitchFamily="18" charset="0"/>
              </a:rPr>
              <a:t>i</a:t>
            </a:r>
            <a:r>
              <a:rPr lang="en-IN" dirty="0">
                <a:latin typeface="Century" panose="02040604050505020304" pitchFamily="18" charset="0"/>
              </a:rPr>
              <a:t>].</a:t>
            </a:r>
            <a:r>
              <a:rPr lang="en-IN" dirty="0" err="1">
                <a:latin typeface="Century" panose="02040604050505020304" pitchFamily="18" charset="0"/>
              </a:rPr>
              <a:t>app_no</a:t>
            </a:r>
            <a:r>
              <a:rPr lang="en-IN" dirty="0">
                <a:latin typeface="Century" panose="02040604050505020304" pitchFamily="18" charset="0"/>
              </a:rPr>
              <a:t>);            </a:t>
            </a:r>
          </a:p>
          <a:p>
            <a:r>
              <a:rPr lang="en-IN" dirty="0" err="1">
                <a:latin typeface="Century" panose="02040604050505020304" pitchFamily="18" charset="0"/>
              </a:rPr>
              <a:t>printf</a:t>
            </a:r>
            <a:r>
              <a:rPr lang="en-IN" dirty="0">
                <a:latin typeface="Century" panose="02040604050505020304" pitchFamily="18" charset="0"/>
              </a:rPr>
              <a:t>("Name: %s\n", s[</a:t>
            </a:r>
            <a:r>
              <a:rPr lang="en-IN" dirty="0" err="1">
                <a:latin typeface="Century" panose="02040604050505020304" pitchFamily="18" charset="0"/>
              </a:rPr>
              <a:t>i</a:t>
            </a:r>
            <a:r>
              <a:rPr lang="en-IN" dirty="0">
                <a:latin typeface="Century" panose="02040604050505020304" pitchFamily="18" charset="0"/>
              </a:rPr>
              <a:t>].name);            </a:t>
            </a:r>
          </a:p>
          <a:p>
            <a:r>
              <a:rPr lang="en-IN" dirty="0" err="1">
                <a:latin typeface="Century" panose="02040604050505020304" pitchFamily="18" charset="0"/>
              </a:rPr>
              <a:t>printf</a:t>
            </a:r>
            <a:r>
              <a:rPr lang="en-IN" dirty="0">
                <a:latin typeface="Century" panose="02040604050505020304" pitchFamily="18" charset="0"/>
              </a:rPr>
              <a:t>("Department: %s\n", s[</a:t>
            </a:r>
            <a:r>
              <a:rPr lang="en-IN" dirty="0" err="1">
                <a:latin typeface="Century" panose="02040604050505020304" pitchFamily="18" charset="0"/>
              </a:rPr>
              <a:t>i</a:t>
            </a:r>
            <a:r>
              <a:rPr lang="en-IN" dirty="0">
                <a:latin typeface="Century" panose="02040604050505020304" pitchFamily="18" charset="0"/>
              </a:rPr>
              <a:t>].department);                 </a:t>
            </a:r>
          </a:p>
          <a:p>
            <a:r>
              <a:rPr lang="en-IN" dirty="0">
                <a:latin typeface="Century" panose="02040604050505020304" pitchFamily="18" charset="0"/>
              </a:rPr>
              <a:t>found = 1;            </a:t>
            </a:r>
          </a:p>
          <a:p>
            <a:r>
              <a:rPr lang="en-IN" dirty="0">
                <a:latin typeface="Century" panose="02040604050505020304" pitchFamily="18" charset="0"/>
              </a:rPr>
              <a:t>break;        }    </a:t>
            </a:r>
          </a:p>
          <a:p>
            <a:r>
              <a:rPr lang="en-IN" dirty="0">
                <a:latin typeface="Century" panose="02040604050505020304" pitchFamily="18" charset="0"/>
              </a:rPr>
              <a:t>}    </a:t>
            </a:r>
          </a:p>
          <a:p>
            <a:r>
              <a:rPr lang="en-IN" dirty="0">
                <a:latin typeface="Century" panose="02040604050505020304" pitchFamily="18" charset="0"/>
              </a:rPr>
              <a:t>if (!found)        </a:t>
            </a:r>
          </a:p>
          <a:p>
            <a:r>
              <a:rPr lang="en-IN" dirty="0" err="1">
                <a:latin typeface="Century" panose="02040604050505020304" pitchFamily="18" charset="0"/>
              </a:rPr>
              <a:t>printf</a:t>
            </a:r>
            <a:r>
              <a:rPr lang="en-IN" dirty="0">
                <a:latin typeface="Century" panose="02040604050505020304" pitchFamily="18" charset="0"/>
              </a:rPr>
              <a:t>("\</a:t>
            </a:r>
            <a:r>
              <a:rPr lang="en-IN" dirty="0" err="1">
                <a:latin typeface="Century" panose="02040604050505020304" pitchFamily="18" charset="0"/>
              </a:rPr>
              <a:t>nNo</a:t>
            </a:r>
            <a:r>
              <a:rPr lang="en-IN" dirty="0">
                <a:latin typeface="Century" panose="02040604050505020304" pitchFamily="18" charset="0"/>
              </a:rPr>
              <a:t> student found with that Application Number.\n");</a:t>
            </a:r>
          </a:p>
          <a:p>
            <a:r>
              <a:rPr lang="en-IN" dirty="0">
                <a:latin typeface="Century" panose="02040604050505020304" pitchFamily="18" charset="0"/>
              </a:rPr>
              <a:t>}</a:t>
            </a:r>
          </a:p>
        </p:txBody>
      </p:sp>
    </p:spTree>
    <p:extLst>
      <p:ext uri="{BB962C8B-B14F-4D97-AF65-F5344CB8AC3E}">
        <p14:creationId xmlns:p14="http://schemas.microsoft.com/office/powerpoint/2010/main" val="38148620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CF9A57-671C-2F94-F663-BFF73049A74F}"/>
              </a:ext>
            </a:extLst>
          </p:cNvPr>
          <p:cNvSpPr txBox="1"/>
          <p:nvPr/>
        </p:nvSpPr>
        <p:spPr>
          <a:xfrm>
            <a:off x="1739900" y="117693"/>
            <a:ext cx="9512300" cy="6740307"/>
          </a:xfrm>
          <a:prstGeom prst="rect">
            <a:avLst/>
          </a:prstGeom>
          <a:noFill/>
        </p:spPr>
        <p:txBody>
          <a:bodyPr wrap="square" rtlCol="0">
            <a:spAutoFit/>
          </a:bodyPr>
          <a:lstStyle/>
          <a:p>
            <a:r>
              <a:rPr lang="en-IN" dirty="0">
                <a:latin typeface="Arial Black" panose="020B0A04020102020204" pitchFamily="34" charset="0"/>
              </a:rPr>
              <a:t>/* -------------------- MODULE 9: MAIN </a:t>
            </a:r>
          </a:p>
          <a:p>
            <a:r>
              <a:rPr lang="en-IN" dirty="0">
                <a:latin typeface="Arial Black" panose="020B0A04020102020204" pitchFamily="34" charset="0"/>
              </a:rPr>
              <a:t>FUNCTION -------------------- */</a:t>
            </a:r>
          </a:p>
          <a:p>
            <a:endParaRPr lang="en-IN" dirty="0"/>
          </a:p>
          <a:p>
            <a:r>
              <a:rPr lang="en-IN" dirty="0">
                <a:latin typeface="Century" panose="02040604050505020304" pitchFamily="18" charset="0"/>
              </a:rPr>
              <a:t>int main() {    </a:t>
            </a:r>
          </a:p>
          <a:p>
            <a:r>
              <a:rPr lang="en-IN" dirty="0">
                <a:latin typeface="Century" panose="02040604050505020304" pitchFamily="18" charset="0"/>
              </a:rPr>
              <a:t>struct Student s[MAX];    </a:t>
            </a:r>
          </a:p>
          <a:p>
            <a:r>
              <a:rPr lang="en-IN" dirty="0">
                <a:latin typeface="Century" panose="02040604050505020304" pitchFamily="18" charset="0"/>
              </a:rPr>
              <a:t>int count = 0, choice;    </a:t>
            </a:r>
          </a:p>
          <a:p>
            <a:r>
              <a:rPr lang="en-IN" dirty="0">
                <a:latin typeface="Century" panose="02040604050505020304" pitchFamily="18" charset="0"/>
              </a:rPr>
              <a:t>do {        </a:t>
            </a:r>
          </a:p>
          <a:p>
            <a:r>
              <a:rPr lang="en-IN" dirty="0" err="1">
                <a:latin typeface="Century" panose="02040604050505020304" pitchFamily="18" charset="0"/>
              </a:rPr>
              <a:t>printf</a:t>
            </a:r>
            <a:r>
              <a:rPr lang="en-IN" dirty="0">
                <a:latin typeface="Century" panose="02040604050505020304" pitchFamily="18" charset="0"/>
              </a:rPr>
              <a:t>("\n--- College Admission System ---\n");        </a:t>
            </a:r>
          </a:p>
          <a:p>
            <a:r>
              <a:rPr lang="en-IN" dirty="0" err="1">
                <a:latin typeface="Century" panose="02040604050505020304" pitchFamily="18" charset="0"/>
              </a:rPr>
              <a:t>printf</a:t>
            </a:r>
            <a:r>
              <a:rPr lang="en-IN" dirty="0">
                <a:latin typeface="Century" panose="02040604050505020304" pitchFamily="18" charset="0"/>
              </a:rPr>
              <a:t>("1. Add Student\n");        </a:t>
            </a:r>
          </a:p>
          <a:p>
            <a:r>
              <a:rPr lang="en-IN" dirty="0" err="1">
                <a:latin typeface="Century" panose="02040604050505020304" pitchFamily="18" charset="0"/>
              </a:rPr>
              <a:t>printf</a:t>
            </a:r>
            <a:r>
              <a:rPr lang="en-IN" dirty="0">
                <a:latin typeface="Century" panose="02040604050505020304" pitchFamily="18" charset="0"/>
              </a:rPr>
              <a:t>("2. Display All Students\n");        </a:t>
            </a:r>
          </a:p>
          <a:p>
            <a:r>
              <a:rPr lang="en-IN" dirty="0" err="1">
                <a:latin typeface="Century" panose="02040604050505020304" pitchFamily="18" charset="0"/>
              </a:rPr>
              <a:t>printf</a:t>
            </a:r>
            <a:r>
              <a:rPr lang="en-IN" dirty="0">
                <a:latin typeface="Century" panose="02040604050505020304" pitchFamily="18" charset="0"/>
              </a:rPr>
              <a:t>("3. Search Student\n");        </a:t>
            </a:r>
          </a:p>
          <a:p>
            <a:r>
              <a:rPr lang="en-IN" dirty="0" err="1">
                <a:latin typeface="Century" panose="02040604050505020304" pitchFamily="18" charset="0"/>
              </a:rPr>
              <a:t>printf</a:t>
            </a:r>
            <a:r>
              <a:rPr lang="en-IN" dirty="0">
                <a:latin typeface="Century" panose="02040604050505020304" pitchFamily="18" charset="0"/>
              </a:rPr>
              <a:t>("4. Show Remaining Seats\n");        </a:t>
            </a:r>
          </a:p>
          <a:p>
            <a:r>
              <a:rPr lang="en-IN" dirty="0" err="1">
                <a:latin typeface="Century" panose="02040604050505020304" pitchFamily="18" charset="0"/>
              </a:rPr>
              <a:t>printf</a:t>
            </a:r>
            <a:r>
              <a:rPr lang="en-IN" dirty="0">
                <a:latin typeface="Century" panose="02040604050505020304" pitchFamily="18" charset="0"/>
              </a:rPr>
              <a:t>("5. Exit\n");        </a:t>
            </a:r>
          </a:p>
          <a:p>
            <a:r>
              <a:rPr lang="en-IN" dirty="0" err="1">
                <a:latin typeface="Century" panose="02040604050505020304" pitchFamily="18" charset="0"/>
              </a:rPr>
              <a:t>printf</a:t>
            </a:r>
            <a:r>
              <a:rPr lang="en-IN" dirty="0">
                <a:latin typeface="Century" panose="02040604050505020304" pitchFamily="18" charset="0"/>
              </a:rPr>
              <a:t>("Enter choice: ");        </a:t>
            </a:r>
          </a:p>
          <a:p>
            <a:r>
              <a:rPr lang="en-IN" dirty="0" err="1">
                <a:latin typeface="Century" panose="02040604050505020304" pitchFamily="18" charset="0"/>
              </a:rPr>
              <a:t>scanf</a:t>
            </a:r>
            <a:r>
              <a:rPr lang="en-IN" dirty="0">
                <a:latin typeface="Century" panose="02040604050505020304" pitchFamily="18" charset="0"/>
              </a:rPr>
              <a:t>("%d", &amp;choice);        </a:t>
            </a:r>
          </a:p>
          <a:p>
            <a:r>
              <a:rPr lang="en-IN" dirty="0">
                <a:latin typeface="Century" panose="02040604050505020304" pitchFamily="18" charset="0"/>
              </a:rPr>
              <a:t>switch (choice) {            </a:t>
            </a:r>
          </a:p>
          <a:p>
            <a:r>
              <a:rPr lang="en-IN" dirty="0">
                <a:latin typeface="Century" panose="02040604050505020304" pitchFamily="18" charset="0"/>
              </a:rPr>
              <a:t>case 1: add Student(s, &amp;count);    break;            </a:t>
            </a:r>
          </a:p>
          <a:p>
            <a:r>
              <a:rPr lang="en-IN" dirty="0">
                <a:latin typeface="Century" panose="02040604050505020304" pitchFamily="18" charset="0"/>
              </a:rPr>
              <a:t>case 2: display Students(s, count);   break;            </a:t>
            </a:r>
          </a:p>
          <a:p>
            <a:r>
              <a:rPr lang="en-IN" dirty="0">
                <a:latin typeface="Century" panose="02040604050505020304" pitchFamily="18" charset="0"/>
              </a:rPr>
              <a:t>case 3: search Student(s, count);    break;            </a:t>
            </a:r>
          </a:p>
          <a:p>
            <a:r>
              <a:rPr lang="en-IN" dirty="0">
                <a:latin typeface="Century" panose="02040604050505020304" pitchFamily="18" charset="0"/>
              </a:rPr>
              <a:t>case 4: show  Remaining Seats();    break;            </a:t>
            </a:r>
          </a:p>
          <a:p>
            <a:r>
              <a:rPr lang="en-IN" dirty="0">
                <a:latin typeface="Century" panose="02040604050505020304" pitchFamily="18" charset="0"/>
              </a:rPr>
              <a:t>case 5: </a:t>
            </a:r>
            <a:r>
              <a:rPr lang="en-IN" dirty="0" err="1">
                <a:latin typeface="Century" panose="02040604050505020304" pitchFamily="18" charset="0"/>
              </a:rPr>
              <a:t>printf</a:t>
            </a:r>
            <a:r>
              <a:rPr lang="en-IN" dirty="0">
                <a:latin typeface="Century" panose="02040604050505020304" pitchFamily="18" charset="0"/>
              </a:rPr>
              <a:t>("Exiting...\n");     break;            </a:t>
            </a:r>
          </a:p>
          <a:p>
            <a:r>
              <a:rPr lang="en-IN" dirty="0">
                <a:latin typeface="Century" panose="02040604050505020304" pitchFamily="18" charset="0"/>
              </a:rPr>
              <a:t>default: </a:t>
            </a:r>
            <a:r>
              <a:rPr lang="en-IN" dirty="0" err="1">
                <a:latin typeface="Century" panose="02040604050505020304" pitchFamily="18" charset="0"/>
              </a:rPr>
              <a:t>printf</a:t>
            </a:r>
            <a:r>
              <a:rPr lang="en-IN" dirty="0">
                <a:latin typeface="Century" panose="02040604050505020304" pitchFamily="18" charset="0"/>
              </a:rPr>
              <a:t>("Invalid choice!\n");        }    } </a:t>
            </a:r>
          </a:p>
          <a:p>
            <a:r>
              <a:rPr lang="en-IN" dirty="0">
                <a:latin typeface="Century" panose="02040604050505020304" pitchFamily="18" charset="0"/>
              </a:rPr>
              <a:t>while (choice != 5);    </a:t>
            </a:r>
          </a:p>
          <a:p>
            <a:r>
              <a:rPr lang="en-IN" dirty="0">
                <a:latin typeface="Century" panose="02040604050505020304" pitchFamily="18" charset="0"/>
              </a:rPr>
              <a:t>return 0;}</a:t>
            </a:r>
          </a:p>
        </p:txBody>
      </p:sp>
    </p:spTree>
    <p:extLst>
      <p:ext uri="{BB962C8B-B14F-4D97-AF65-F5344CB8AC3E}">
        <p14:creationId xmlns:p14="http://schemas.microsoft.com/office/powerpoint/2010/main" val="22520669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1E8BB1A-A009-ECE0-31F1-90AC554F0FBF}"/>
              </a:ext>
            </a:extLst>
          </p:cNvPr>
          <p:cNvSpPr txBox="1"/>
          <p:nvPr/>
        </p:nvSpPr>
        <p:spPr>
          <a:xfrm>
            <a:off x="1834243" y="925285"/>
            <a:ext cx="8523514" cy="5632311"/>
          </a:xfrm>
          <a:prstGeom prst="rect">
            <a:avLst/>
          </a:prstGeom>
          <a:noFill/>
        </p:spPr>
        <p:txBody>
          <a:bodyPr wrap="square" rtlCol="0">
            <a:spAutoFit/>
          </a:bodyPr>
          <a:lstStyle/>
          <a:p>
            <a:r>
              <a:rPr lang="en-IN" dirty="0">
                <a:latin typeface="Century" panose="02040604050505020304" pitchFamily="18" charset="0"/>
              </a:rPr>
              <a:t>#include &lt;</a:t>
            </a:r>
            <a:r>
              <a:rPr lang="en-IN" dirty="0" err="1">
                <a:latin typeface="Century" panose="02040604050505020304" pitchFamily="18" charset="0"/>
              </a:rPr>
              <a:t>stdio.h</a:t>
            </a:r>
            <a:r>
              <a:rPr lang="en-IN" dirty="0">
                <a:latin typeface="Century" panose="02040604050505020304" pitchFamily="18" charset="0"/>
              </a:rPr>
              <a:t>&gt;</a:t>
            </a:r>
          </a:p>
          <a:p>
            <a:r>
              <a:rPr lang="en-IN" dirty="0">
                <a:latin typeface="Century" panose="02040604050505020304" pitchFamily="18" charset="0"/>
              </a:rPr>
              <a:t>#include &lt;</a:t>
            </a:r>
            <a:r>
              <a:rPr lang="en-IN" dirty="0" err="1">
                <a:latin typeface="Century" panose="02040604050505020304" pitchFamily="18" charset="0"/>
              </a:rPr>
              <a:t>string.h</a:t>
            </a:r>
            <a:r>
              <a:rPr lang="en-IN" dirty="0">
                <a:latin typeface="Century" panose="02040604050505020304" pitchFamily="18" charset="0"/>
              </a:rPr>
              <a:t>&gt;</a:t>
            </a:r>
          </a:p>
          <a:p>
            <a:endParaRPr lang="en-IN" dirty="0">
              <a:latin typeface="Century" panose="02040604050505020304" pitchFamily="18" charset="0"/>
            </a:endParaRPr>
          </a:p>
          <a:p>
            <a:r>
              <a:rPr lang="en-IN" dirty="0">
                <a:latin typeface="Century" panose="02040604050505020304" pitchFamily="18" charset="0"/>
              </a:rPr>
              <a:t>#define MAX 150</a:t>
            </a:r>
          </a:p>
          <a:p>
            <a:endParaRPr lang="en-IN" dirty="0">
              <a:latin typeface="Century" panose="02040604050505020304" pitchFamily="18" charset="0"/>
            </a:endParaRPr>
          </a:p>
          <a:p>
            <a:r>
              <a:rPr lang="en-IN" dirty="0">
                <a:latin typeface="Century" panose="02040604050505020304" pitchFamily="18" charset="0"/>
              </a:rPr>
              <a:t>struct Student {    </a:t>
            </a:r>
          </a:p>
          <a:p>
            <a:r>
              <a:rPr lang="en-IN" dirty="0">
                <a:latin typeface="Century" panose="02040604050505020304" pitchFamily="18" charset="0"/>
              </a:rPr>
              <a:t>    int </a:t>
            </a:r>
            <a:r>
              <a:rPr lang="en-IN" dirty="0" err="1">
                <a:latin typeface="Century" panose="02040604050505020304" pitchFamily="18" charset="0"/>
              </a:rPr>
              <a:t>app_no</a:t>
            </a:r>
            <a:r>
              <a:rPr lang="en-IN" dirty="0">
                <a:latin typeface="Century" panose="02040604050505020304" pitchFamily="18" charset="0"/>
              </a:rPr>
              <a:t>;</a:t>
            </a:r>
          </a:p>
          <a:p>
            <a:r>
              <a:rPr lang="en-IN" dirty="0">
                <a:latin typeface="Century" panose="02040604050505020304" pitchFamily="18" charset="0"/>
              </a:rPr>
              <a:t>    char name[50];</a:t>
            </a:r>
          </a:p>
          <a:p>
            <a:r>
              <a:rPr lang="en-IN" dirty="0">
                <a:latin typeface="Century" panose="02040604050505020304" pitchFamily="18" charset="0"/>
              </a:rPr>
              <a:t>    char department[30];</a:t>
            </a:r>
          </a:p>
          <a:p>
            <a:r>
              <a:rPr lang="en-IN" dirty="0">
                <a:latin typeface="Century" panose="02040604050505020304" pitchFamily="18" charset="0"/>
              </a:rPr>
              <a:t>};</a:t>
            </a:r>
          </a:p>
          <a:p>
            <a:r>
              <a:rPr lang="en-IN" dirty="0">
                <a:latin typeface="Century" panose="02040604050505020304" pitchFamily="18" charset="0"/>
              </a:rPr>
              <a:t>// Seat limits (changed from 2 to 50)</a:t>
            </a:r>
          </a:p>
          <a:p>
            <a:r>
              <a:rPr lang="en-IN" dirty="0">
                <a:latin typeface="Century" panose="02040604050505020304" pitchFamily="18" charset="0"/>
              </a:rPr>
              <a:t>int </a:t>
            </a:r>
            <a:r>
              <a:rPr lang="en-IN" dirty="0" err="1">
                <a:latin typeface="Century" panose="02040604050505020304" pitchFamily="18" charset="0"/>
              </a:rPr>
              <a:t>seatCSE</a:t>
            </a:r>
            <a:r>
              <a:rPr lang="en-IN" dirty="0">
                <a:latin typeface="Century" panose="02040604050505020304" pitchFamily="18" charset="0"/>
              </a:rPr>
              <a:t>  = 150;</a:t>
            </a:r>
          </a:p>
          <a:p>
            <a:r>
              <a:rPr lang="en-IN" dirty="0">
                <a:latin typeface="Century" panose="02040604050505020304" pitchFamily="18" charset="0"/>
              </a:rPr>
              <a:t>int </a:t>
            </a:r>
            <a:r>
              <a:rPr lang="en-IN" dirty="0" err="1">
                <a:latin typeface="Century" panose="02040604050505020304" pitchFamily="18" charset="0"/>
              </a:rPr>
              <a:t>seatECE</a:t>
            </a:r>
            <a:r>
              <a:rPr lang="en-IN" dirty="0">
                <a:latin typeface="Century" panose="02040604050505020304" pitchFamily="18" charset="0"/>
              </a:rPr>
              <a:t>  = 100;</a:t>
            </a:r>
          </a:p>
          <a:p>
            <a:r>
              <a:rPr lang="en-IN" dirty="0">
                <a:latin typeface="Century" panose="02040604050505020304" pitchFamily="18" charset="0"/>
              </a:rPr>
              <a:t>int </a:t>
            </a:r>
            <a:r>
              <a:rPr lang="en-IN" dirty="0" err="1">
                <a:latin typeface="Century" panose="02040604050505020304" pitchFamily="18" charset="0"/>
              </a:rPr>
              <a:t>seatMECH</a:t>
            </a:r>
            <a:r>
              <a:rPr lang="en-IN" dirty="0">
                <a:latin typeface="Century" panose="02040604050505020304" pitchFamily="18" charset="0"/>
              </a:rPr>
              <a:t> = 80;</a:t>
            </a:r>
          </a:p>
          <a:p>
            <a:r>
              <a:rPr lang="en-IN" dirty="0">
                <a:latin typeface="Century" panose="02040604050505020304" pitchFamily="18" charset="0"/>
              </a:rPr>
              <a:t>int </a:t>
            </a:r>
            <a:r>
              <a:rPr lang="en-IN" dirty="0" err="1">
                <a:latin typeface="Century" panose="02040604050505020304" pitchFamily="18" charset="0"/>
              </a:rPr>
              <a:t>seatCE</a:t>
            </a:r>
            <a:r>
              <a:rPr lang="en-IN" dirty="0">
                <a:latin typeface="Century" panose="02040604050505020304" pitchFamily="18" charset="0"/>
              </a:rPr>
              <a:t>   = 80;    // New course: CE</a:t>
            </a:r>
          </a:p>
          <a:p>
            <a:endParaRPr lang="en-IN" dirty="0">
              <a:latin typeface="Century" panose="02040604050505020304" pitchFamily="18" charset="0"/>
            </a:endParaRPr>
          </a:p>
          <a:p>
            <a:r>
              <a:rPr lang="en-IN" dirty="0">
                <a:latin typeface="Century" panose="02040604050505020304" pitchFamily="18" charset="0"/>
              </a:rPr>
              <a:t>void </a:t>
            </a:r>
            <a:r>
              <a:rPr lang="en-IN" dirty="0" err="1">
                <a:latin typeface="Century" panose="02040604050505020304" pitchFamily="18" charset="0"/>
              </a:rPr>
              <a:t>showRemainingSeats</a:t>
            </a:r>
            <a:r>
              <a:rPr lang="en-IN" dirty="0">
                <a:latin typeface="Century" panose="02040604050505020304" pitchFamily="18" charset="0"/>
              </a:rPr>
              <a:t>() {</a:t>
            </a:r>
          </a:p>
          <a:p>
            <a:r>
              <a:rPr lang="en-IN" dirty="0" err="1">
                <a:latin typeface="Century" panose="02040604050505020304" pitchFamily="18" charset="0"/>
              </a:rPr>
              <a:t>Printf</a:t>
            </a:r>
            <a:r>
              <a:rPr lang="en-IN" dirty="0">
                <a:latin typeface="Century" panose="02040604050505020304" pitchFamily="18" charset="0"/>
              </a:rPr>
              <a:t>(“\n—seat Availability--\/”);</a:t>
            </a:r>
          </a:p>
          <a:p>
            <a:r>
              <a:rPr lang="en-IN" dirty="0" err="1">
                <a:latin typeface="Century" panose="02040604050505020304" pitchFamily="18" charset="0"/>
              </a:rPr>
              <a:t>Printf</a:t>
            </a:r>
            <a:r>
              <a:rPr lang="en-IN" dirty="0">
                <a:latin typeface="Century" panose="02040604050505020304" pitchFamily="18" charset="0"/>
              </a:rPr>
              <a:t>(“CSE seat Left : %d\n”, </a:t>
            </a:r>
            <a:r>
              <a:rPr lang="en-IN" dirty="0" err="1">
                <a:latin typeface="Century" panose="02040604050505020304" pitchFamily="18" charset="0"/>
              </a:rPr>
              <a:t>seatCSE</a:t>
            </a:r>
            <a:r>
              <a:rPr lang="en-IN" dirty="0">
                <a:latin typeface="Century" panose="02040604050505020304" pitchFamily="18" charset="0"/>
              </a:rPr>
              <a:t>);</a:t>
            </a:r>
          </a:p>
          <a:p>
            <a:r>
              <a:rPr lang="en-US" dirty="0" err="1">
                <a:latin typeface="Century" panose="02040604050505020304" pitchFamily="18" charset="0"/>
              </a:rPr>
              <a:t>printf</a:t>
            </a:r>
            <a:r>
              <a:rPr lang="en-US" dirty="0">
                <a:latin typeface="Century" panose="02040604050505020304" pitchFamily="18" charset="0"/>
              </a:rPr>
              <a:t>("ECE Seats Left   : %d\n", </a:t>
            </a:r>
            <a:r>
              <a:rPr lang="en-US" dirty="0" err="1">
                <a:latin typeface="Century" panose="02040604050505020304" pitchFamily="18" charset="0"/>
              </a:rPr>
              <a:t>seatECE</a:t>
            </a:r>
            <a:r>
              <a:rPr lang="en-US" dirty="0">
                <a:latin typeface="Century" panose="02040604050505020304" pitchFamily="18" charset="0"/>
              </a:rPr>
              <a:t>);</a:t>
            </a:r>
            <a:endParaRPr lang="en-IN" dirty="0">
              <a:latin typeface="Century" panose="02040604050505020304" pitchFamily="18" charset="0"/>
            </a:endParaRPr>
          </a:p>
        </p:txBody>
      </p:sp>
      <p:sp>
        <p:nvSpPr>
          <p:cNvPr id="4" name="TextBox 3">
            <a:extLst>
              <a:ext uri="{FF2B5EF4-FFF2-40B4-BE49-F238E27FC236}">
                <a16:creationId xmlns:a16="http://schemas.microsoft.com/office/drawing/2014/main" id="{56FDA38E-3B0B-E55E-2914-6688CEEE6CD1}"/>
              </a:ext>
            </a:extLst>
          </p:cNvPr>
          <p:cNvSpPr txBox="1"/>
          <p:nvPr/>
        </p:nvSpPr>
        <p:spPr>
          <a:xfrm>
            <a:off x="1186543" y="195943"/>
            <a:ext cx="9622971" cy="646331"/>
          </a:xfrm>
          <a:prstGeom prst="rect">
            <a:avLst/>
          </a:prstGeom>
          <a:noFill/>
        </p:spPr>
        <p:txBody>
          <a:bodyPr wrap="square" rtlCol="0">
            <a:spAutoFit/>
          </a:bodyPr>
          <a:lstStyle/>
          <a:p>
            <a:r>
              <a:rPr lang="en-IN" sz="3600" dirty="0">
                <a:latin typeface="Algerian" panose="04020705040A02060702" pitchFamily="82" charset="0"/>
              </a:rPr>
              <a:t>MODULES INTEGERTION :</a:t>
            </a:r>
          </a:p>
        </p:txBody>
      </p:sp>
    </p:spTree>
    <p:extLst>
      <p:ext uri="{BB962C8B-B14F-4D97-AF65-F5344CB8AC3E}">
        <p14:creationId xmlns:p14="http://schemas.microsoft.com/office/powerpoint/2010/main" val="21565435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623012C-4030-6FF8-0956-DF670AFC4960}"/>
              </a:ext>
            </a:extLst>
          </p:cNvPr>
          <p:cNvSpPr txBox="1"/>
          <p:nvPr/>
        </p:nvSpPr>
        <p:spPr>
          <a:xfrm>
            <a:off x="1839686" y="130628"/>
            <a:ext cx="9677400" cy="7017306"/>
          </a:xfrm>
          <a:prstGeom prst="rect">
            <a:avLst/>
          </a:prstGeom>
          <a:noFill/>
        </p:spPr>
        <p:txBody>
          <a:bodyPr wrap="square" rtlCol="0">
            <a:spAutoFit/>
          </a:bodyPr>
          <a:lstStyle/>
          <a:p>
            <a:r>
              <a:rPr lang="en-IN" dirty="0" err="1">
                <a:latin typeface="Century" panose="02040604050505020304" pitchFamily="18" charset="0"/>
              </a:rPr>
              <a:t>printf</a:t>
            </a:r>
            <a:r>
              <a:rPr lang="en-IN" dirty="0">
                <a:latin typeface="Century" panose="02040604050505020304" pitchFamily="18" charset="0"/>
              </a:rPr>
              <a:t>("MECH Seats Left  : %d\n", </a:t>
            </a:r>
            <a:r>
              <a:rPr lang="en-IN" dirty="0" err="1">
                <a:latin typeface="Century" panose="02040604050505020304" pitchFamily="18" charset="0"/>
              </a:rPr>
              <a:t>seatMECH</a:t>
            </a:r>
            <a:r>
              <a:rPr lang="en-IN" dirty="0">
                <a:latin typeface="Century" panose="02040604050505020304" pitchFamily="18" charset="0"/>
              </a:rPr>
              <a:t>);    </a:t>
            </a:r>
          </a:p>
          <a:p>
            <a:r>
              <a:rPr lang="en-IN" dirty="0" err="1">
                <a:latin typeface="Century" panose="02040604050505020304" pitchFamily="18" charset="0"/>
              </a:rPr>
              <a:t>printf</a:t>
            </a:r>
            <a:r>
              <a:rPr lang="en-IN" dirty="0">
                <a:latin typeface="Century" panose="02040604050505020304" pitchFamily="18" charset="0"/>
              </a:rPr>
              <a:t>("CE Seats Left    : %d\n", </a:t>
            </a:r>
            <a:r>
              <a:rPr lang="en-IN" dirty="0" err="1">
                <a:latin typeface="Century" panose="02040604050505020304" pitchFamily="18" charset="0"/>
              </a:rPr>
              <a:t>seatCE</a:t>
            </a:r>
            <a:r>
              <a:rPr lang="en-IN" dirty="0">
                <a:latin typeface="Century" panose="02040604050505020304" pitchFamily="18" charset="0"/>
              </a:rPr>
              <a:t>);</a:t>
            </a:r>
          </a:p>
          <a:p>
            <a:r>
              <a:rPr lang="en-IN" dirty="0">
                <a:latin typeface="Century" panose="02040604050505020304" pitchFamily="18" charset="0"/>
              </a:rPr>
              <a:t>}</a:t>
            </a:r>
          </a:p>
          <a:p>
            <a:r>
              <a:rPr lang="en-IN" dirty="0">
                <a:latin typeface="Century" panose="02040604050505020304" pitchFamily="18" charset="0"/>
              </a:rPr>
              <a:t>int </a:t>
            </a:r>
            <a:r>
              <a:rPr lang="en-IN" dirty="0" err="1">
                <a:latin typeface="Century" panose="02040604050505020304" pitchFamily="18" charset="0"/>
              </a:rPr>
              <a:t>checkSeat</a:t>
            </a:r>
            <a:r>
              <a:rPr lang="en-IN" dirty="0">
                <a:latin typeface="Century" panose="02040604050505020304" pitchFamily="18" charset="0"/>
              </a:rPr>
              <a:t>(char dept[]) </a:t>
            </a:r>
          </a:p>
          <a:p>
            <a:r>
              <a:rPr lang="en-IN" dirty="0">
                <a:latin typeface="Century" panose="02040604050505020304" pitchFamily="18" charset="0"/>
              </a:rPr>
              <a:t>{    </a:t>
            </a:r>
          </a:p>
          <a:p>
            <a:r>
              <a:rPr lang="en-IN" dirty="0">
                <a:latin typeface="Century" panose="02040604050505020304" pitchFamily="18" charset="0"/>
              </a:rPr>
              <a:t>if (</a:t>
            </a:r>
            <a:r>
              <a:rPr lang="en-IN" dirty="0" err="1">
                <a:latin typeface="Century" panose="02040604050505020304" pitchFamily="18" charset="0"/>
              </a:rPr>
              <a:t>strcmp</a:t>
            </a:r>
            <a:r>
              <a:rPr lang="en-IN" dirty="0">
                <a:latin typeface="Century" panose="02040604050505020304" pitchFamily="18" charset="0"/>
              </a:rPr>
              <a:t>(dept, "CSE") == 0 &amp;&amp; </a:t>
            </a:r>
            <a:r>
              <a:rPr lang="en-IN" dirty="0" err="1">
                <a:latin typeface="Century" panose="02040604050505020304" pitchFamily="18" charset="0"/>
              </a:rPr>
              <a:t>seatCSE</a:t>
            </a:r>
            <a:r>
              <a:rPr lang="en-IN" dirty="0">
                <a:latin typeface="Century" panose="02040604050505020304" pitchFamily="18" charset="0"/>
              </a:rPr>
              <a:t> &gt; 0)        </a:t>
            </a:r>
          </a:p>
          <a:p>
            <a:r>
              <a:rPr lang="en-IN" dirty="0">
                <a:latin typeface="Century" panose="02040604050505020304" pitchFamily="18" charset="0"/>
              </a:rPr>
              <a:t>return 1;    </a:t>
            </a:r>
          </a:p>
          <a:p>
            <a:r>
              <a:rPr lang="en-IN" dirty="0">
                <a:latin typeface="Century" panose="02040604050505020304" pitchFamily="18" charset="0"/>
              </a:rPr>
              <a:t>else if (</a:t>
            </a:r>
            <a:r>
              <a:rPr lang="en-IN" dirty="0" err="1">
                <a:latin typeface="Century" panose="02040604050505020304" pitchFamily="18" charset="0"/>
              </a:rPr>
              <a:t>strcmp</a:t>
            </a:r>
            <a:r>
              <a:rPr lang="en-IN" dirty="0">
                <a:latin typeface="Century" panose="02040604050505020304" pitchFamily="18" charset="0"/>
              </a:rPr>
              <a:t>(dept, "ECE") == 0 &amp;&amp; </a:t>
            </a:r>
            <a:r>
              <a:rPr lang="en-IN" dirty="0" err="1">
                <a:latin typeface="Century" panose="02040604050505020304" pitchFamily="18" charset="0"/>
              </a:rPr>
              <a:t>seatECE</a:t>
            </a:r>
            <a:r>
              <a:rPr lang="en-IN" dirty="0">
                <a:latin typeface="Century" panose="02040604050505020304" pitchFamily="18" charset="0"/>
              </a:rPr>
              <a:t> &gt; 0)        </a:t>
            </a:r>
          </a:p>
          <a:p>
            <a:r>
              <a:rPr lang="en-IN" dirty="0">
                <a:latin typeface="Century" panose="02040604050505020304" pitchFamily="18" charset="0"/>
              </a:rPr>
              <a:t>return 1;    </a:t>
            </a:r>
          </a:p>
          <a:p>
            <a:r>
              <a:rPr lang="en-IN" dirty="0">
                <a:latin typeface="Century" panose="02040604050505020304" pitchFamily="18" charset="0"/>
              </a:rPr>
              <a:t>else if (</a:t>
            </a:r>
            <a:r>
              <a:rPr lang="en-IN" dirty="0" err="1">
                <a:latin typeface="Century" panose="02040604050505020304" pitchFamily="18" charset="0"/>
              </a:rPr>
              <a:t>strcmp</a:t>
            </a:r>
            <a:r>
              <a:rPr lang="en-IN" dirty="0">
                <a:latin typeface="Century" panose="02040604050505020304" pitchFamily="18" charset="0"/>
              </a:rPr>
              <a:t>(dept, "MECH") == 0 &amp;&amp; </a:t>
            </a:r>
            <a:r>
              <a:rPr lang="en-IN" dirty="0" err="1">
                <a:latin typeface="Century" panose="02040604050505020304" pitchFamily="18" charset="0"/>
              </a:rPr>
              <a:t>seatMECH</a:t>
            </a:r>
            <a:r>
              <a:rPr lang="en-IN" dirty="0">
                <a:latin typeface="Century" panose="02040604050505020304" pitchFamily="18" charset="0"/>
              </a:rPr>
              <a:t> &gt; 0)        </a:t>
            </a:r>
          </a:p>
          <a:p>
            <a:r>
              <a:rPr lang="en-IN" dirty="0">
                <a:latin typeface="Century" panose="02040604050505020304" pitchFamily="18" charset="0"/>
              </a:rPr>
              <a:t>return 1;    </a:t>
            </a:r>
          </a:p>
          <a:p>
            <a:r>
              <a:rPr lang="en-IN" dirty="0">
                <a:latin typeface="Century" panose="02040604050505020304" pitchFamily="18" charset="0"/>
              </a:rPr>
              <a:t>else if (</a:t>
            </a:r>
            <a:r>
              <a:rPr lang="en-IN" dirty="0" err="1">
                <a:latin typeface="Century" panose="02040604050505020304" pitchFamily="18" charset="0"/>
              </a:rPr>
              <a:t>strcmp</a:t>
            </a:r>
            <a:r>
              <a:rPr lang="en-IN" dirty="0">
                <a:latin typeface="Century" panose="02040604050505020304" pitchFamily="18" charset="0"/>
              </a:rPr>
              <a:t>(dept, "CE") == 0 &amp;&amp; </a:t>
            </a:r>
            <a:r>
              <a:rPr lang="en-IN" dirty="0" err="1">
                <a:latin typeface="Century" panose="02040604050505020304" pitchFamily="18" charset="0"/>
              </a:rPr>
              <a:t>seatCE</a:t>
            </a:r>
            <a:r>
              <a:rPr lang="en-IN" dirty="0">
                <a:latin typeface="Century" panose="02040604050505020304" pitchFamily="18" charset="0"/>
              </a:rPr>
              <a:t> &gt; 0)</a:t>
            </a:r>
          </a:p>
          <a:p>
            <a:r>
              <a:rPr lang="en-IN" dirty="0">
                <a:latin typeface="Century" panose="02040604050505020304" pitchFamily="18" charset="0"/>
              </a:rPr>
              <a:t> return 1;    </a:t>
            </a:r>
          </a:p>
          <a:p>
            <a:r>
              <a:rPr lang="en-IN" dirty="0">
                <a:latin typeface="Century" panose="02040604050505020304" pitchFamily="18" charset="0"/>
              </a:rPr>
              <a:t>else       </a:t>
            </a:r>
          </a:p>
          <a:p>
            <a:r>
              <a:rPr lang="en-IN" dirty="0">
                <a:latin typeface="Century" panose="02040604050505020304" pitchFamily="18" charset="0"/>
              </a:rPr>
              <a:t>return 0;</a:t>
            </a:r>
          </a:p>
          <a:p>
            <a:r>
              <a:rPr lang="en-IN" dirty="0">
                <a:latin typeface="Century" panose="02040604050505020304" pitchFamily="18" charset="0"/>
              </a:rPr>
              <a:t>}</a:t>
            </a:r>
          </a:p>
          <a:p>
            <a:r>
              <a:rPr lang="en-IN" dirty="0">
                <a:latin typeface="Century" panose="02040604050505020304" pitchFamily="18" charset="0"/>
              </a:rPr>
              <a:t>void </a:t>
            </a:r>
            <a:r>
              <a:rPr lang="en-IN" dirty="0" err="1">
                <a:latin typeface="Century" panose="02040604050505020304" pitchFamily="18" charset="0"/>
              </a:rPr>
              <a:t>reduceSeat</a:t>
            </a:r>
            <a:r>
              <a:rPr lang="en-IN" dirty="0">
                <a:latin typeface="Century" panose="02040604050505020304" pitchFamily="18" charset="0"/>
              </a:rPr>
              <a:t>(char dept[]) </a:t>
            </a:r>
          </a:p>
          <a:p>
            <a:r>
              <a:rPr lang="en-IN" dirty="0">
                <a:latin typeface="Century" panose="02040604050505020304" pitchFamily="18" charset="0"/>
              </a:rPr>
              <a:t>{    </a:t>
            </a:r>
          </a:p>
          <a:p>
            <a:r>
              <a:rPr lang="en-IN" dirty="0">
                <a:latin typeface="Century" panose="02040604050505020304" pitchFamily="18" charset="0"/>
              </a:rPr>
              <a:t>if (</a:t>
            </a:r>
            <a:r>
              <a:rPr lang="en-IN" dirty="0" err="1">
                <a:latin typeface="Century" panose="02040604050505020304" pitchFamily="18" charset="0"/>
              </a:rPr>
              <a:t>strcmp</a:t>
            </a:r>
            <a:r>
              <a:rPr lang="en-IN" dirty="0">
                <a:latin typeface="Century" panose="02040604050505020304" pitchFamily="18" charset="0"/>
              </a:rPr>
              <a:t>(dept, "CSE") == 0)        </a:t>
            </a:r>
          </a:p>
          <a:p>
            <a:r>
              <a:rPr lang="en-IN" dirty="0" err="1">
                <a:latin typeface="Century" panose="02040604050505020304" pitchFamily="18" charset="0"/>
              </a:rPr>
              <a:t>seatCSE</a:t>
            </a:r>
            <a:r>
              <a:rPr lang="en-IN" dirty="0">
                <a:latin typeface="Century" panose="02040604050505020304" pitchFamily="18" charset="0"/>
              </a:rPr>
              <a:t>--;    </a:t>
            </a:r>
          </a:p>
          <a:p>
            <a:r>
              <a:rPr lang="en-IN" dirty="0">
                <a:latin typeface="Century" panose="02040604050505020304" pitchFamily="18" charset="0"/>
              </a:rPr>
              <a:t>else if (</a:t>
            </a:r>
            <a:r>
              <a:rPr lang="en-IN" dirty="0" err="1">
                <a:latin typeface="Century" panose="02040604050505020304" pitchFamily="18" charset="0"/>
              </a:rPr>
              <a:t>strcmp</a:t>
            </a:r>
            <a:r>
              <a:rPr lang="en-IN" dirty="0">
                <a:latin typeface="Century" panose="02040604050505020304" pitchFamily="18" charset="0"/>
              </a:rPr>
              <a:t>(dept, "ECE") == 0)        </a:t>
            </a:r>
          </a:p>
          <a:p>
            <a:r>
              <a:rPr lang="en-IN" dirty="0" err="1">
                <a:latin typeface="Century" panose="02040604050505020304" pitchFamily="18" charset="0"/>
              </a:rPr>
              <a:t>seatECE</a:t>
            </a:r>
            <a:r>
              <a:rPr lang="en-IN" dirty="0">
                <a:latin typeface="Century" panose="02040604050505020304" pitchFamily="18" charset="0"/>
              </a:rPr>
              <a:t>--;    </a:t>
            </a:r>
          </a:p>
          <a:p>
            <a:r>
              <a:rPr lang="en-IN" dirty="0">
                <a:latin typeface="Century" panose="02040604050505020304" pitchFamily="18" charset="0"/>
              </a:rPr>
              <a:t>else if (</a:t>
            </a:r>
            <a:r>
              <a:rPr lang="en-IN" dirty="0" err="1">
                <a:latin typeface="Century" panose="02040604050505020304" pitchFamily="18" charset="0"/>
              </a:rPr>
              <a:t>strcmp</a:t>
            </a:r>
            <a:r>
              <a:rPr lang="en-IN" dirty="0">
                <a:latin typeface="Century" panose="02040604050505020304" pitchFamily="18" charset="0"/>
              </a:rPr>
              <a:t>(dept, "MECH") == 0)   </a:t>
            </a:r>
          </a:p>
          <a:p>
            <a:r>
              <a:rPr lang="en-IN" dirty="0" err="1">
                <a:latin typeface="Century" panose="02040604050505020304" pitchFamily="18" charset="0"/>
              </a:rPr>
              <a:t>seatMECH</a:t>
            </a:r>
            <a:r>
              <a:rPr lang="en-IN" dirty="0">
                <a:latin typeface="Century" panose="02040604050505020304" pitchFamily="18" charset="0"/>
              </a:rPr>
              <a:t>--;</a:t>
            </a:r>
          </a:p>
          <a:p>
            <a:r>
              <a:rPr lang="en-IN" dirty="0"/>
              <a:t> </a:t>
            </a:r>
          </a:p>
        </p:txBody>
      </p:sp>
    </p:spTree>
    <p:extLst>
      <p:ext uri="{BB962C8B-B14F-4D97-AF65-F5344CB8AC3E}">
        <p14:creationId xmlns:p14="http://schemas.microsoft.com/office/powerpoint/2010/main" val="18220651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C87A671-E1D3-A6CE-BC78-E6C180BCC81B}"/>
              </a:ext>
            </a:extLst>
          </p:cNvPr>
          <p:cNvSpPr txBox="1"/>
          <p:nvPr/>
        </p:nvSpPr>
        <p:spPr>
          <a:xfrm>
            <a:off x="1861457" y="318492"/>
            <a:ext cx="9742715" cy="6463308"/>
          </a:xfrm>
          <a:prstGeom prst="rect">
            <a:avLst/>
          </a:prstGeom>
          <a:noFill/>
        </p:spPr>
        <p:txBody>
          <a:bodyPr wrap="square" rtlCol="0">
            <a:spAutoFit/>
          </a:bodyPr>
          <a:lstStyle/>
          <a:p>
            <a:r>
              <a:rPr lang="en-US" dirty="0">
                <a:latin typeface="Century" panose="02040604050505020304" pitchFamily="18" charset="0"/>
              </a:rPr>
              <a:t>else if (</a:t>
            </a:r>
            <a:r>
              <a:rPr lang="en-US" dirty="0" err="1">
                <a:latin typeface="Century" panose="02040604050505020304" pitchFamily="18" charset="0"/>
              </a:rPr>
              <a:t>strcmp</a:t>
            </a:r>
            <a:r>
              <a:rPr lang="en-US" dirty="0">
                <a:latin typeface="Century" panose="02040604050505020304" pitchFamily="18" charset="0"/>
              </a:rPr>
              <a:t>(dept, "CE") == 0)        </a:t>
            </a:r>
          </a:p>
          <a:p>
            <a:r>
              <a:rPr lang="en-US" dirty="0" err="1">
                <a:latin typeface="Century" panose="02040604050505020304" pitchFamily="18" charset="0"/>
              </a:rPr>
              <a:t>seatCE</a:t>
            </a:r>
            <a:r>
              <a:rPr lang="en-US" dirty="0">
                <a:latin typeface="Century" panose="02040604050505020304" pitchFamily="18" charset="0"/>
              </a:rPr>
              <a:t>--;</a:t>
            </a:r>
          </a:p>
          <a:p>
            <a:r>
              <a:rPr lang="en-US" dirty="0">
                <a:latin typeface="Century" panose="02040604050505020304" pitchFamily="18" charset="0"/>
              </a:rPr>
              <a:t>}</a:t>
            </a:r>
          </a:p>
          <a:p>
            <a:r>
              <a:rPr lang="en-US" dirty="0">
                <a:latin typeface="Century" panose="02040604050505020304" pitchFamily="18" charset="0"/>
              </a:rPr>
              <a:t>void </a:t>
            </a:r>
            <a:r>
              <a:rPr lang="en-US" dirty="0" err="1">
                <a:latin typeface="Century" panose="02040604050505020304" pitchFamily="18" charset="0"/>
              </a:rPr>
              <a:t>addStudent</a:t>
            </a:r>
            <a:r>
              <a:rPr lang="en-US" dirty="0">
                <a:latin typeface="Century" panose="02040604050505020304" pitchFamily="18" charset="0"/>
              </a:rPr>
              <a:t>(struct Student s[], int *count) </a:t>
            </a:r>
          </a:p>
          <a:p>
            <a:r>
              <a:rPr lang="en-US" dirty="0">
                <a:latin typeface="Century" panose="02040604050505020304" pitchFamily="18" charset="0"/>
              </a:rPr>
              <a:t>{    </a:t>
            </a:r>
          </a:p>
          <a:p>
            <a:r>
              <a:rPr lang="en-US" dirty="0">
                <a:latin typeface="Century" panose="02040604050505020304" pitchFamily="18" charset="0"/>
              </a:rPr>
              <a:t>if (*count &gt;= MAX) </a:t>
            </a:r>
          </a:p>
          <a:p>
            <a:r>
              <a:rPr lang="en-US" dirty="0">
                <a:latin typeface="Century" panose="02040604050505020304" pitchFamily="18" charset="0"/>
              </a:rPr>
              <a:t>{        </a:t>
            </a:r>
          </a:p>
          <a:p>
            <a:r>
              <a:rPr lang="en-US" dirty="0" err="1">
                <a:latin typeface="Century" panose="02040604050505020304" pitchFamily="18" charset="0"/>
              </a:rPr>
              <a:t>printf</a:t>
            </a:r>
            <a:r>
              <a:rPr lang="en-US" dirty="0">
                <a:latin typeface="Century" panose="02040604050505020304" pitchFamily="18" charset="0"/>
              </a:rPr>
              <a:t>("Cannot add more students!\n");        </a:t>
            </a:r>
          </a:p>
          <a:p>
            <a:r>
              <a:rPr lang="en-US" dirty="0">
                <a:latin typeface="Century" panose="02040604050505020304" pitchFamily="18" charset="0"/>
              </a:rPr>
              <a:t>return;    </a:t>
            </a:r>
          </a:p>
          <a:p>
            <a:r>
              <a:rPr lang="en-US" dirty="0">
                <a:latin typeface="Century" panose="02040604050505020304" pitchFamily="18" charset="0"/>
              </a:rPr>
              <a:t>} </a:t>
            </a:r>
          </a:p>
          <a:p>
            <a:r>
              <a:rPr lang="en-US" dirty="0">
                <a:latin typeface="Century" panose="02040604050505020304" pitchFamily="18" charset="0"/>
              </a:rPr>
              <a:t>struct Student temp;    </a:t>
            </a:r>
          </a:p>
          <a:p>
            <a:r>
              <a:rPr lang="en-US" dirty="0" err="1">
                <a:latin typeface="Century" panose="02040604050505020304" pitchFamily="18" charset="0"/>
              </a:rPr>
              <a:t>printf</a:t>
            </a:r>
            <a:r>
              <a:rPr lang="en-US" dirty="0">
                <a:latin typeface="Century" panose="02040604050505020304" pitchFamily="18" charset="0"/>
              </a:rPr>
              <a:t>("\</a:t>
            </a:r>
            <a:r>
              <a:rPr lang="en-US" dirty="0" err="1">
                <a:latin typeface="Century" panose="02040604050505020304" pitchFamily="18" charset="0"/>
              </a:rPr>
              <a:t>nEnter</a:t>
            </a:r>
            <a:r>
              <a:rPr lang="en-US" dirty="0">
                <a:latin typeface="Century" panose="02040604050505020304" pitchFamily="18" charset="0"/>
              </a:rPr>
              <a:t> Application Number: ");    </a:t>
            </a:r>
          </a:p>
          <a:p>
            <a:r>
              <a:rPr lang="en-US" dirty="0" err="1">
                <a:latin typeface="Century" panose="02040604050505020304" pitchFamily="18" charset="0"/>
              </a:rPr>
              <a:t>scanf</a:t>
            </a:r>
            <a:r>
              <a:rPr lang="en-US" dirty="0">
                <a:latin typeface="Century" panose="02040604050505020304" pitchFamily="18" charset="0"/>
              </a:rPr>
              <a:t>("%d", &amp;</a:t>
            </a:r>
            <a:r>
              <a:rPr lang="en-US" dirty="0" err="1">
                <a:latin typeface="Century" panose="02040604050505020304" pitchFamily="18" charset="0"/>
              </a:rPr>
              <a:t>temp.app_no</a:t>
            </a:r>
            <a:r>
              <a:rPr lang="en-US" dirty="0">
                <a:latin typeface="Century" panose="02040604050505020304" pitchFamily="18" charset="0"/>
              </a:rPr>
              <a:t>);    </a:t>
            </a:r>
          </a:p>
          <a:p>
            <a:r>
              <a:rPr lang="en-US" dirty="0" err="1">
                <a:latin typeface="Century" panose="02040604050505020304" pitchFamily="18" charset="0"/>
              </a:rPr>
              <a:t>printf</a:t>
            </a:r>
            <a:r>
              <a:rPr lang="en-US" dirty="0">
                <a:latin typeface="Century" panose="02040604050505020304" pitchFamily="18" charset="0"/>
              </a:rPr>
              <a:t>("Enter Name: ");    </a:t>
            </a:r>
          </a:p>
          <a:p>
            <a:r>
              <a:rPr lang="en-US" dirty="0" err="1">
                <a:latin typeface="Century" panose="02040604050505020304" pitchFamily="18" charset="0"/>
              </a:rPr>
              <a:t>scanf</a:t>
            </a:r>
            <a:r>
              <a:rPr lang="en-US" dirty="0">
                <a:latin typeface="Century" panose="02040604050505020304" pitchFamily="18" charset="0"/>
              </a:rPr>
              <a:t>(" %[^\n]", temp.name); </a:t>
            </a:r>
          </a:p>
          <a:p>
            <a:r>
              <a:rPr lang="en-US" dirty="0">
                <a:latin typeface="Century" panose="02040604050505020304" pitchFamily="18" charset="0"/>
              </a:rPr>
              <a:t>   </a:t>
            </a:r>
          </a:p>
          <a:p>
            <a:r>
              <a:rPr lang="en-US" dirty="0">
                <a:latin typeface="Century" panose="02040604050505020304" pitchFamily="18" charset="0"/>
              </a:rPr>
              <a:t>// Updated department list here    </a:t>
            </a:r>
          </a:p>
          <a:p>
            <a:r>
              <a:rPr lang="en-US" dirty="0" err="1">
                <a:latin typeface="Century" panose="02040604050505020304" pitchFamily="18" charset="0"/>
              </a:rPr>
              <a:t>printf</a:t>
            </a:r>
            <a:r>
              <a:rPr lang="en-US" dirty="0">
                <a:latin typeface="Century" panose="02040604050505020304" pitchFamily="18" charset="0"/>
              </a:rPr>
              <a:t>("Enter Department (CSE/ECE/MECH/CE): ");    </a:t>
            </a:r>
          </a:p>
          <a:p>
            <a:r>
              <a:rPr lang="en-US" dirty="0" err="1">
                <a:latin typeface="Century" panose="02040604050505020304" pitchFamily="18" charset="0"/>
              </a:rPr>
              <a:t>scanf</a:t>
            </a:r>
            <a:r>
              <a:rPr lang="en-US" dirty="0">
                <a:latin typeface="Century" panose="02040604050505020304" pitchFamily="18" charset="0"/>
              </a:rPr>
              <a:t>("%s", </a:t>
            </a:r>
            <a:r>
              <a:rPr lang="en-US" dirty="0" err="1">
                <a:latin typeface="Century" panose="02040604050505020304" pitchFamily="18" charset="0"/>
              </a:rPr>
              <a:t>temp.department</a:t>
            </a:r>
            <a:r>
              <a:rPr lang="en-US" dirty="0">
                <a:latin typeface="Century" panose="02040604050505020304" pitchFamily="18" charset="0"/>
              </a:rPr>
              <a:t>);</a:t>
            </a:r>
          </a:p>
          <a:p>
            <a:endParaRPr lang="en-US" dirty="0">
              <a:latin typeface="Century" panose="02040604050505020304" pitchFamily="18" charset="0"/>
            </a:endParaRPr>
          </a:p>
          <a:p>
            <a:r>
              <a:rPr lang="en-US" dirty="0">
                <a:latin typeface="Century" panose="02040604050505020304" pitchFamily="18" charset="0"/>
              </a:rPr>
              <a:t> // SEAT CHECK    </a:t>
            </a:r>
          </a:p>
          <a:p>
            <a:r>
              <a:rPr lang="en-US" dirty="0">
                <a:latin typeface="Century" panose="02040604050505020304" pitchFamily="18" charset="0"/>
              </a:rPr>
              <a:t>if (!check Seat(</a:t>
            </a:r>
            <a:r>
              <a:rPr lang="en-US" dirty="0" err="1">
                <a:latin typeface="Century" panose="02040604050505020304" pitchFamily="18" charset="0"/>
              </a:rPr>
              <a:t>temp.department</a:t>
            </a:r>
            <a:r>
              <a:rPr lang="en-US" dirty="0">
                <a:latin typeface="Century" panose="02040604050505020304" pitchFamily="18" charset="0"/>
              </a:rPr>
              <a:t>)) </a:t>
            </a:r>
          </a:p>
          <a:p>
            <a:r>
              <a:rPr lang="en-US" dirty="0">
                <a:latin typeface="Century" panose="02040604050505020304" pitchFamily="18" charset="0"/>
              </a:rPr>
              <a:t>{  </a:t>
            </a:r>
          </a:p>
        </p:txBody>
      </p:sp>
    </p:spTree>
    <p:extLst>
      <p:ext uri="{BB962C8B-B14F-4D97-AF65-F5344CB8AC3E}">
        <p14:creationId xmlns:p14="http://schemas.microsoft.com/office/powerpoint/2010/main" val="40703390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16B749-E23A-7B34-5F1B-316A4451244C}"/>
              </a:ext>
            </a:extLst>
          </p:cNvPr>
          <p:cNvSpPr txBox="1"/>
          <p:nvPr/>
        </p:nvSpPr>
        <p:spPr>
          <a:xfrm>
            <a:off x="1480457" y="0"/>
            <a:ext cx="9231086" cy="6186309"/>
          </a:xfrm>
          <a:prstGeom prst="rect">
            <a:avLst/>
          </a:prstGeom>
          <a:noFill/>
        </p:spPr>
        <p:txBody>
          <a:bodyPr wrap="square" rtlCol="0">
            <a:spAutoFit/>
          </a:bodyPr>
          <a:lstStyle/>
          <a:p>
            <a:r>
              <a:rPr lang="en-US" dirty="0" err="1">
                <a:latin typeface="Century" panose="02040604050505020304" pitchFamily="18" charset="0"/>
              </a:rPr>
              <a:t>printf</a:t>
            </a:r>
            <a:r>
              <a:rPr lang="en-US" dirty="0">
                <a:latin typeface="Century" panose="02040604050505020304" pitchFamily="18" charset="0"/>
              </a:rPr>
              <a:t>("\n❌ Seats Full in %s Department OR Invalid Department!\n", </a:t>
            </a:r>
            <a:r>
              <a:rPr lang="en-US" dirty="0" err="1">
                <a:latin typeface="Century" panose="02040604050505020304" pitchFamily="18" charset="0"/>
              </a:rPr>
              <a:t>temp.department</a:t>
            </a:r>
            <a:r>
              <a:rPr lang="en-US" dirty="0">
                <a:latin typeface="Century" panose="02040604050505020304" pitchFamily="18" charset="0"/>
              </a:rPr>
              <a:t>);        return;    </a:t>
            </a:r>
          </a:p>
          <a:p>
            <a:r>
              <a:rPr lang="en-US" dirty="0">
                <a:latin typeface="Century" panose="02040604050505020304" pitchFamily="18" charset="0"/>
              </a:rPr>
              <a:t>} </a:t>
            </a:r>
          </a:p>
          <a:p>
            <a:endParaRPr lang="en-US" dirty="0">
              <a:latin typeface="Century" panose="02040604050505020304" pitchFamily="18" charset="0"/>
            </a:endParaRPr>
          </a:p>
          <a:p>
            <a:r>
              <a:rPr lang="en-US" dirty="0">
                <a:latin typeface="Century" panose="02040604050505020304" pitchFamily="18" charset="0"/>
              </a:rPr>
              <a:t>// Add to array    </a:t>
            </a:r>
          </a:p>
          <a:p>
            <a:r>
              <a:rPr lang="en-US" dirty="0">
                <a:latin typeface="Century" panose="02040604050505020304" pitchFamily="18" charset="0"/>
              </a:rPr>
              <a:t>s[*count] = temp;    </a:t>
            </a:r>
          </a:p>
          <a:p>
            <a:r>
              <a:rPr lang="en-US" dirty="0">
                <a:latin typeface="Century" panose="02040604050505020304" pitchFamily="18" charset="0"/>
              </a:rPr>
              <a:t>(*count)++;    </a:t>
            </a:r>
          </a:p>
          <a:p>
            <a:endParaRPr lang="en-US" dirty="0">
              <a:latin typeface="Century" panose="02040604050505020304" pitchFamily="18" charset="0"/>
            </a:endParaRPr>
          </a:p>
          <a:p>
            <a:r>
              <a:rPr lang="en-US" dirty="0">
                <a:latin typeface="Century" panose="02040604050505020304" pitchFamily="18" charset="0"/>
              </a:rPr>
              <a:t>// Reduce seat    </a:t>
            </a:r>
          </a:p>
          <a:p>
            <a:r>
              <a:rPr lang="en-US" dirty="0" err="1">
                <a:latin typeface="Century" panose="02040604050505020304" pitchFamily="18" charset="0"/>
              </a:rPr>
              <a:t>reduceSeat</a:t>
            </a:r>
            <a:r>
              <a:rPr lang="en-US" dirty="0">
                <a:latin typeface="Century" panose="02040604050505020304" pitchFamily="18" charset="0"/>
              </a:rPr>
              <a:t>(</a:t>
            </a:r>
            <a:r>
              <a:rPr lang="en-US" dirty="0" err="1">
                <a:latin typeface="Century" panose="02040604050505020304" pitchFamily="18" charset="0"/>
              </a:rPr>
              <a:t>temp.department</a:t>
            </a:r>
            <a:r>
              <a:rPr lang="en-US" dirty="0">
                <a:latin typeface="Century" panose="02040604050505020304" pitchFamily="18" charset="0"/>
              </a:rPr>
              <a:t>);    </a:t>
            </a:r>
          </a:p>
          <a:p>
            <a:r>
              <a:rPr lang="en-US" dirty="0" err="1">
                <a:latin typeface="Century" panose="02040604050505020304" pitchFamily="18" charset="0"/>
              </a:rPr>
              <a:t>printf</a:t>
            </a:r>
            <a:r>
              <a:rPr lang="en-US" dirty="0">
                <a:latin typeface="Century" panose="02040604050505020304" pitchFamily="18" charset="0"/>
              </a:rPr>
              <a:t>("\n✔ Student admitted successfully!\n");</a:t>
            </a:r>
          </a:p>
          <a:p>
            <a:r>
              <a:rPr lang="en-US" dirty="0">
                <a:latin typeface="Century" panose="02040604050505020304" pitchFamily="18" charset="0"/>
              </a:rPr>
              <a:t>} </a:t>
            </a:r>
          </a:p>
          <a:p>
            <a:r>
              <a:rPr lang="en-US" dirty="0">
                <a:latin typeface="Century" panose="02040604050505020304" pitchFamily="18" charset="0"/>
              </a:rPr>
              <a:t>void </a:t>
            </a:r>
            <a:r>
              <a:rPr lang="en-US" dirty="0" err="1">
                <a:latin typeface="Century" panose="02040604050505020304" pitchFamily="18" charset="0"/>
              </a:rPr>
              <a:t>displayStudents</a:t>
            </a:r>
            <a:r>
              <a:rPr lang="en-US" dirty="0">
                <a:latin typeface="Century" panose="02040604050505020304" pitchFamily="18" charset="0"/>
              </a:rPr>
              <a:t>(struct Student s[], int count) </a:t>
            </a:r>
          </a:p>
          <a:p>
            <a:r>
              <a:rPr lang="en-US" dirty="0">
                <a:latin typeface="Century" panose="02040604050505020304" pitchFamily="18" charset="0"/>
              </a:rPr>
              <a:t>{    </a:t>
            </a:r>
          </a:p>
          <a:p>
            <a:r>
              <a:rPr lang="en-US" dirty="0">
                <a:latin typeface="Century" panose="02040604050505020304" pitchFamily="18" charset="0"/>
              </a:rPr>
              <a:t>if (count == 0) </a:t>
            </a:r>
          </a:p>
          <a:p>
            <a:r>
              <a:rPr lang="en-US" dirty="0">
                <a:latin typeface="Century" panose="02040604050505020304" pitchFamily="18" charset="0"/>
              </a:rPr>
              <a:t>{        </a:t>
            </a:r>
          </a:p>
          <a:p>
            <a:r>
              <a:rPr lang="en-US" dirty="0" err="1">
                <a:latin typeface="Century" panose="02040604050505020304" pitchFamily="18" charset="0"/>
              </a:rPr>
              <a:t>printf</a:t>
            </a:r>
            <a:r>
              <a:rPr lang="en-US" dirty="0">
                <a:latin typeface="Century" panose="02040604050505020304" pitchFamily="18" charset="0"/>
              </a:rPr>
              <a:t>("\</a:t>
            </a:r>
            <a:r>
              <a:rPr lang="en-US" dirty="0" err="1">
                <a:latin typeface="Century" panose="02040604050505020304" pitchFamily="18" charset="0"/>
              </a:rPr>
              <a:t>nNo</a:t>
            </a:r>
            <a:r>
              <a:rPr lang="en-US" dirty="0">
                <a:latin typeface="Century" panose="02040604050505020304" pitchFamily="18" charset="0"/>
              </a:rPr>
              <a:t> students admitted yet!\n");        </a:t>
            </a:r>
          </a:p>
          <a:p>
            <a:r>
              <a:rPr lang="en-US" dirty="0">
                <a:latin typeface="Century" panose="02040604050505020304" pitchFamily="18" charset="0"/>
              </a:rPr>
              <a:t>return;    </a:t>
            </a:r>
          </a:p>
          <a:p>
            <a:r>
              <a:rPr lang="en-US" dirty="0">
                <a:latin typeface="Century" panose="02040604050505020304" pitchFamily="18" charset="0"/>
              </a:rPr>
              <a:t>}</a:t>
            </a:r>
          </a:p>
          <a:p>
            <a:r>
              <a:rPr lang="en-US" dirty="0" err="1">
                <a:latin typeface="Century" panose="02040604050505020304" pitchFamily="18" charset="0"/>
              </a:rPr>
              <a:t>printf</a:t>
            </a:r>
            <a:r>
              <a:rPr lang="en-US" dirty="0">
                <a:latin typeface="Century" panose="02040604050505020304" pitchFamily="18" charset="0"/>
              </a:rPr>
              <a:t>("\n--- Admitted Students ---\n");    </a:t>
            </a:r>
          </a:p>
          <a:p>
            <a:r>
              <a:rPr lang="en-US" dirty="0">
                <a:latin typeface="Century" panose="02040604050505020304" pitchFamily="18" charset="0"/>
              </a:rPr>
              <a:t>for (int </a:t>
            </a:r>
            <a:r>
              <a:rPr lang="en-US" dirty="0" err="1">
                <a:latin typeface="Century" panose="02040604050505020304" pitchFamily="18" charset="0"/>
              </a:rPr>
              <a:t>i</a:t>
            </a:r>
            <a:r>
              <a:rPr lang="en-US" dirty="0">
                <a:latin typeface="Century" panose="02040604050505020304" pitchFamily="18" charset="0"/>
              </a:rPr>
              <a:t> = 0; </a:t>
            </a:r>
            <a:r>
              <a:rPr lang="en-US" dirty="0" err="1">
                <a:latin typeface="Century" panose="02040604050505020304" pitchFamily="18" charset="0"/>
              </a:rPr>
              <a:t>i</a:t>
            </a:r>
            <a:r>
              <a:rPr lang="en-US" dirty="0">
                <a:latin typeface="Century" panose="02040604050505020304" pitchFamily="18" charset="0"/>
              </a:rPr>
              <a:t> &lt; count; </a:t>
            </a:r>
            <a:r>
              <a:rPr lang="en-US" dirty="0" err="1">
                <a:latin typeface="Century" panose="02040604050505020304" pitchFamily="18" charset="0"/>
              </a:rPr>
              <a:t>i</a:t>
            </a:r>
            <a:r>
              <a:rPr lang="en-US" dirty="0">
                <a:latin typeface="Century" panose="02040604050505020304" pitchFamily="18" charset="0"/>
              </a:rPr>
              <a:t>++) {        </a:t>
            </a:r>
          </a:p>
          <a:p>
            <a:r>
              <a:rPr lang="en-US" dirty="0" err="1">
                <a:latin typeface="Century" panose="02040604050505020304" pitchFamily="18" charset="0"/>
              </a:rPr>
              <a:t>printf</a:t>
            </a:r>
            <a:r>
              <a:rPr lang="en-US" dirty="0">
                <a:latin typeface="Century" panose="02040604050505020304" pitchFamily="18" charset="0"/>
              </a:rPr>
              <a:t>("\</a:t>
            </a:r>
            <a:r>
              <a:rPr lang="en-US" dirty="0" err="1">
                <a:latin typeface="Century" panose="02040604050505020304" pitchFamily="18" charset="0"/>
              </a:rPr>
              <a:t>nApplication</a:t>
            </a:r>
            <a:r>
              <a:rPr lang="en-US" dirty="0">
                <a:latin typeface="Century" panose="02040604050505020304" pitchFamily="18" charset="0"/>
              </a:rPr>
              <a:t> No: %d", s[</a:t>
            </a:r>
            <a:r>
              <a:rPr lang="en-US" dirty="0" err="1">
                <a:latin typeface="Century" panose="02040604050505020304" pitchFamily="18" charset="0"/>
              </a:rPr>
              <a:t>i</a:t>
            </a:r>
            <a:r>
              <a:rPr lang="en-US" dirty="0">
                <a:latin typeface="Century" panose="02040604050505020304" pitchFamily="18" charset="0"/>
              </a:rPr>
              <a:t>].</a:t>
            </a:r>
            <a:r>
              <a:rPr lang="en-US" dirty="0" err="1">
                <a:latin typeface="Century" panose="02040604050505020304" pitchFamily="18" charset="0"/>
              </a:rPr>
              <a:t>app_no</a:t>
            </a:r>
            <a:r>
              <a:rPr lang="en-US" dirty="0">
                <a:latin typeface="Century" panose="02040604050505020304" pitchFamily="18" charset="0"/>
              </a:rPr>
              <a:t>);</a:t>
            </a:r>
            <a:endParaRPr lang="en-IN" dirty="0">
              <a:latin typeface="Century" panose="02040604050505020304" pitchFamily="18" charset="0"/>
            </a:endParaRPr>
          </a:p>
        </p:txBody>
      </p:sp>
    </p:spTree>
    <p:extLst>
      <p:ext uri="{BB962C8B-B14F-4D97-AF65-F5344CB8AC3E}">
        <p14:creationId xmlns:p14="http://schemas.microsoft.com/office/powerpoint/2010/main" val="38982332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18C1B8-C471-B003-B3CF-3F6E84DE6B6C}"/>
              </a:ext>
            </a:extLst>
          </p:cNvPr>
          <p:cNvSpPr txBox="1"/>
          <p:nvPr/>
        </p:nvSpPr>
        <p:spPr>
          <a:xfrm>
            <a:off x="1295400" y="58846"/>
            <a:ext cx="9405257" cy="6186309"/>
          </a:xfrm>
          <a:prstGeom prst="rect">
            <a:avLst/>
          </a:prstGeom>
          <a:noFill/>
        </p:spPr>
        <p:txBody>
          <a:bodyPr wrap="square" rtlCol="0">
            <a:spAutoFit/>
          </a:bodyPr>
          <a:lstStyle/>
          <a:p>
            <a:r>
              <a:rPr lang="en-US" dirty="0" err="1">
                <a:latin typeface="Century" panose="02040604050505020304" pitchFamily="18" charset="0"/>
              </a:rPr>
              <a:t>printf</a:t>
            </a:r>
            <a:r>
              <a:rPr lang="en-US" dirty="0">
                <a:latin typeface="Century" panose="02040604050505020304" pitchFamily="18" charset="0"/>
              </a:rPr>
              <a:t>("\</a:t>
            </a:r>
            <a:r>
              <a:rPr lang="en-US" dirty="0" err="1">
                <a:latin typeface="Century" panose="02040604050505020304" pitchFamily="18" charset="0"/>
              </a:rPr>
              <a:t>nName</a:t>
            </a:r>
            <a:r>
              <a:rPr lang="en-US" dirty="0">
                <a:latin typeface="Century" panose="02040604050505020304" pitchFamily="18" charset="0"/>
              </a:rPr>
              <a:t>: %s", s[</a:t>
            </a:r>
            <a:r>
              <a:rPr lang="en-US" dirty="0" err="1">
                <a:latin typeface="Century" panose="02040604050505020304" pitchFamily="18" charset="0"/>
              </a:rPr>
              <a:t>i</a:t>
            </a:r>
            <a:r>
              <a:rPr lang="en-US" dirty="0">
                <a:latin typeface="Century" panose="02040604050505020304" pitchFamily="18" charset="0"/>
              </a:rPr>
              <a:t>].name);        </a:t>
            </a:r>
          </a:p>
          <a:p>
            <a:r>
              <a:rPr lang="en-US" dirty="0" err="1">
                <a:latin typeface="Century" panose="02040604050505020304" pitchFamily="18" charset="0"/>
              </a:rPr>
              <a:t>printf</a:t>
            </a:r>
            <a:r>
              <a:rPr lang="en-US" dirty="0">
                <a:latin typeface="Century" panose="02040604050505020304" pitchFamily="18" charset="0"/>
              </a:rPr>
              <a:t>("\</a:t>
            </a:r>
            <a:r>
              <a:rPr lang="en-US" dirty="0" err="1">
                <a:latin typeface="Century" panose="02040604050505020304" pitchFamily="18" charset="0"/>
              </a:rPr>
              <a:t>nDepartment</a:t>
            </a:r>
            <a:r>
              <a:rPr lang="en-US" dirty="0">
                <a:latin typeface="Century" panose="02040604050505020304" pitchFamily="18" charset="0"/>
              </a:rPr>
              <a:t>: %s", s[</a:t>
            </a:r>
            <a:r>
              <a:rPr lang="en-US" dirty="0" err="1">
                <a:latin typeface="Century" panose="02040604050505020304" pitchFamily="18" charset="0"/>
              </a:rPr>
              <a:t>i</a:t>
            </a:r>
            <a:r>
              <a:rPr lang="en-US" dirty="0">
                <a:latin typeface="Century" panose="02040604050505020304" pitchFamily="18" charset="0"/>
              </a:rPr>
              <a:t>].department);           }</a:t>
            </a:r>
          </a:p>
          <a:p>
            <a:r>
              <a:rPr lang="en-US" dirty="0">
                <a:latin typeface="Century" panose="02040604050505020304" pitchFamily="18" charset="0"/>
              </a:rPr>
              <a:t>}</a:t>
            </a:r>
          </a:p>
          <a:p>
            <a:r>
              <a:rPr lang="en-US" dirty="0">
                <a:latin typeface="Century" panose="02040604050505020304" pitchFamily="18" charset="0"/>
              </a:rPr>
              <a:t>void </a:t>
            </a:r>
            <a:r>
              <a:rPr lang="en-US" dirty="0" err="1">
                <a:latin typeface="Century" panose="02040604050505020304" pitchFamily="18" charset="0"/>
              </a:rPr>
              <a:t>searchStudent</a:t>
            </a:r>
            <a:r>
              <a:rPr lang="en-US" dirty="0">
                <a:latin typeface="Century" panose="02040604050505020304" pitchFamily="18" charset="0"/>
              </a:rPr>
              <a:t>(struct Student s[], int count) {    </a:t>
            </a:r>
          </a:p>
          <a:p>
            <a:r>
              <a:rPr lang="en-US" dirty="0">
                <a:latin typeface="Century" panose="02040604050505020304" pitchFamily="18" charset="0"/>
              </a:rPr>
              <a:t>int no, found = 0;</a:t>
            </a:r>
          </a:p>
          <a:p>
            <a:r>
              <a:rPr lang="en-US" dirty="0" err="1">
                <a:latin typeface="Century" panose="02040604050505020304" pitchFamily="18" charset="0"/>
              </a:rPr>
              <a:t>printf</a:t>
            </a:r>
            <a:r>
              <a:rPr lang="en-US" dirty="0">
                <a:latin typeface="Century" panose="02040604050505020304" pitchFamily="18" charset="0"/>
              </a:rPr>
              <a:t>("\</a:t>
            </a:r>
            <a:r>
              <a:rPr lang="en-US" dirty="0" err="1">
                <a:latin typeface="Century" panose="02040604050505020304" pitchFamily="18" charset="0"/>
              </a:rPr>
              <a:t>nEnter</a:t>
            </a:r>
            <a:r>
              <a:rPr lang="en-US" dirty="0">
                <a:latin typeface="Century" panose="02040604050505020304" pitchFamily="18" charset="0"/>
              </a:rPr>
              <a:t> Application Number to search: ");    </a:t>
            </a:r>
          </a:p>
          <a:p>
            <a:r>
              <a:rPr lang="en-US" dirty="0" err="1">
                <a:latin typeface="Century" panose="02040604050505020304" pitchFamily="18" charset="0"/>
              </a:rPr>
              <a:t>scanf</a:t>
            </a:r>
            <a:r>
              <a:rPr lang="en-US" dirty="0">
                <a:latin typeface="Century" panose="02040604050505020304" pitchFamily="18" charset="0"/>
              </a:rPr>
              <a:t>("%d", &amp;no);    </a:t>
            </a:r>
          </a:p>
          <a:p>
            <a:r>
              <a:rPr lang="en-US" dirty="0">
                <a:latin typeface="Century" panose="02040604050505020304" pitchFamily="18" charset="0"/>
              </a:rPr>
              <a:t>for (int </a:t>
            </a:r>
            <a:r>
              <a:rPr lang="en-US" dirty="0" err="1">
                <a:latin typeface="Century" panose="02040604050505020304" pitchFamily="18" charset="0"/>
              </a:rPr>
              <a:t>i</a:t>
            </a:r>
            <a:r>
              <a:rPr lang="en-US" dirty="0">
                <a:latin typeface="Century" panose="02040604050505020304" pitchFamily="18" charset="0"/>
              </a:rPr>
              <a:t> = 0; </a:t>
            </a:r>
            <a:r>
              <a:rPr lang="en-US" dirty="0" err="1">
                <a:latin typeface="Century" panose="02040604050505020304" pitchFamily="18" charset="0"/>
              </a:rPr>
              <a:t>i</a:t>
            </a:r>
            <a:r>
              <a:rPr lang="en-US" dirty="0">
                <a:latin typeface="Century" panose="02040604050505020304" pitchFamily="18" charset="0"/>
              </a:rPr>
              <a:t> &lt; count; </a:t>
            </a:r>
            <a:r>
              <a:rPr lang="en-US" dirty="0" err="1">
                <a:latin typeface="Century" panose="02040604050505020304" pitchFamily="18" charset="0"/>
              </a:rPr>
              <a:t>i</a:t>
            </a:r>
            <a:r>
              <a:rPr lang="en-US" dirty="0">
                <a:latin typeface="Century" panose="02040604050505020304" pitchFamily="18" charset="0"/>
              </a:rPr>
              <a:t>++) {        </a:t>
            </a:r>
          </a:p>
          <a:p>
            <a:r>
              <a:rPr lang="en-US" dirty="0">
                <a:latin typeface="Century" panose="02040604050505020304" pitchFamily="18" charset="0"/>
              </a:rPr>
              <a:t>if (s[</a:t>
            </a:r>
            <a:r>
              <a:rPr lang="en-US" dirty="0" err="1">
                <a:latin typeface="Century" panose="02040604050505020304" pitchFamily="18" charset="0"/>
              </a:rPr>
              <a:t>i</a:t>
            </a:r>
            <a:r>
              <a:rPr lang="en-US" dirty="0">
                <a:latin typeface="Century" panose="02040604050505020304" pitchFamily="18" charset="0"/>
              </a:rPr>
              <a:t>].</a:t>
            </a:r>
            <a:r>
              <a:rPr lang="en-US" dirty="0" err="1">
                <a:latin typeface="Century" panose="02040604050505020304" pitchFamily="18" charset="0"/>
              </a:rPr>
              <a:t>app_no</a:t>
            </a:r>
            <a:r>
              <a:rPr lang="en-US" dirty="0">
                <a:latin typeface="Century" panose="02040604050505020304" pitchFamily="18" charset="0"/>
              </a:rPr>
              <a:t> == no) {            </a:t>
            </a:r>
          </a:p>
          <a:p>
            <a:r>
              <a:rPr lang="en-US" dirty="0" err="1">
                <a:latin typeface="Century" panose="02040604050505020304" pitchFamily="18" charset="0"/>
              </a:rPr>
              <a:t>printf</a:t>
            </a:r>
            <a:r>
              <a:rPr lang="en-US" dirty="0">
                <a:latin typeface="Century" panose="02040604050505020304" pitchFamily="18" charset="0"/>
              </a:rPr>
              <a:t>("\n--- Student Found ---\n");            </a:t>
            </a:r>
          </a:p>
          <a:p>
            <a:r>
              <a:rPr lang="en-US" dirty="0" err="1">
                <a:latin typeface="Century" panose="02040604050505020304" pitchFamily="18" charset="0"/>
              </a:rPr>
              <a:t>printf</a:t>
            </a:r>
            <a:r>
              <a:rPr lang="en-US" dirty="0">
                <a:latin typeface="Century" panose="02040604050505020304" pitchFamily="18" charset="0"/>
              </a:rPr>
              <a:t>("Application No: %d\n", s[</a:t>
            </a:r>
            <a:r>
              <a:rPr lang="en-US" dirty="0" err="1">
                <a:latin typeface="Century" panose="02040604050505020304" pitchFamily="18" charset="0"/>
              </a:rPr>
              <a:t>i</a:t>
            </a:r>
            <a:r>
              <a:rPr lang="en-US" dirty="0">
                <a:latin typeface="Century" panose="02040604050505020304" pitchFamily="18" charset="0"/>
              </a:rPr>
              <a:t>].</a:t>
            </a:r>
            <a:r>
              <a:rPr lang="en-US" dirty="0" err="1">
                <a:latin typeface="Century" panose="02040604050505020304" pitchFamily="18" charset="0"/>
              </a:rPr>
              <a:t>app_no</a:t>
            </a:r>
            <a:r>
              <a:rPr lang="en-US" dirty="0">
                <a:latin typeface="Century" panose="02040604050505020304" pitchFamily="18" charset="0"/>
              </a:rPr>
              <a:t>);</a:t>
            </a:r>
          </a:p>
          <a:p>
            <a:r>
              <a:rPr lang="en-US" dirty="0" err="1">
                <a:latin typeface="Century" panose="02040604050505020304" pitchFamily="18" charset="0"/>
              </a:rPr>
              <a:t>printf</a:t>
            </a:r>
            <a:r>
              <a:rPr lang="en-US" dirty="0">
                <a:latin typeface="Century" panose="02040604050505020304" pitchFamily="18" charset="0"/>
              </a:rPr>
              <a:t>("Name: %s\n", s[</a:t>
            </a:r>
            <a:r>
              <a:rPr lang="en-US" dirty="0" err="1">
                <a:latin typeface="Century" panose="02040604050505020304" pitchFamily="18" charset="0"/>
              </a:rPr>
              <a:t>i</a:t>
            </a:r>
            <a:r>
              <a:rPr lang="en-US" dirty="0">
                <a:latin typeface="Century" panose="02040604050505020304" pitchFamily="18" charset="0"/>
              </a:rPr>
              <a:t>].name);            </a:t>
            </a:r>
          </a:p>
          <a:p>
            <a:r>
              <a:rPr lang="en-US" dirty="0" err="1">
                <a:latin typeface="Century" panose="02040604050505020304" pitchFamily="18" charset="0"/>
              </a:rPr>
              <a:t>printf</a:t>
            </a:r>
            <a:r>
              <a:rPr lang="en-US" dirty="0">
                <a:latin typeface="Century" panose="02040604050505020304" pitchFamily="18" charset="0"/>
              </a:rPr>
              <a:t>("Department: %s\n", s[</a:t>
            </a:r>
            <a:r>
              <a:rPr lang="en-US" dirty="0" err="1">
                <a:latin typeface="Century" panose="02040604050505020304" pitchFamily="18" charset="0"/>
              </a:rPr>
              <a:t>i</a:t>
            </a:r>
            <a:r>
              <a:rPr lang="en-US" dirty="0">
                <a:latin typeface="Century" panose="02040604050505020304" pitchFamily="18" charset="0"/>
              </a:rPr>
              <a:t>].department);                      </a:t>
            </a:r>
          </a:p>
          <a:p>
            <a:r>
              <a:rPr lang="en-US" dirty="0">
                <a:latin typeface="Century" panose="02040604050505020304" pitchFamily="18" charset="0"/>
              </a:rPr>
              <a:t>found = 1;            </a:t>
            </a:r>
          </a:p>
          <a:p>
            <a:r>
              <a:rPr lang="en-US" dirty="0">
                <a:latin typeface="Century" panose="02040604050505020304" pitchFamily="18" charset="0"/>
              </a:rPr>
              <a:t>break;        }    </a:t>
            </a:r>
          </a:p>
          <a:p>
            <a:r>
              <a:rPr lang="en-US" dirty="0">
                <a:latin typeface="Century" panose="02040604050505020304" pitchFamily="18" charset="0"/>
              </a:rPr>
              <a:t>}</a:t>
            </a:r>
          </a:p>
          <a:p>
            <a:r>
              <a:rPr lang="en-US" dirty="0">
                <a:latin typeface="Century" panose="02040604050505020304" pitchFamily="18" charset="0"/>
              </a:rPr>
              <a:t>if (!found)        </a:t>
            </a:r>
          </a:p>
          <a:p>
            <a:r>
              <a:rPr lang="en-US" dirty="0" err="1">
                <a:latin typeface="Century" panose="02040604050505020304" pitchFamily="18" charset="0"/>
              </a:rPr>
              <a:t>printf</a:t>
            </a:r>
            <a:r>
              <a:rPr lang="en-US" dirty="0">
                <a:latin typeface="Century" panose="02040604050505020304" pitchFamily="18" charset="0"/>
              </a:rPr>
              <a:t>("❌ No student found with that Application Number.\n");  }</a:t>
            </a:r>
          </a:p>
          <a:p>
            <a:r>
              <a:rPr lang="en-US" dirty="0">
                <a:latin typeface="Century" panose="02040604050505020304" pitchFamily="18" charset="0"/>
              </a:rPr>
              <a:t>int main() {</a:t>
            </a:r>
          </a:p>
          <a:p>
            <a:r>
              <a:rPr lang="en-US" dirty="0">
                <a:latin typeface="Century" panose="02040604050505020304" pitchFamily="18" charset="0"/>
              </a:rPr>
              <a:t>struct Student s[MAX];    </a:t>
            </a:r>
          </a:p>
          <a:p>
            <a:r>
              <a:rPr lang="en-US" dirty="0">
                <a:latin typeface="Century" panose="02040604050505020304" pitchFamily="18" charset="0"/>
              </a:rPr>
              <a:t>int count = 0, choice;    </a:t>
            </a:r>
          </a:p>
          <a:p>
            <a:r>
              <a:rPr lang="en-US" dirty="0">
                <a:latin typeface="Century" panose="02040604050505020304" pitchFamily="18" charset="0"/>
              </a:rPr>
              <a:t>do {      </a:t>
            </a:r>
            <a:endParaRPr lang="en-IN" dirty="0">
              <a:latin typeface="Century" panose="02040604050505020304" pitchFamily="18" charset="0"/>
            </a:endParaRPr>
          </a:p>
        </p:txBody>
      </p:sp>
    </p:spTree>
    <p:extLst>
      <p:ext uri="{BB962C8B-B14F-4D97-AF65-F5344CB8AC3E}">
        <p14:creationId xmlns:p14="http://schemas.microsoft.com/office/powerpoint/2010/main" val="12899812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B7D203-DE36-2233-BDE6-9AC8CCC81C6D}"/>
              </a:ext>
            </a:extLst>
          </p:cNvPr>
          <p:cNvSpPr txBox="1"/>
          <p:nvPr/>
        </p:nvSpPr>
        <p:spPr>
          <a:xfrm>
            <a:off x="1632857" y="195943"/>
            <a:ext cx="9122229" cy="6186309"/>
          </a:xfrm>
          <a:prstGeom prst="rect">
            <a:avLst/>
          </a:prstGeom>
          <a:noFill/>
        </p:spPr>
        <p:txBody>
          <a:bodyPr wrap="square" rtlCol="0">
            <a:spAutoFit/>
          </a:bodyPr>
          <a:lstStyle/>
          <a:p>
            <a:r>
              <a:rPr lang="en-IN" dirty="0" err="1">
                <a:latin typeface="Century" panose="02040604050505020304" pitchFamily="18" charset="0"/>
              </a:rPr>
              <a:t>printf</a:t>
            </a:r>
            <a:r>
              <a:rPr lang="en-IN" dirty="0">
                <a:latin typeface="Century" panose="02040604050505020304" pitchFamily="18" charset="0"/>
              </a:rPr>
              <a:t>("\n--- College Admission System ---\n");        </a:t>
            </a:r>
          </a:p>
          <a:p>
            <a:r>
              <a:rPr lang="en-IN" dirty="0" err="1">
                <a:latin typeface="Century" panose="02040604050505020304" pitchFamily="18" charset="0"/>
              </a:rPr>
              <a:t>printf</a:t>
            </a:r>
            <a:r>
              <a:rPr lang="en-IN" dirty="0">
                <a:latin typeface="Century" panose="02040604050505020304" pitchFamily="18" charset="0"/>
              </a:rPr>
              <a:t>("1. Add Student\n");       </a:t>
            </a:r>
          </a:p>
          <a:p>
            <a:r>
              <a:rPr lang="en-IN" dirty="0" err="1">
                <a:latin typeface="Century" panose="02040604050505020304" pitchFamily="18" charset="0"/>
              </a:rPr>
              <a:t>printf</a:t>
            </a:r>
            <a:r>
              <a:rPr lang="en-IN" dirty="0">
                <a:latin typeface="Century" panose="02040604050505020304" pitchFamily="18" charset="0"/>
              </a:rPr>
              <a:t>("2. Display All Students\n");        </a:t>
            </a:r>
          </a:p>
          <a:p>
            <a:r>
              <a:rPr lang="en-IN" dirty="0" err="1">
                <a:latin typeface="Century" panose="02040604050505020304" pitchFamily="18" charset="0"/>
              </a:rPr>
              <a:t>printf</a:t>
            </a:r>
            <a:r>
              <a:rPr lang="en-IN" dirty="0">
                <a:latin typeface="Century" panose="02040604050505020304" pitchFamily="18" charset="0"/>
              </a:rPr>
              <a:t>("3. Search Student\n");        </a:t>
            </a:r>
          </a:p>
          <a:p>
            <a:r>
              <a:rPr lang="en-IN" dirty="0" err="1">
                <a:latin typeface="Century" panose="02040604050505020304" pitchFamily="18" charset="0"/>
              </a:rPr>
              <a:t>printf</a:t>
            </a:r>
            <a:r>
              <a:rPr lang="en-IN" dirty="0">
                <a:latin typeface="Century" panose="02040604050505020304" pitchFamily="18" charset="0"/>
              </a:rPr>
              <a:t>("4. Show Remaining Seats\n");        </a:t>
            </a:r>
          </a:p>
          <a:p>
            <a:r>
              <a:rPr lang="en-IN" dirty="0" err="1">
                <a:latin typeface="Century" panose="02040604050505020304" pitchFamily="18" charset="0"/>
              </a:rPr>
              <a:t>printf</a:t>
            </a:r>
            <a:r>
              <a:rPr lang="en-IN" dirty="0">
                <a:latin typeface="Century" panose="02040604050505020304" pitchFamily="18" charset="0"/>
              </a:rPr>
              <a:t>("5. Exit\n");        </a:t>
            </a:r>
          </a:p>
          <a:p>
            <a:r>
              <a:rPr lang="en-IN" dirty="0" err="1">
                <a:latin typeface="Century" panose="02040604050505020304" pitchFamily="18" charset="0"/>
              </a:rPr>
              <a:t>printf</a:t>
            </a:r>
            <a:r>
              <a:rPr lang="en-IN" dirty="0">
                <a:latin typeface="Century" panose="02040604050505020304" pitchFamily="18" charset="0"/>
              </a:rPr>
              <a:t>("Enter choice: ");        </a:t>
            </a:r>
          </a:p>
          <a:p>
            <a:r>
              <a:rPr lang="en-IN" dirty="0" err="1">
                <a:latin typeface="Century" panose="02040604050505020304" pitchFamily="18" charset="0"/>
              </a:rPr>
              <a:t>scanf</a:t>
            </a:r>
            <a:r>
              <a:rPr lang="en-IN" dirty="0">
                <a:latin typeface="Century" panose="02040604050505020304" pitchFamily="18" charset="0"/>
              </a:rPr>
              <a:t>("%d", &amp;choice);</a:t>
            </a:r>
          </a:p>
          <a:p>
            <a:endParaRPr lang="en-IN" dirty="0">
              <a:latin typeface="Century" panose="02040604050505020304" pitchFamily="18" charset="0"/>
            </a:endParaRPr>
          </a:p>
          <a:p>
            <a:r>
              <a:rPr lang="en-US" dirty="0">
                <a:latin typeface="Century" panose="02040604050505020304" pitchFamily="18" charset="0"/>
              </a:rPr>
              <a:t>switch (choice) {            </a:t>
            </a:r>
          </a:p>
          <a:p>
            <a:r>
              <a:rPr lang="en-US" dirty="0">
                <a:latin typeface="Century" panose="02040604050505020304" pitchFamily="18" charset="0"/>
              </a:rPr>
              <a:t>case 1: </a:t>
            </a:r>
            <a:r>
              <a:rPr lang="en-US" dirty="0" err="1">
                <a:latin typeface="Century" panose="02040604050505020304" pitchFamily="18" charset="0"/>
              </a:rPr>
              <a:t>addStudent</a:t>
            </a:r>
            <a:r>
              <a:rPr lang="en-US" dirty="0">
                <a:latin typeface="Century" panose="02040604050505020304" pitchFamily="18" charset="0"/>
              </a:rPr>
              <a:t>(s, &amp;count); break;            </a:t>
            </a:r>
          </a:p>
          <a:p>
            <a:r>
              <a:rPr lang="en-US" dirty="0">
                <a:latin typeface="Century" panose="02040604050505020304" pitchFamily="18" charset="0"/>
              </a:rPr>
              <a:t>case 2: </a:t>
            </a:r>
            <a:r>
              <a:rPr lang="en-US" dirty="0" err="1">
                <a:latin typeface="Century" panose="02040604050505020304" pitchFamily="18" charset="0"/>
              </a:rPr>
              <a:t>displayStudents</a:t>
            </a:r>
            <a:r>
              <a:rPr lang="en-US" dirty="0">
                <a:latin typeface="Century" panose="02040604050505020304" pitchFamily="18" charset="0"/>
              </a:rPr>
              <a:t>(s, count); break;            </a:t>
            </a:r>
          </a:p>
          <a:p>
            <a:r>
              <a:rPr lang="en-US" dirty="0">
                <a:latin typeface="Century" panose="02040604050505020304" pitchFamily="18" charset="0"/>
              </a:rPr>
              <a:t>case 3: </a:t>
            </a:r>
            <a:r>
              <a:rPr lang="en-US" dirty="0" err="1">
                <a:latin typeface="Century" panose="02040604050505020304" pitchFamily="18" charset="0"/>
              </a:rPr>
              <a:t>searchStudent</a:t>
            </a:r>
            <a:r>
              <a:rPr lang="en-US" dirty="0">
                <a:latin typeface="Century" panose="02040604050505020304" pitchFamily="18" charset="0"/>
              </a:rPr>
              <a:t>(s, count); break;            </a:t>
            </a:r>
          </a:p>
          <a:p>
            <a:r>
              <a:rPr lang="en-US" dirty="0">
                <a:latin typeface="Century" panose="02040604050505020304" pitchFamily="18" charset="0"/>
              </a:rPr>
              <a:t>case 4: </a:t>
            </a:r>
            <a:r>
              <a:rPr lang="en-US" dirty="0" err="1">
                <a:latin typeface="Century" panose="02040604050505020304" pitchFamily="18" charset="0"/>
              </a:rPr>
              <a:t>showRemainingSeats</a:t>
            </a:r>
            <a:r>
              <a:rPr lang="en-US" dirty="0">
                <a:latin typeface="Century" panose="02040604050505020304" pitchFamily="18" charset="0"/>
              </a:rPr>
              <a:t>(); break;            </a:t>
            </a:r>
          </a:p>
          <a:p>
            <a:r>
              <a:rPr lang="en-US" dirty="0">
                <a:latin typeface="Century" panose="02040604050505020304" pitchFamily="18" charset="0"/>
              </a:rPr>
              <a:t>case 5: </a:t>
            </a:r>
            <a:r>
              <a:rPr lang="en-US" dirty="0" err="1">
                <a:latin typeface="Century" panose="02040604050505020304" pitchFamily="18" charset="0"/>
              </a:rPr>
              <a:t>printf</a:t>
            </a:r>
            <a:r>
              <a:rPr lang="en-US" dirty="0">
                <a:latin typeface="Century" panose="02040604050505020304" pitchFamily="18" charset="0"/>
              </a:rPr>
              <a:t>("Exiting...\n"); break;            </a:t>
            </a:r>
          </a:p>
          <a:p>
            <a:r>
              <a:rPr lang="en-US" dirty="0">
                <a:latin typeface="Century" panose="02040604050505020304" pitchFamily="18" charset="0"/>
              </a:rPr>
              <a:t>default: </a:t>
            </a:r>
            <a:r>
              <a:rPr lang="en-US" dirty="0" err="1">
                <a:latin typeface="Century" panose="02040604050505020304" pitchFamily="18" charset="0"/>
              </a:rPr>
              <a:t>printf</a:t>
            </a:r>
            <a:r>
              <a:rPr lang="en-US" dirty="0">
                <a:latin typeface="Century" panose="02040604050505020304" pitchFamily="18" charset="0"/>
              </a:rPr>
              <a:t>("Invalid choice!\n");        </a:t>
            </a:r>
          </a:p>
          <a:p>
            <a:r>
              <a:rPr lang="en-US" dirty="0">
                <a:latin typeface="Century" panose="02040604050505020304" pitchFamily="18" charset="0"/>
              </a:rPr>
              <a:t>}</a:t>
            </a:r>
          </a:p>
          <a:p>
            <a:endParaRPr lang="en-US" dirty="0">
              <a:latin typeface="Century" panose="02040604050505020304" pitchFamily="18" charset="0"/>
            </a:endParaRPr>
          </a:p>
          <a:p>
            <a:r>
              <a:rPr lang="en-US" dirty="0">
                <a:latin typeface="Century" panose="02040604050505020304" pitchFamily="18" charset="0"/>
              </a:rPr>
              <a:t> } </a:t>
            </a:r>
          </a:p>
          <a:p>
            <a:r>
              <a:rPr lang="en-US" dirty="0">
                <a:latin typeface="Century" panose="02040604050505020304" pitchFamily="18" charset="0"/>
              </a:rPr>
              <a:t>while (choice != 5);   </a:t>
            </a:r>
          </a:p>
          <a:p>
            <a:r>
              <a:rPr lang="en-US" dirty="0">
                <a:latin typeface="Century" panose="02040604050505020304" pitchFamily="18" charset="0"/>
              </a:rPr>
              <a:t>return 0;</a:t>
            </a:r>
          </a:p>
          <a:p>
            <a:r>
              <a:rPr lang="en-US" dirty="0">
                <a:latin typeface="Century" panose="02040604050505020304" pitchFamily="18" charset="0"/>
              </a:rPr>
              <a:t>}</a:t>
            </a:r>
            <a:endParaRPr lang="en-IN" dirty="0">
              <a:latin typeface="Century" panose="02040604050505020304" pitchFamily="18" charset="0"/>
            </a:endParaRPr>
          </a:p>
        </p:txBody>
      </p:sp>
    </p:spTree>
    <p:extLst>
      <p:ext uri="{BB962C8B-B14F-4D97-AF65-F5344CB8AC3E}">
        <p14:creationId xmlns:p14="http://schemas.microsoft.com/office/powerpoint/2010/main" val="11859340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613DF3B-848F-EE38-C930-FFC8579A8246}"/>
              </a:ext>
            </a:extLst>
          </p:cNvPr>
          <p:cNvSpPr txBox="1"/>
          <p:nvPr/>
        </p:nvSpPr>
        <p:spPr>
          <a:xfrm>
            <a:off x="1393371" y="370114"/>
            <a:ext cx="9720943" cy="646331"/>
          </a:xfrm>
          <a:prstGeom prst="rect">
            <a:avLst/>
          </a:prstGeom>
          <a:noFill/>
        </p:spPr>
        <p:txBody>
          <a:bodyPr wrap="square" rtlCol="0">
            <a:spAutoFit/>
          </a:bodyPr>
          <a:lstStyle/>
          <a:p>
            <a:r>
              <a:rPr lang="en-IN" sz="3600" dirty="0">
                <a:latin typeface="Algerian" panose="04020705040A02060702" pitchFamily="82" charset="0"/>
              </a:rPr>
              <a:t>OUTPUT :</a:t>
            </a:r>
          </a:p>
        </p:txBody>
      </p:sp>
      <p:sp>
        <p:nvSpPr>
          <p:cNvPr id="6" name="TextBox 5">
            <a:extLst>
              <a:ext uri="{FF2B5EF4-FFF2-40B4-BE49-F238E27FC236}">
                <a16:creationId xmlns:a16="http://schemas.microsoft.com/office/drawing/2014/main" id="{F9D613D9-D660-25A6-EDDC-A020617DCC23}"/>
              </a:ext>
            </a:extLst>
          </p:cNvPr>
          <p:cNvSpPr txBox="1"/>
          <p:nvPr/>
        </p:nvSpPr>
        <p:spPr>
          <a:xfrm>
            <a:off x="1594757" y="1861457"/>
            <a:ext cx="9002485" cy="3970318"/>
          </a:xfrm>
          <a:prstGeom prst="rect">
            <a:avLst/>
          </a:prstGeom>
          <a:noFill/>
        </p:spPr>
        <p:txBody>
          <a:bodyPr wrap="square" rtlCol="0">
            <a:spAutoFit/>
          </a:bodyPr>
          <a:lstStyle/>
          <a:p>
            <a:r>
              <a:rPr lang="en-IN" dirty="0">
                <a:latin typeface="Century" panose="02040604050505020304" pitchFamily="18" charset="0"/>
              </a:rPr>
              <a:t>--- College Admission System ---</a:t>
            </a:r>
          </a:p>
          <a:p>
            <a:r>
              <a:rPr lang="en-IN" dirty="0">
                <a:latin typeface="Century" panose="02040604050505020304" pitchFamily="18" charset="0"/>
              </a:rPr>
              <a:t>1. Add Student</a:t>
            </a:r>
          </a:p>
          <a:p>
            <a:r>
              <a:rPr lang="en-IN" dirty="0">
                <a:latin typeface="Century" panose="02040604050505020304" pitchFamily="18" charset="0"/>
              </a:rPr>
              <a:t>2. Display All Students</a:t>
            </a:r>
          </a:p>
          <a:p>
            <a:r>
              <a:rPr lang="en-IN" dirty="0">
                <a:latin typeface="Century" panose="02040604050505020304" pitchFamily="18" charset="0"/>
              </a:rPr>
              <a:t>3. Search Student</a:t>
            </a:r>
          </a:p>
          <a:p>
            <a:r>
              <a:rPr lang="en-IN" dirty="0">
                <a:latin typeface="Century" panose="02040604050505020304" pitchFamily="18" charset="0"/>
              </a:rPr>
              <a:t>4. Show Remaining Seats</a:t>
            </a:r>
          </a:p>
          <a:p>
            <a:r>
              <a:rPr lang="en-IN" dirty="0">
                <a:latin typeface="Century" panose="02040604050505020304" pitchFamily="18" charset="0"/>
              </a:rPr>
              <a:t>5. Exit</a:t>
            </a:r>
          </a:p>
          <a:p>
            <a:r>
              <a:rPr lang="en-IN" dirty="0">
                <a:latin typeface="Century" panose="02040604050505020304" pitchFamily="18" charset="0"/>
              </a:rPr>
              <a:t>Enter choice: 1</a:t>
            </a:r>
          </a:p>
          <a:p>
            <a:endParaRPr lang="en-IN" dirty="0">
              <a:latin typeface="Century" panose="02040604050505020304" pitchFamily="18" charset="0"/>
            </a:endParaRPr>
          </a:p>
          <a:p>
            <a:r>
              <a:rPr lang="en-IN" dirty="0">
                <a:latin typeface="Century" panose="02040604050505020304" pitchFamily="18" charset="0"/>
              </a:rPr>
              <a:t>Enter Application Number: 1</a:t>
            </a:r>
          </a:p>
          <a:p>
            <a:r>
              <a:rPr lang="en-IN" dirty="0">
                <a:latin typeface="Century" panose="02040604050505020304" pitchFamily="18" charset="0"/>
              </a:rPr>
              <a:t>Enter Name: </a:t>
            </a:r>
            <a:r>
              <a:rPr lang="en-IN" dirty="0" err="1">
                <a:latin typeface="Century" panose="02040604050505020304" pitchFamily="18" charset="0"/>
              </a:rPr>
              <a:t>jaswanth</a:t>
            </a:r>
            <a:endParaRPr lang="en-IN" dirty="0">
              <a:latin typeface="Century" panose="02040604050505020304" pitchFamily="18" charset="0"/>
            </a:endParaRPr>
          </a:p>
          <a:p>
            <a:r>
              <a:rPr lang="en-IN" dirty="0">
                <a:latin typeface="Century" panose="02040604050505020304" pitchFamily="18" charset="0"/>
              </a:rPr>
              <a:t>Enter Department (CSE/ECE/MECH/CE): CSE</a:t>
            </a:r>
          </a:p>
          <a:p>
            <a:r>
              <a:rPr lang="en-IN" dirty="0">
                <a:latin typeface="Century" panose="02040604050505020304" pitchFamily="18" charset="0"/>
              </a:rPr>
              <a:t>  </a:t>
            </a:r>
          </a:p>
          <a:p>
            <a:r>
              <a:rPr lang="en-IN" dirty="0">
                <a:latin typeface="Century" panose="02040604050505020304" pitchFamily="18" charset="0"/>
              </a:rPr>
              <a:t>✔ Student admitted successful!</a:t>
            </a:r>
            <a:endParaRPr lang="en-US" dirty="0">
              <a:latin typeface="Century" panose="02040604050505020304" pitchFamily="18" charset="0"/>
            </a:endParaRPr>
          </a:p>
          <a:p>
            <a:endParaRPr lang="en-IN" dirty="0"/>
          </a:p>
        </p:txBody>
      </p:sp>
    </p:spTree>
    <p:extLst>
      <p:ext uri="{BB962C8B-B14F-4D97-AF65-F5344CB8AC3E}">
        <p14:creationId xmlns:p14="http://schemas.microsoft.com/office/powerpoint/2010/main" val="16396344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BBFF127-9280-5FA4-6FF3-C2CD0C976172}"/>
              </a:ext>
            </a:extLst>
          </p:cNvPr>
          <p:cNvSpPr txBox="1"/>
          <p:nvPr/>
        </p:nvSpPr>
        <p:spPr>
          <a:xfrm>
            <a:off x="1480457" y="185057"/>
            <a:ext cx="9383486" cy="6740307"/>
          </a:xfrm>
          <a:prstGeom prst="rect">
            <a:avLst/>
          </a:prstGeom>
          <a:noFill/>
        </p:spPr>
        <p:txBody>
          <a:bodyPr wrap="square" rtlCol="0">
            <a:spAutoFit/>
          </a:bodyPr>
          <a:lstStyle/>
          <a:p>
            <a:r>
              <a:rPr lang="en-US" dirty="0">
                <a:latin typeface="Century" panose="02040604050505020304" pitchFamily="18" charset="0"/>
              </a:rPr>
              <a:t>--- College Admission System ---</a:t>
            </a:r>
          </a:p>
          <a:p>
            <a:r>
              <a:rPr lang="en-US" dirty="0">
                <a:latin typeface="Century" panose="02040604050505020304" pitchFamily="18" charset="0"/>
              </a:rPr>
              <a:t>1. Add Student</a:t>
            </a:r>
          </a:p>
          <a:p>
            <a:r>
              <a:rPr lang="en-US" dirty="0">
                <a:latin typeface="Century" panose="02040604050505020304" pitchFamily="18" charset="0"/>
              </a:rPr>
              <a:t>2. Display All Students</a:t>
            </a:r>
          </a:p>
          <a:p>
            <a:r>
              <a:rPr lang="en-US" dirty="0">
                <a:latin typeface="Century" panose="02040604050505020304" pitchFamily="18" charset="0"/>
              </a:rPr>
              <a:t>3. Search Student</a:t>
            </a:r>
          </a:p>
          <a:p>
            <a:r>
              <a:rPr lang="en-US" dirty="0">
                <a:latin typeface="Century" panose="02040604050505020304" pitchFamily="18" charset="0"/>
              </a:rPr>
              <a:t>4. Show Remaining Seats</a:t>
            </a:r>
          </a:p>
          <a:p>
            <a:r>
              <a:rPr lang="en-US" dirty="0">
                <a:latin typeface="Century" panose="02040604050505020304" pitchFamily="18" charset="0"/>
              </a:rPr>
              <a:t>5. Exit</a:t>
            </a:r>
          </a:p>
          <a:p>
            <a:r>
              <a:rPr lang="en-US" dirty="0">
                <a:latin typeface="Century" panose="02040604050505020304" pitchFamily="18" charset="0"/>
              </a:rPr>
              <a:t>Enter choice: 2</a:t>
            </a:r>
          </a:p>
          <a:p>
            <a:endParaRPr lang="en-US" dirty="0">
              <a:latin typeface="Century" panose="02040604050505020304" pitchFamily="18" charset="0"/>
            </a:endParaRPr>
          </a:p>
          <a:p>
            <a:r>
              <a:rPr lang="en-US" dirty="0">
                <a:latin typeface="Century" panose="02040604050505020304" pitchFamily="18" charset="0"/>
              </a:rPr>
              <a:t>--- Admitted Students ---</a:t>
            </a:r>
          </a:p>
          <a:p>
            <a:endParaRPr lang="en-US" dirty="0">
              <a:latin typeface="Century" panose="02040604050505020304" pitchFamily="18" charset="0"/>
            </a:endParaRPr>
          </a:p>
          <a:p>
            <a:r>
              <a:rPr lang="en-US" dirty="0">
                <a:latin typeface="Century" panose="02040604050505020304" pitchFamily="18" charset="0"/>
              </a:rPr>
              <a:t>Application No: 1</a:t>
            </a:r>
          </a:p>
          <a:p>
            <a:r>
              <a:rPr lang="en-US" dirty="0">
                <a:latin typeface="Century" panose="02040604050505020304" pitchFamily="18" charset="0"/>
              </a:rPr>
              <a:t>Name: </a:t>
            </a:r>
            <a:r>
              <a:rPr lang="en-US" dirty="0" err="1">
                <a:latin typeface="Century" panose="02040604050505020304" pitchFamily="18" charset="0"/>
              </a:rPr>
              <a:t>jaswanth</a:t>
            </a:r>
            <a:endParaRPr lang="en-US" dirty="0">
              <a:latin typeface="Century" panose="02040604050505020304" pitchFamily="18" charset="0"/>
            </a:endParaRPr>
          </a:p>
          <a:p>
            <a:r>
              <a:rPr lang="en-US" dirty="0">
                <a:latin typeface="Century" panose="02040604050505020304" pitchFamily="18" charset="0"/>
              </a:rPr>
              <a:t>Department: CSE</a:t>
            </a:r>
          </a:p>
          <a:p>
            <a:endParaRPr lang="en-US" dirty="0">
              <a:latin typeface="Century" panose="02040604050505020304" pitchFamily="18" charset="0"/>
            </a:endParaRPr>
          </a:p>
          <a:p>
            <a:r>
              <a:rPr lang="en-US" dirty="0">
                <a:latin typeface="Century" panose="02040604050505020304" pitchFamily="18" charset="0"/>
              </a:rPr>
              <a:t>--- College Admission System ---</a:t>
            </a:r>
          </a:p>
          <a:p>
            <a:r>
              <a:rPr lang="en-US" dirty="0">
                <a:latin typeface="Century" panose="02040604050505020304" pitchFamily="18" charset="0"/>
              </a:rPr>
              <a:t>1. Add Student</a:t>
            </a:r>
          </a:p>
          <a:p>
            <a:r>
              <a:rPr lang="en-US" dirty="0">
                <a:latin typeface="Century" panose="02040604050505020304" pitchFamily="18" charset="0"/>
              </a:rPr>
              <a:t>2. Display All Students</a:t>
            </a:r>
          </a:p>
          <a:p>
            <a:r>
              <a:rPr lang="en-US" dirty="0">
                <a:latin typeface="Century" panose="02040604050505020304" pitchFamily="18" charset="0"/>
              </a:rPr>
              <a:t>3. Search Student</a:t>
            </a:r>
          </a:p>
          <a:p>
            <a:r>
              <a:rPr lang="en-US" dirty="0">
                <a:latin typeface="Century" panose="02040604050505020304" pitchFamily="18" charset="0"/>
              </a:rPr>
              <a:t>4. Show Remaining Seats</a:t>
            </a:r>
          </a:p>
          <a:p>
            <a:r>
              <a:rPr lang="en-US" dirty="0">
                <a:latin typeface="Century" panose="02040604050505020304" pitchFamily="18" charset="0"/>
              </a:rPr>
              <a:t>5. Exit</a:t>
            </a:r>
          </a:p>
          <a:p>
            <a:r>
              <a:rPr lang="en-US" dirty="0">
                <a:latin typeface="Century" panose="02040604050505020304" pitchFamily="18" charset="0"/>
              </a:rPr>
              <a:t>Enter choice: 3</a:t>
            </a:r>
          </a:p>
          <a:p>
            <a:endParaRPr lang="en-US" dirty="0">
              <a:latin typeface="Century" panose="02040604050505020304" pitchFamily="18" charset="0"/>
            </a:endParaRPr>
          </a:p>
          <a:p>
            <a:r>
              <a:rPr lang="en-US" dirty="0">
                <a:latin typeface="Century" panose="02040604050505020304" pitchFamily="18" charset="0"/>
              </a:rPr>
              <a:t>Enter Application Number to search: 1</a:t>
            </a:r>
          </a:p>
          <a:p>
            <a:endParaRPr lang="en-IN" dirty="0"/>
          </a:p>
        </p:txBody>
      </p:sp>
    </p:spTree>
    <p:extLst>
      <p:ext uri="{BB962C8B-B14F-4D97-AF65-F5344CB8AC3E}">
        <p14:creationId xmlns:p14="http://schemas.microsoft.com/office/powerpoint/2010/main" val="3404939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A31013A-4327-41A5-4B1B-E955D520C1A2}"/>
              </a:ext>
            </a:extLst>
          </p:cNvPr>
          <p:cNvSpPr txBox="1"/>
          <p:nvPr/>
        </p:nvSpPr>
        <p:spPr>
          <a:xfrm>
            <a:off x="1589314" y="612844"/>
            <a:ext cx="9862457" cy="5355312"/>
          </a:xfrm>
          <a:prstGeom prst="rect">
            <a:avLst/>
          </a:prstGeom>
          <a:noFill/>
        </p:spPr>
        <p:txBody>
          <a:bodyPr wrap="square" rtlCol="0">
            <a:spAutoFit/>
          </a:bodyPr>
          <a:lstStyle/>
          <a:p>
            <a:r>
              <a:rPr lang="en-US" dirty="0">
                <a:latin typeface="Century" panose="02040604050505020304" pitchFamily="18" charset="0"/>
              </a:rPr>
              <a:t>--- Student Found ---</a:t>
            </a:r>
          </a:p>
          <a:p>
            <a:r>
              <a:rPr lang="en-US" dirty="0">
                <a:latin typeface="Century" panose="02040604050505020304" pitchFamily="18" charset="0"/>
              </a:rPr>
              <a:t>Application No: 1</a:t>
            </a:r>
          </a:p>
          <a:p>
            <a:r>
              <a:rPr lang="en-US" dirty="0">
                <a:latin typeface="Century" panose="02040604050505020304" pitchFamily="18" charset="0"/>
              </a:rPr>
              <a:t>Name: </a:t>
            </a:r>
            <a:r>
              <a:rPr lang="en-US" dirty="0" err="1">
                <a:latin typeface="Century" panose="02040604050505020304" pitchFamily="18" charset="0"/>
              </a:rPr>
              <a:t>jaswanth</a:t>
            </a:r>
            <a:endParaRPr lang="en-US" dirty="0">
              <a:latin typeface="Century" panose="02040604050505020304" pitchFamily="18" charset="0"/>
            </a:endParaRPr>
          </a:p>
          <a:p>
            <a:r>
              <a:rPr lang="en-US" dirty="0">
                <a:latin typeface="Century" panose="02040604050505020304" pitchFamily="18" charset="0"/>
              </a:rPr>
              <a:t>Department: CSE</a:t>
            </a:r>
          </a:p>
          <a:p>
            <a:endParaRPr lang="en-US" dirty="0">
              <a:latin typeface="Century" panose="02040604050505020304" pitchFamily="18" charset="0"/>
            </a:endParaRPr>
          </a:p>
          <a:p>
            <a:r>
              <a:rPr lang="en-US" dirty="0">
                <a:latin typeface="Century" panose="02040604050505020304" pitchFamily="18" charset="0"/>
              </a:rPr>
              <a:t>--- College Admission System ---</a:t>
            </a:r>
          </a:p>
          <a:p>
            <a:r>
              <a:rPr lang="en-US" dirty="0">
                <a:latin typeface="Century" panose="02040604050505020304" pitchFamily="18" charset="0"/>
              </a:rPr>
              <a:t>1. Add Student</a:t>
            </a:r>
          </a:p>
          <a:p>
            <a:r>
              <a:rPr lang="en-US" dirty="0">
                <a:latin typeface="Century" panose="02040604050505020304" pitchFamily="18" charset="0"/>
              </a:rPr>
              <a:t>2. Display All Students</a:t>
            </a:r>
          </a:p>
          <a:p>
            <a:r>
              <a:rPr lang="en-US" dirty="0">
                <a:latin typeface="Century" panose="02040604050505020304" pitchFamily="18" charset="0"/>
              </a:rPr>
              <a:t>3. Search Student</a:t>
            </a:r>
          </a:p>
          <a:p>
            <a:r>
              <a:rPr lang="en-US" dirty="0">
                <a:latin typeface="Century" panose="02040604050505020304" pitchFamily="18" charset="0"/>
              </a:rPr>
              <a:t>4. Show Remaining Seats</a:t>
            </a:r>
          </a:p>
          <a:p>
            <a:r>
              <a:rPr lang="en-US" dirty="0">
                <a:latin typeface="Century" panose="02040604050505020304" pitchFamily="18" charset="0"/>
              </a:rPr>
              <a:t>5. Exit</a:t>
            </a:r>
          </a:p>
          <a:p>
            <a:r>
              <a:rPr lang="en-US" dirty="0">
                <a:latin typeface="Century" panose="02040604050505020304" pitchFamily="18" charset="0"/>
              </a:rPr>
              <a:t>Enter choice: 4</a:t>
            </a:r>
          </a:p>
          <a:p>
            <a:endParaRPr lang="en-US" dirty="0">
              <a:latin typeface="Century" panose="02040604050505020304" pitchFamily="18" charset="0"/>
            </a:endParaRPr>
          </a:p>
          <a:p>
            <a:r>
              <a:rPr lang="en-US" dirty="0">
                <a:latin typeface="Century" panose="02040604050505020304" pitchFamily="18" charset="0"/>
              </a:rPr>
              <a:t>--- Seat Availability ---</a:t>
            </a:r>
          </a:p>
          <a:p>
            <a:r>
              <a:rPr lang="en-US" dirty="0">
                <a:latin typeface="Century" panose="02040604050505020304" pitchFamily="18" charset="0"/>
              </a:rPr>
              <a:t>CSE Seats Left   : 149</a:t>
            </a:r>
          </a:p>
          <a:p>
            <a:r>
              <a:rPr lang="en-US" dirty="0">
                <a:latin typeface="Century" panose="02040604050505020304" pitchFamily="18" charset="0"/>
              </a:rPr>
              <a:t>ECE Seats Left   : 100</a:t>
            </a:r>
          </a:p>
          <a:p>
            <a:r>
              <a:rPr lang="en-US" dirty="0">
                <a:latin typeface="Century" panose="02040604050505020304" pitchFamily="18" charset="0"/>
              </a:rPr>
              <a:t>MECH Seats Left  : 80</a:t>
            </a:r>
          </a:p>
          <a:p>
            <a:r>
              <a:rPr lang="en-US" dirty="0">
                <a:latin typeface="Century" panose="02040604050505020304" pitchFamily="18" charset="0"/>
              </a:rPr>
              <a:t>CE Seats Left    : 80</a:t>
            </a:r>
          </a:p>
          <a:p>
            <a:endParaRPr lang="en-IN" dirty="0"/>
          </a:p>
        </p:txBody>
      </p:sp>
    </p:spTree>
    <p:extLst>
      <p:ext uri="{BB962C8B-B14F-4D97-AF65-F5344CB8AC3E}">
        <p14:creationId xmlns:p14="http://schemas.microsoft.com/office/powerpoint/2010/main" val="41579535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1B7FF73-7530-6BEC-577D-58E8A56AFCED}"/>
              </a:ext>
            </a:extLst>
          </p:cNvPr>
          <p:cNvSpPr txBox="1"/>
          <p:nvPr/>
        </p:nvSpPr>
        <p:spPr>
          <a:xfrm>
            <a:off x="1545771" y="206829"/>
            <a:ext cx="9339943" cy="2308324"/>
          </a:xfrm>
          <a:prstGeom prst="rect">
            <a:avLst/>
          </a:prstGeom>
          <a:noFill/>
        </p:spPr>
        <p:txBody>
          <a:bodyPr wrap="square" rtlCol="0">
            <a:spAutoFit/>
          </a:bodyPr>
          <a:lstStyle/>
          <a:p>
            <a:r>
              <a:rPr lang="en-US" dirty="0">
                <a:latin typeface="Century" panose="02040604050505020304" pitchFamily="18" charset="0"/>
              </a:rPr>
              <a:t>--- College Admission System ---</a:t>
            </a:r>
          </a:p>
          <a:p>
            <a:r>
              <a:rPr lang="en-US" dirty="0">
                <a:latin typeface="Century" panose="02040604050505020304" pitchFamily="18" charset="0"/>
              </a:rPr>
              <a:t>1. Add Student</a:t>
            </a:r>
          </a:p>
          <a:p>
            <a:r>
              <a:rPr lang="en-US" dirty="0">
                <a:latin typeface="Century" panose="02040604050505020304" pitchFamily="18" charset="0"/>
              </a:rPr>
              <a:t>2. Display All Students</a:t>
            </a:r>
          </a:p>
          <a:p>
            <a:r>
              <a:rPr lang="en-US" dirty="0">
                <a:latin typeface="Century" panose="02040604050505020304" pitchFamily="18" charset="0"/>
              </a:rPr>
              <a:t>3. Search Student</a:t>
            </a:r>
          </a:p>
          <a:p>
            <a:r>
              <a:rPr lang="en-US" dirty="0">
                <a:latin typeface="Century" panose="02040604050505020304" pitchFamily="18" charset="0"/>
              </a:rPr>
              <a:t>4. Show Remaining Seats</a:t>
            </a:r>
          </a:p>
          <a:p>
            <a:r>
              <a:rPr lang="en-US" dirty="0">
                <a:latin typeface="Century" panose="02040604050505020304" pitchFamily="18" charset="0"/>
              </a:rPr>
              <a:t>5. Exit</a:t>
            </a:r>
          </a:p>
          <a:p>
            <a:r>
              <a:rPr lang="en-US" dirty="0">
                <a:latin typeface="Century" panose="02040604050505020304" pitchFamily="18" charset="0"/>
              </a:rPr>
              <a:t>Enter choice: 5</a:t>
            </a:r>
          </a:p>
          <a:p>
            <a:r>
              <a:rPr lang="en-US" dirty="0">
                <a:latin typeface="Century" panose="02040604050505020304" pitchFamily="18" charset="0"/>
              </a:rPr>
              <a:t>Exiting...</a:t>
            </a:r>
            <a:endParaRPr lang="en-IN" dirty="0">
              <a:latin typeface="Century" panose="02040604050505020304" pitchFamily="18" charset="0"/>
            </a:endParaRPr>
          </a:p>
        </p:txBody>
      </p:sp>
    </p:spTree>
    <p:extLst>
      <p:ext uri="{BB962C8B-B14F-4D97-AF65-F5344CB8AC3E}">
        <p14:creationId xmlns:p14="http://schemas.microsoft.com/office/powerpoint/2010/main" val="2892283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F318458-93B3-253F-22E2-A6C3C5826BC0}"/>
              </a:ext>
            </a:extLst>
          </p:cNvPr>
          <p:cNvSpPr txBox="1"/>
          <p:nvPr/>
        </p:nvSpPr>
        <p:spPr>
          <a:xfrm>
            <a:off x="2188028" y="1335221"/>
            <a:ext cx="7815943" cy="2431435"/>
          </a:xfrm>
          <a:prstGeom prst="rect">
            <a:avLst/>
          </a:prstGeom>
          <a:noFill/>
        </p:spPr>
        <p:txBody>
          <a:bodyPr wrap="square" rtlCol="0">
            <a:spAutoFit/>
          </a:bodyPr>
          <a:lstStyle/>
          <a:p>
            <a:endParaRPr lang="en-IN" sz="4000" dirty="0">
              <a:latin typeface="Algerian" panose="04020705040A02060702" pitchFamily="82" charset="0"/>
            </a:endParaRPr>
          </a:p>
          <a:p>
            <a:endParaRPr lang="en-IN" sz="4000" dirty="0">
              <a:latin typeface="Algerian" panose="04020705040A02060702" pitchFamily="82" charset="0"/>
            </a:endParaRPr>
          </a:p>
          <a:p>
            <a:r>
              <a:rPr lang="en-US" sz="2400" dirty="0">
                <a:latin typeface="Century" panose="02040604050505020304" pitchFamily="18" charset="0"/>
              </a:rPr>
              <a:t>The project effectively manages student admissions and strengthened our skills in using C for real-world applications.</a:t>
            </a:r>
            <a:endParaRPr lang="en-IN" sz="2400" dirty="0">
              <a:latin typeface="Century" panose="02040604050505020304" pitchFamily="18" charset="0"/>
            </a:endParaRPr>
          </a:p>
        </p:txBody>
      </p:sp>
      <p:sp>
        <p:nvSpPr>
          <p:cNvPr id="4" name="TextBox 3">
            <a:extLst>
              <a:ext uri="{FF2B5EF4-FFF2-40B4-BE49-F238E27FC236}">
                <a16:creationId xmlns:a16="http://schemas.microsoft.com/office/drawing/2014/main" id="{DD2D57FA-5CB9-26D0-9124-E94E786DFA21}"/>
              </a:ext>
            </a:extLst>
          </p:cNvPr>
          <p:cNvSpPr txBox="1"/>
          <p:nvPr/>
        </p:nvSpPr>
        <p:spPr>
          <a:xfrm>
            <a:off x="1589314" y="983158"/>
            <a:ext cx="4038600" cy="769441"/>
          </a:xfrm>
          <a:prstGeom prst="rect">
            <a:avLst/>
          </a:prstGeom>
          <a:noFill/>
        </p:spPr>
        <p:txBody>
          <a:bodyPr wrap="square" rtlCol="0">
            <a:spAutoFit/>
          </a:bodyPr>
          <a:lstStyle/>
          <a:p>
            <a:r>
              <a:rPr lang="en-IN" sz="4400" dirty="0">
                <a:latin typeface="Algerian" panose="04020705040A02060702" pitchFamily="82" charset="0"/>
              </a:rPr>
              <a:t>CONCLUSION</a:t>
            </a:r>
            <a:r>
              <a:rPr lang="en-IN" sz="4400" dirty="0"/>
              <a:t>:</a:t>
            </a:r>
          </a:p>
        </p:txBody>
      </p:sp>
    </p:spTree>
    <p:extLst>
      <p:ext uri="{BB962C8B-B14F-4D97-AF65-F5344CB8AC3E}">
        <p14:creationId xmlns:p14="http://schemas.microsoft.com/office/powerpoint/2010/main" val="104628840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2D251F"/>
      </a:dk2>
      <a:lt2>
        <a:srgbClr val="FAE9C5"/>
      </a:lt2>
      <a:accent1>
        <a:srgbClr val="ED3846"/>
      </a:accent1>
      <a:accent2>
        <a:srgbClr val="F87184"/>
      </a:accent2>
      <a:accent3>
        <a:srgbClr val="EC9DA9"/>
      </a:accent3>
      <a:accent4>
        <a:srgbClr val="ECC190"/>
      </a:accent4>
      <a:accent5>
        <a:srgbClr val="FFB268"/>
      </a:accent5>
      <a:accent6>
        <a:srgbClr val="F98657"/>
      </a:accent6>
      <a:hlink>
        <a:srgbClr val="B97669"/>
      </a:hlink>
      <a:folHlink>
        <a:srgbClr val="9E94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BCCF8060-3FCB-4641-B728-8A589529B13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TM16401375[[fn=Madison]]</Template>
  <TotalTime>497</TotalTime>
  <Words>3651</Words>
  <Application>Microsoft Office PowerPoint</Application>
  <PresentationFormat>Widescreen</PresentationFormat>
  <Paragraphs>633</Paragraphs>
  <Slides>38</Slides>
  <Notes>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38</vt:i4>
      </vt:variant>
    </vt:vector>
  </HeadingPairs>
  <TitlesOfParts>
    <vt:vector size="50" baseType="lpstr">
      <vt:lpstr>Algerian</vt:lpstr>
      <vt:lpstr>Aptos</vt:lpstr>
      <vt:lpstr>Arial</vt:lpstr>
      <vt:lpstr>Arial Black</vt:lpstr>
      <vt:lpstr>Bahnschrift SemiLight</vt:lpstr>
      <vt:lpstr>Cambria</vt:lpstr>
      <vt:lpstr>Century</vt:lpstr>
      <vt:lpstr>Colonna MT</vt:lpstr>
      <vt:lpstr>MS Shell Dlg 2</vt:lpstr>
      <vt:lpstr>Wingdings</vt:lpstr>
      <vt:lpstr>Wingdings 3</vt:lpstr>
      <vt:lpstr>Madison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Pranavi 25MGM154</dc:creator>
  <cp:lastModifiedBy>nagulmeera reddy</cp:lastModifiedBy>
  <cp:revision>17</cp:revision>
  <dcterms:created xsi:type="dcterms:W3CDTF">2025-12-04T14:30:21Z</dcterms:created>
  <dcterms:modified xsi:type="dcterms:W3CDTF">2025-12-08T05:28:21Z</dcterms:modified>
</cp:coreProperties>
</file>